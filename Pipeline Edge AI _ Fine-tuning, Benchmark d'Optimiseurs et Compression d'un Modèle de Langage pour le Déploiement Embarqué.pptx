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6256000" cy="9144000"/>
  <p:notesSz cx="9144000" cy="16256000"/>
  <p:embeddedFontLst>
    <p:embeddedFont>
      <p:font typeface="Liter" panose="020B0604020202020204" charset="0"/>
      <p:regular r:id="rId22"/>
    </p:embeddedFont>
    <p:embeddedFont>
      <p:font typeface="Quattrocento Sans" panose="020B0502050000020003" pitchFamily="3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36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F1 macro</c:v>
                </c:pt>
              </c:strCache>
            </c:strRef>
          </c:tx>
          <c:spPr>
            <a:solidFill>
              <a:srgbClr val="F97316"/>
            </a:solidFill>
            <a:effectLst/>
          </c:spPr>
          <c:invertIfNegative val="0"/>
          <c:dLbls>
            <c:numFmt formatCode="0.0000" sourceLinked="0"/>
            <c:spPr>
              <a:noFill/>
              <a:ln>
                <a:noFill/>
              </a:ln>
              <a:effectLst/>
            </c:spPr>
            <c:txPr>
              <a:bodyPr/>
              <a:lstStyle/>
              <a:p>
                <a:pPr>
                  <a:defRPr sz="1300" b="0" i="0" u="none" strike="noStrike">
                    <a:solidFill>
                      <a:srgbClr val="F1F5F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AdamW</c:v>
                </c:pt>
                <c:pt idx="1">
                  <c:v>Adafactor</c:v>
                </c:pt>
                <c:pt idx="2">
                  <c:v>Lion</c:v>
                </c:pt>
                <c:pt idx="3">
                  <c:v>LAMB</c:v>
                </c:pt>
                <c:pt idx="4">
                  <c:v>SGD</c:v>
                </c:pt>
              </c:strCache>
            </c:strRef>
          </c:cat>
          <c:val>
            <c:numRef>
              <c:f>Sheet1!$B$2:$B$6</c:f>
              <c:numCache>
                <c:formatCode>General</c:formatCode>
                <c:ptCount val="5"/>
                <c:pt idx="0">
                  <c:v>0.90129999999999999</c:v>
                </c:pt>
                <c:pt idx="1">
                  <c:v>0.89690000000000003</c:v>
                </c:pt>
                <c:pt idx="2">
                  <c:v>0.87660000000000005</c:v>
                </c:pt>
                <c:pt idx="3">
                  <c:v>0.36199999999999999</c:v>
                </c:pt>
                <c:pt idx="4">
                  <c:v>9.9500000000000005E-2</c:v>
                </c:pt>
              </c:numCache>
            </c:numRef>
          </c:val>
          <c:extLst>
            <c:ext xmlns:c16="http://schemas.microsoft.com/office/drawing/2014/chart" uri="{C3380CC4-5D6E-409C-BE32-E72D297353CC}">
              <c16:uniqueId val="{00000000-C3F9-4834-81D8-CF366E4CBAF7}"/>
            </c:ext>
          </c:extLst>
        </c:ser>
        <c:dLbls>
          <c:showLegendKey val="0"/>
          <c:showVal val="1"/>
          <c:showCatName val="0"/>
          <c:showSerName val="0"/>
          <c:showPercent val="0"/>
          <c:showBubbleSize val="0"/>
        </c:dLbls>
        <c:gapWidth val="67"/>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D5A8E"/>
            </a:solidFill>
            <a:prstDash val="solid"/>
            <a:round/>
          </a:ln>
        </c:spPr>
        <c:txPr>
          <a:bodyPr/>
          <a:lstStyle/>
          <a:p>
            <a:pPr>
              <a:defRPr sz="1300" b="0" i="0" u="none" strike="noStrike">
                <a:solidFill>
                  <a:srgbClr val="F1F5F9"/>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E0E6F1"/>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4230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1">
          <a:gsLst>
            <a:gs pos="0">
              <a:srgbClr val="0B1D3A"/>
            </a:gs>
            <a:gs pos="60000">
              <a:srgbClr val="0F2440"/>
            </a:gs>
            <a:gs pos="100000">
              <a:srgbClr val="152D4D"/>
            </a:gs>
          </a:gsLst>
          <a:lin ang="8100000" scaled="1"/>
        </a:gradFill>
        <a:effectLst/>
      </p:bgPr>
    </p:bg>
    <p:spTree>
      <p:nvGrpSpPr>
        <p:cNvPr id="1" name=""/>
        <p:cNvGrpSpPr/>
        <p:nvPr/>
      </p:nvGrpSpPr>
      <p:grpSpPr>
        <a:xfrm>
          <a:off x="0" y="0"/>
          <a:ext cx="0" cy="0"/>
          <a:chOff x="0" y="0"/>
          <a:chExt cx="0" cy="0"/>
        </a:xfrm>
      </p:grpSpPr>
      <p:sp>
        <p:nvSpPr>
          <p:cNvPr id="2" name="Shape 0"/>
          <p:cNvSpPr/>
          <p:nvPr/>
        </p:nvSpPr>
        <p:spPr>
          <a:xfrm>
            <a:off x="6858000" y="1778000"/>
            <a:ext cx="2540000" cy="38100"/>
          </a:xfrm>
          <a:prstGeom prst="rect">
            <a:avLst/>
          </a:prstGeom>
          <a:solidFill>
            <a:srgbClr val="F97316"/>
          </a:solidFill>
          <a:ln/>
        </p:spPr>
      </p:sp>
      <p:sp>
        <p:nvSpPr>
          <p:cNvPr id="3" name="Text 1"/>
          <p:cNvSpPr/>
          <p:nvPr/>
        </p:nvSpPr>
        <p:spPr>
          <a:xfrm>
            <a:off x="3048000" y="2095500"/>
            <a:ext cx="10160000" cy="381000"/>
          </a:xfrm>
          <a:prstGeom prst="rect">
            <a:avLst/>
          </a:prstGeom>
          <a:noFill/>
          <a:ln/>
        </p:spPr>
        <p:txBody>
          <a:bodyPr wrap="none" lIns="0" tIns="0" rIns="0" bIns="0" rtlCol="0" anchor="ctr"/>
          <a:lstStyle/>
          <a:p>
            <a:pPr algn="ctr">
              <a:lnSpc>
                <a:spcPct val="120000"/>
              </a:lnSpc>
            </a:pPr>
            <a:r>
              <a:rPr lang="en-US" sz="1600" kern="0" spc="400" dirty="0">
                <a:solidFill>
                  <a:srgbClr val="14B8A6"/>
                </a:solidFill>
                <a:latin typeface="Liter" pitchFamily="34" charset="0"/>
                <a:ea typeface="Liter" pitchFamily="34" charset="-122"/>
                <a:cs typeface="Liter" pitchFamily="34" charset="-120"/>
              </a:rPr>
              <a:t>MODULE OPTIMISATION — ANNÉE 2025/2026</a:t>
            </a:r>
            <a:endParaRPr lang="en-US" sz="1600" dirty="0"/>
          </a:p>
        </p:txBody>
      </p:sp>
      <p:sp>
        <p:nvSpPr>
          <p:cNvPr id="4" name="Text 2"/>
          <p:cNvSpPr/>
          <p:nvPr/>
        </p:nvSpPr>
        <p:spPr>
          <a:xfrm>
            <a:off x="1143000" y="2667000"/>
            <a:ext cx="13970000" cy="698500"/>
          </a:xfrm>
          <a:prstGeom prst="rect">
            <a:avLst/>
          </a:prstGeom>
          <a:noFill/>
          <a:ln/>
        </p:spPr>
        <p:txBody>
          <a:bodyPr wrap="none" lIns="0" tIns="0" rIns="0" bIns="0" rtlCol="0" anchor="ctr"/>
          <a:lstStyle/>
          <a:p>
            <a:pPr algn="ctr">
              <a:lnSpc>
                <a:spcPct val="120000"/>
              </a:lnSpc>
            </a:pPr>
            <a:r>
              <a:rPr lang="en-US" sz="4200" b="1" dirty="0">
                <a:solidFill>
                  <a:srgbClr val="F1F5F9"/>
                </a:solidFill>
                <a:latin typeface="Liter" pitchFamily="34" charset="0"/>
                <a:ea typeface="Liter" pitchFamily="34" charset="-122"/>
                <a:cs typeface="Liter" pitchFamily="34" charset="-120"/>
              </a:rPr>
              <a:t>PIPELINE </a:t>
            </a:r>
            <a:r>
              <a:rPr lang="en-US" sz="4200" b="1" dirty="0">
                <a:solidFill>
                  <a:srgbClr val="F97316"/>
                </a:solidFill>
                <a:latin typeface="Liter" pitchFamily="34" charset="0"/>
                <a:ea typeface="Liter" pitchFamily="34" charset="-122"/>
                <a:cs typeface="Liter" pitchFamily="34" charset="-120"/>
              </a:rPr>
              <a:t>EDGE AI</a:t>
            </a:r>
            <a:endParaRPr lang="en-US" sz="4200" dirty="0"/>
          </a:p>
        </p:txBody>
      </p:sp>
      <p:sp>
        <p:nvSpPr>
          <p:cNvPr id="5" name="Text 3"/>
          <p:cNvSpPr/>
          <p:nvPr/>
        </p:nvSpPr>
        <p:spPr>
          <a:xfrm>
            <a:off x="1143000" y="3429000"/>
            <a:ext cx="13970000" cy="508000"/>
          </a:xfrm>
          <a:prstGeom prst="rect">
            <a:avLst/>
          </a:prstGeom>
          <a:noFill/>
          <a:ln/>
        </p:spPr>
        <p:txBody>
          <a:bodyPr wrap="none" lIns="0" tIns="0" rIns="0" bIns="0" rtlCol="0" anchor="ctr"/>
          <a:lstStyle/>
          <a:p>
            <a:pPr algn="ctr">
              <a:lnSpc>
                <a:spcPct val="120000"/>
              </a:lnSpc>
            </a:pPr>
            <a:r>
              <a:rPr lang="en-US" sz="2600" dirty="0">
                <a:solidFill>
                  <a:srgbClr val="F1F5F9"/>
                </a:solidFill>
                <a:latin typeface="Liter" pitchFamily="34" charset="0"/>
                <a:ea typeface="Liter" pitchFamily="34" charset="-122"/>
                <a:cs typeface="Liter" pitchFamily="34" charset="-120"/>
              </a:rPr>
              <a:t>Fine-tuning, Benchmark d'Optimiseurs et Compression</a:t>
            </a:r>
            <a:endParaRPr lang="en-US" sz="2600" dirty="0"/>
          </a:p>
        </p:txBody>
      </p:sp>
      <p:sp>
        <p:nvSpPr>
          <p:cNvPr id="6" name="Text 4"/>
          <p:cNvSpPr/>
          <p:nvPr/>
        </p:nvSpPr>
        <p:spPr>
          <a:xfrm>
            <a:off x="1143000" y="4000500"/>
            <a:ext cx="13970000" cy="444500"/>
          </a:xfrm>
          <a:prstGeom prst="rect">
            <a:avLst/>
          </a:prstGeom>
          <a:noFill/>
          <a:ln/>
        </p:spPr>
        <p:txBody>
          <a:bodyPr wrap="none" lIns="0" tIns="0" rIns="0" bIns="0" rtlCol="0" anchor="ctr"/>
          <a:lstStyle/>
          <a:p>
            <a:pPr algn="ctr">
              <a:lnSpc>
                <a:spcPct val="120000"/>
              </a:lnSpc>
            </a:pPr>
            <a:r>
              <a:rPr lang="en-US" sz="2200" dirty="0">
                <a:solidFill>
                  <a:srgbClr val="94A3B8"/>
                </a:solidFill>
                <a:latin typeface="Liter" pitchFamily="34" charset="0"/>
                <a:ea typeface="Liter" pitchFamily="34" charset="-122"/>
                <a:cs typeface="Liter" pitchFamily="34" charset="-120"/>
              </a:rPr>
              <a:t>d'un Modèle de Langage pour le Déploiement Embarqué</a:t>
            </a:r>
            <a:endParaRPr lang="en-US" sz="2200" dirty="0"/>
          </a:p>
        </p:txBody>
      </p:sp>
      <p:sp>
        <p:nvSpPr>
          <p:cNvPr id="7" name="Text 5"/>
          <p:cNvSpPr/>
          <p:nvPr/>
        </p:nvSpPr>
        <p:spPr>
          <a:xfrm>
            <a:off x="5588000" y="4699000"/>
            <a:ext cx="5080000" cy="406400"/>
          </a:xfrm>
          <a:prstGeom prst="rect">
            <a:avLst/>
          </a:prstGeom>
          <a:noFill/>
          <a:ln/>
        </p:spPr>
        <p:txBody>
          <a:bodyPr wrap="none" lIns="0" tIns="0" rIns="0" bIns="0" rtlCol="0" anchor="ctr"/>
          <a:lstStyle/>
          <a:p>
            <a:pPr algn="ctr">
              <a:lnSpc>
                <a:spcPct val="120000"/>
              </a:lnSpc>
            </a:pPr>
            <a:r>
              <a:rPr lang="en-US" sz="1800" kern="0" spc="300" dirty="0">
                <a:solidFill>
                  <a:srgbClr val="14B8A6"/>
                </a:solidFill>
                <a:latin typeface="Liter" pitchFamily="34" charset="0"/>
                <a:ea typeface="Liter" pitchFamily="34" charset="-122"/>
                <a:cs typeface="Liter" pitchFamily="34" charset="-120"/>
              </a:rPr>
              <a:t>MINILM-L12 SUR AG NEWS</a:t>
            </a:r>
            <a:endParaRPr lang="en-US" sz="1800" dirty="0"/>
          </a:p>
        </p:txBody>
      </p:sp>
      <p:sp>
        <p:nvSpPr>
          <p:cNvPr id="8" name="Shape 6"/>
          <p:cNvSpPr/>
          <p:nvPr/>
        </p:nvSpPr>
        <p:spPr>
          <a:xfrm>
            <a:off x="6223000" y="5334000"/>
            <a:ext cx="3810000" cy="12700"/>
          </a:xfrm>
          <a:prstGeom prst="rect">
            <a:avLst/>
          </a:prstGeom>
          <a:solidFill>
            <a:srgbClr val="2D5A8E"/>
          </a:solidFill>
          <a:ln/>
        </p:spPr>
      </p:sp>
      <p:sp>
        <p:nvSpPr>
          <p:cNvPr id="9" name="Text 7"/>
          <p:cNvSpPr/>
          <p:nvPr/>
        </p:nvSpPr>
        <p:spPr>
          <a:xfrm>
            <a:off x="2413000" y="5588000"/>
            <a:ext cx="11430000" cy="355600"/>
          </a:xfrm>
          <a:prstGeom prst="rect">
            <a:avLst/>
          </a:prstGeom>
          <a:noFill/>
          <a:ln/>
        </p:spPr>
        <p:txBody>
          <a:bodyPr wrap="none" lIns="0" tIns="0" rIns="0" bIns="0" rtlCol="0" anchor="ctr"/>
          <a:lstStyle/>
          <a:p>
            <a:pPr algn="ctr">
              <a:lnSpc>
                <a:spcPct val="120000"/>
              </a:lnSpc>
            </a:pPr>
            <a:r>
              <a:rPr lang="en-US" sz="1600" dirty="0">
                <a:solidFill>
                  <a:srgbClr val="F1F5F9"/>
                </a:solidFill>
                <a:latin typeface="Quattrocento Sans" pitchFamily="34" charset="0"/>
                <a:ea typeface="Quattrocento Sans" pitchFamily="34" charset="-122"/>
                <a:cs typeface="Quattrocento Sans" pitchFamily="34" charset="-120"/>
              </a:rPr>
              <a:t>Ayman Chabbaki · Mohammed Bendifi · Imane Alouani · Marouane Daouki</a:t>
            </a:r>
            <a:endParaRPr lang="en-US" sz="1600" dirty="0"/>
          </a:p>
        </p:txBody>
      </p:sp>
      <p:sp>
        <p:nvSpPr>
          <p:cNvPr id="10" name="Text 8"/>
          <p:cNvSpPr/>
          <p:nvPr/>
        </p:nvSpPr>
        <p:spPr>
          <a:xfrm>
            <a:off x="3683000" y="6070600"/>
            <a:ext cx="8890000" cy="304800"/>
          </a:xfrm>
          <a:prstGeom prst="rect">
            <a:avLst/>
          </a:prstGeom>
          <a:noFill/>
          <a:ln/>
        </p:spPr>
        <p:txBody>
          <a:bodyPr wrap="none" lIns="0" tIns="0" rIns="0" bIns="0" rtlCol="0" anchor="ctr"/>
          <a:lstStyle/>
          <a:p>
            <a:pPr algn="ctr">
              <a:lnSpc>
                <a:spcPct val="120000"/>
              </a:lnSpc>
            </a:pPr>
            <a:r>
              <a:rPr lang="en-US" sz="1400" dirty="0">
                <a:solidFill>
                  <a:srgbClr val="94A3B8"/>
                </a:solidFill>
                <a:latin typeface="Quattrocento Sans" pitchFamily="34" charset="0"/>
                <a:ea typeface="Quattrocento Sans" pitchFamily="34" charset="-122"/>
                <a:cs typeface="Quattrocento Sans" pitchFamily="34" charset="-120"/>
              </a:rPr>
              <a:t>Encadrante : Professeure Faouzia Benabbou</a:t>
            </a:r>
            <a:endParaRPr lang="en-US" sz="1400" dirty="0"/>
          </a:p>
        </p:txBody>
      </p:sp>
      <p:sp>
        <p:nvSpPr>
          <p:cNvPr id="11" name="Text 9"/>
          <p:cNvSpPr/>
          <p:nvPr/>
        </p:nvSpPr>
        <p:spPr>
          <a:xfrm>
            <a:off x="3048000" y="6604000"/>
            <a:ext cx="10160000" cy="304800"/>
          </a:xfrm>
          <a:prstGeom prst="rect">
            <a:avLst/>
          </a:prstGeom>
          <a:noFill/>
          <a:ln/>
        </p:spPr>
        <p:txBody>
          <a:bodyPr wrap="none" lIns="0" tIns="0" rIns="0" bIns="0" rtlCol="0" anchor="ctr"/>
          <a:lstStyle/>
          <a:p>
            <a:pPr algn="ctr">
              <a:lnSpc>
                <a:spcPct val="120000"/>
              </a:lnSpc>
            </a:pPr>
            <a:r>
              <a:rPr lang="en-US" sz="1400" dirty="0">
                <a:solidFill>
                  <a:srgbClr val="94A3B8"/>
                </a:solidFill>
                <a:latin typeface="Quattrocento Sans" pitchFamily="34" charset="0"/>
                <a:ea typeface="Quattrocento Sans" pitchFamily="34" charset="-122"/>
                <a:cs typeface="Quattrocento Sans" pitchFamily="34" charset="-120"/>
              </a:rPr>
              <a:t>Université Hassan II de Casablanca — Faculté des Sciences Ben M'Sick</a:t>
            </a:r>
            <a:endParaRPr lang="en-US" sz="1400" dirty="0"/>
          </a:p>
        </p:txBody>
      </p:sp>
      <p:sp>
        <p:nvSpPr>
          <p:cNvPr id="12" name="Shape 10"/>
          <p:cNvSpPr/>
          <p:nvPr/>
        </p:nvSpPr>
        <p:spPr>
          <a:xfrm>
            <a:off x="6858000" y="7366000"/>
            <a:ext cx="2540000" cy="38100"/>
          </a:xfrm>
          <a:prstGeom prst="rect">
            <a:avLst/>
          </a:prstGeom>
          <a:solidFill>
            <a:srgbClr val="14B8A6"/>
          </a:solidFill>
          <a:ln/>
        </p:spPr>
      </p:sp>
      <p:pic>
        <p:nvPicPr>
          <p:cNvPr id="14" name="Picture 13">
            <a:extLst>
              <a:ext uri="{FF2B5EF4-FFF2-40B4-BE49-F238E27FC236}">
                <a16:creationId xmlns:a16="http://schemas.microsoft.com/office/drawing/2014/main" id="{F3497B02-5259-8D09-674F-72C1C64F3D6F}"/>
              </a:ext>
            </a:extLst>
          </p:cNvPr>
          <p:cNvPicPr>
            <a:picLocks noChangeAspect="1"/>
          </p:cNvPicPr>
          <p:nvPr/>
        </p:nvPicPr>
        <p:blipFill>
          <a:blip r:embed="rId3"/>
          <a:stretch>
            <a:fillRect/>
          </a:stretch>
        </p:blipFill>
        <p:spPr>
          <a:xfrm>
            <a:off x="7397396" y="431488"/>
            <a:ext cx="1461208" cy="1283012"/>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D3A"/>
        </a:solidFill>
        <a:effectLst/>
      </p:bgPr>
    </p:bg>
    <p:spTree>
      <p:nvGrpSpPr>
        <p:cNvPr id="1" name=""/>
        <p:cNvGrpSpPr/>
        <p:nvPr/>
      </p:nvGrpSpPr>
      <p:grpSpPr>
        <a:xfrm>
          <a:off x="0" y="0"/>
          <a:ext cx="0" cy="0"/>
          <a:chOff x="0" y="0"/>
          <a:chExt cx="0" cy="0"/>
        </a:xfrm>
      </p:grpSpPr>
      <p:sp>
        <p:nvSpPr>
          <p:cNvPr id="2" name="Text 0"/>
          <p:cNvSpPr/>
          <p:nvPr/>
        </p:nvSpPr>
        <p:spPr>
          <a:xfrm>
            <a:off x="762000" y="635000"/>
            <a:ext cx="6350000" cy="5715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PLAN DE LA PRÉSENTATION</a:t>
            </a:r>
            <a:endParaRPr lang="en-US" sz="3000" dirty="0"/>
          </a:p>
        </p:txBody>
      </p:sp>
      <p:sp>
        <p:nvSpPr>
          <p:cNvPr id="3" name="Shape 1"/>
          <p:cNvSpPr/>
          <p:nvPr/>
        </p:nvSpPr>
        <p:spPr>
          <a:xfrm>
            <a:off x="762000" y="1270000"/>
            <a:ext cx="1016000" cy="38100"/>
          </a:xfrm>
          <a:prstGeom prst="rect">
            <a:avLst/>
          </a:prstGeom>
          <a:solidFill>
            <a:srgbClr val="F97316"/>
          </a:solidFill>
          <a:ln/>
        </p:spPr>
      </p:sp>
      <p:sp>
        <p:nvSpPr>
          <p:cNvPr id="4" name="Shape 2"/>
          <p:cNvSpPr/>
          <p:nvPr/>
        </p:nvSpPr>
        <p:spPr>
          <a:xfrm>
            <a:off x="762000" y="1778000"/>
            <a:ext cx="2743200" cy="6604000"/>
          </a:xfrm>
          <a:prstGeom prst="roundRect">
            <a:avLst>
              <a:gd name="adj" fmla="val 8000"/>
            </a:avLst>
          </a:prstGeom>
          <a:solidFill>
            <a:srgbClr val="1E3A5F"/>
          </a:solidFill>
          <a:ln w="12700">
            <a:solidFill>
              <a:srgbClr val="2D5A8E"/>
            </a:solidFill>
            <a:prstDash val="solid"/>
          </a:ln>
        </p:spPr>
      </p:sp>
      <p:sp>
        <p:nvSpPr>
          <p:cNvPr id="5" name="Shape 3"/>
          <p:cNvSpPr/>
          <p:nvPr/>
        </p:nvSpPr>
        <p:spPr>
          <a:xfrm>
            <a:off x="762000" y="1778000"/>
            <a:ext cx="63500" cy="6604000"/>
          </a:xfrm>
          <a:prstGeom prst="rect">
            <a:avLst/>
          </a:prstGeom>
          <a:solidFill>
            <a:srgbClr val="14B8A6"/>
          </a:solidFill>
          <a:ln/>
        </p:spPr>
      </p:sp>
      <p:sp>
        <p:nvSpPr>
          <p:cNvPr id="6" name="Text 4"/>
          <p:cNvSpPr/>
          <p:nvPr/>
        </p:nvSpPr>
        <p:spPr>
          <a:xfrm>
            <a:off x="1066800" y="2159000"/>
            <a:ext cx="2133600" cy="1016000"/>
          </a:xfrm>
          <a:prstGeom prst="rect">
            <a:avLst/>
          </a:prstGeom>
          <a:noFill/>
          <a:ln/>
        </p:spPr>
        <p:txBody>
          <a:bodyPr wrap="none" lIns="0" tIns="0" rIns="0" bIns="0" rtlCol="0" anchor="t"/>
          <a:lstStyle/>
          <a:p>
            <a:pPr algn="l">
              <a:lnSpc>
                <a:spcPct val="100000"/>
              </a:lnSpc>
            </a:pPr>
            <a:r>
              <a:rPr lang="en-US" sz="6400" dirty="0">
                <a:solidFill>
                  <a:srgbClr val="14B8A6"/>
                </a:solidFill>
                <a:latin typeface="Liter" pitchFamily="34" charset="0"/>
                <a:ea typeface="Liter" pitchFamily="34" charset="-122"/>
                <a:cs typeface="Liter" pitchFamily="34" charset="-120"/>
              </a:rPr>
              <a:t>01</a:t>
            </a:r>
            <a:endParaRPr lang="en-US" sz="6400" dirty="0"/>
          </a:p>
        </p:txBody>
      </p:sp>
      <p:sp>
        <p:nvSpPr>
          <p:cNvPr id="7" name="Text 5"/>
          <p:cNvSpPr/>
          <p:nvPr/>
        </p:nvSpPr>
        <p:spPr>
          <a:xfrm>
            <a:off x="1066800" y="3302000"/>
            <a:ext cx="2133600" cy="762000"/>
          </a:xfrm>
          <a:prstGeom prst="rect">
            <a:avLst/>
          </a:prstGeom>
          <a:noFill/>
          <a:ln/>
        </p:spPr>
        <p:txBody>
          <a:bodyPr wrap="square" lIns="0" tIns="0" rIns="0" bIns="0" rtlCol="0" anchor="t"/>
          <a:lstStyle/>
          <a:p>
            <a:pPr algn="l">
              <a:lnSpc>
                <a:spcPct val="130000"/>
              </a:lnSpc>
            </a:pPr>
            <a:r>
              <a:rPr lang="en-US" sz="1800" b="1" dirty="0">
                <a:solidFill>
                  <a:srgbClr val="14B8A6"/>
                </a:solidFill>
                <a:latin typeface="Liter" pitchFamily="34" charset="0"/>
                <a:ea typeface="Liter" pitchFamily="34" charset="-122"/>
                <a:cs typeface="Liter" pitchFamily="34" charset="-120"/>
              </a:rPr>
              <a:t>Contexte et problématique</a:t>
            </a:r>
            <a:endParaRPr lang="en-US" sz="1800" dirty="0"/>
          </a:p>
        </p:txBody>
      </p:sp>
      <p:sp>
        <p:nvSpPr>
          <p:cNvPr id="8" name="Text 6"/>
          <p:cNvSpPr/>
          <p:nvPr/>
        </p:nvSpPr>
        <p:spPr>
          <a:xfrm>
            <a:off x="1066800" y="4191000"/>
            <a:ext cx="2133600" cy="2540000"/>
          </a:xfrm>
          <a:prstGeom prst="rect">
            <a:avLst/>
          </a:prstGeom>
          <a:noFill/>
          <a:ln/>
        </p:spPr>
        <p:txBody>
          <a:bodyPr wrap="square" lIns="0" tIns="0" rIns="0" bIns="0" rtlCol="0" anchor="t"/>
          <a:lstStyle/>
          <a:p>
            <a:pPr algn="l">
              <a:lnSpc>
                <a:spcPct val="150000"/>
              </a:lnSpc>
            </a:pPr>
            <a:r>
              <a:rPr lang="en-US" sz="1400" dirty="0">
                <a:solidFill>
                  <a:srgbClr val="94A3B8"/>
                </a:solidFill>
                <a:latin typeface="Quattrocento Sans" pitchFamily="34" charset="0"/>
                <a:ea typeface="Quattrocento Sans" pitchFamily="34" charset="-122"/>
                <a:cs typeface="Quattrocento Sans" pitchFamily="34" charset="-120"/>
              </a:rPr>
              <a:t>Contraintes Edge AI, leviers d'optimisation et de compression, question centrale du projet</a:t>
            </a:r>
            <a:endParaRPr lang="en-US" sz="1400" dirty="0"/>
          </a:p>
        </p:txBody>
      </p:sp>
      <p:sp>
        <p:nvSpPr>
          <p:cNvPr id="9" name="Shape 7"/>
          <p:cNvSpPr/>
          <p:nvPr/>
        </p:nvSpPr>
        <p:spPr>
          <a:xfrm>
            <a:off x="3759200" y="1778000"/>
            <a:ext cx="2743200" cy="6604000"/>
          </a:xfrm>
          <a:prstGeom prst="roundRect">
            <a:avLst>
              <a:gd name="adj" fmla="val 8000"/>
            </a:avLst>
          </a:prstGeom>
          <a:solidFill>
            <a:srgbClr val="1E3A5F"/>
          </a:solidFill>
          <a:ln w="12700">
            <a:solidFill>
              <a:srgbClr val="2D5A8E"/>
            </a:solidFill>
            <a:prstDash val="solid"/>
          </a:ln>
        </p:spPr>
      </p:sp>
      <p:sp>
        <p:nvSpPr>
          <p:cNvPr id="10" name="Shape 8"/>
          <p:cNvSpPr/>
          <p:nvPr/>
        </p:nvSpPr>
        <p:spPr>
          <a:xfrm>
            <a:off x="3759200" y="1778000"/>
            <a:ext cx="63500" cy="6604000"/>
          </a:xfrm>
          <a:prstGeom prst="rect">
            <a:avLst/>
          </a:prstGeom>
          <a:solidFill>
            <a:srgbClr val="14B8A6"/>
          </a:solidFill>
          <a:ln/>
        </p:spPr>
      </p:sp>
      <p:sp>
        <p:nvSpPr>
          <p:cNvPr id="11" name="Text 9"/>
          <p:cNvSpPr/>
          <p:nvPr/>
        </p:nvSpPr>
        <p:spPr>
          <a:xfrm>
            <a:off x="4064000" y="2159000"/>
            <a:ext cx="2133600" cy="1016000"/>
          </a:xfrm>
          <a:prstGeom prst="rect">
            <a:avLst/>
          </a:prstGeom>
          <a:noFill/>
          <a:ln/>
        </p:spPr>
        <p:txBody>
          <a:bodyPr wrap="none" lIns="0" tIns="0" rIns="0" bIns="0" rtlCol="0" anchor="t"/>
          <a:lstStyle/>
          <a:p>
            <a:pPr algn="l">
              <a:lnSpc>
                <a:spcPct val="100000"/>
              </a:lnSpc>
            </a:pPr>
            <a:r>
              <a:rPr lang="en-US" sz="6400" dirty="0">
                <a:solidFill>
                  <a:srgbClr val="14B8A6"/>
                </a:solidFill>
                <a:latin typeface="Liter" pitchFamily="34" charset="0"/>
                <a:ea typeface="Liter" pitchFamily="34" charset="-122"/>
                <a:cs typeface="Liter" pitchFamily="34" charset="-120"/>
              </a:rPr>
              <a:t>02</a:t>
            </a:r>
            <a:endParaRPr lang="en-US" sz="6400" dirty="0"/>
          </a:p>
        </p:txBody>
      </p:sp>
      <p:sp>
        <p:nvSpPr>
          <p:cNvPr id="12" name="Text 10"/>
          <p:cNvSpPr/>
          <p:nvPr/>
        </p:nvSpPr>
        <p:spPr>
          <a:xfrm>
            <a:off x="4064000" y="3302000"/>
            <a:ext cx="2133600" cy="762000"/>
          </a:xfrm>
          <a:prstGeom prst="rect">
            <a:avLst/>
          </a:prstGeom>
          <a:noFill/>
          <a:ln/>
        </p:spPr>
        <p:txBody>
          <a:bodyPr wrap="square" lIns="0" tIns="0" rIns="0" bIns="0" rtlCol="0" anchor="t"/>
          <a:lstStyle/>
          <a:p>
            <a:pPr algn="l">
              <a:lnSpc>
                <a:spcPct val="130000"/>
              </a:lnSpc>
            </a:pPr>
            <a:r>
              <a:rPr lang="en-US" sz="1800" b="1" dirty="0">
                <a:solidFill>
                  <a:srgbClr val="14B8A6"/>
                </a:solidFill>
                <a:latin typeface="Liter" pitchFamily="34" charset="0"/>
                <a:ea typeface="Liter" pitchFamily="34" charset="-122"/>
                <a:cs typeface="Liter" pitchFamily="34" charset="-120"/>
              </a:rPr>
              <a:t>Architecture du pipeline</a:t>
            </a:r>
            <a:endParaRPr lang="en-US" sz="1800" dirty="0"/>
          </a:p>
        </p:txBody>
      </p:sp>
      <p:sp>
        <p:nvSpPr>
          <p:cNvPr id="13" name="Text 11"/>
          <p:cNvSpPr/>
          <p:nvPr/>
        </p:nvSpPr>
        <p:spPr>
          <a:xfrm>
            <a:off x="4064000" y="4191000"/>
            <a:ext cx="2133600" cy="2540000"/>
          </a:xfrm>
          <a:prstGeom prst="rect">
            <a:avLst/>
          </a:prstGeom>
          <a:noFill/>
          <a:ln/>
        </p:spPr>
        <p:txBody>
          <a:bodyPr wrap="square" lIns="0" tIns="0" rIns="0" bIns="0" rtlCol="0" anchor="t"/>
          <a:lstStyle/>
          <a:p>
            <a:pPr algn="l">
              <a:lnSpc>
                <a:spcPct val="150000"/>
              </a:lnSpc>
            </a:pPr>
            <a:r>
              <a:rPr lang="en-US" sz="1400" dirty="0">
                <a:solidFill>
                  <a:srgbClr val="94A3B8"/>
                </a:solidFill>
                <a:latin typeface="Quattrocento Sans" pitchFamily="34" charset="0"/>
                <a:ea typeface="Quattrocento Sans" pitchFamily="34" charset="-122"/>
                <a:cs typeface="Quattrocento Sans" pitchFamily="34" charset="-120"/>
              </a:rPr>
              <a:t>5 blocs fonctionnels, modèle MiniLM-L12, jeu de données AG News, tokenisation</a:t>
            </a:r>
            <a:endParaRPr lang="en-US" sz="1400" dirty="0"/>
          </a:p>
        </p:txBody>
      </p:sp>
      <p:sp>
        <p:nvSpPr>
          <p:cNvPr id="14" name="Shape 12"/>
          <p:cNvSpPr/>
          <p:nvPr/>
        </p:nvSpPr>
        <p:spPr>
          <a:xfrm>
            <a:off x="6756400" y="1778000"/>
            <a:ext cx="2743200" cy="6604000"/>
          </a:xfrm>
          <a:prstGeom prst="roundRect">
            <a:avLst>
              <a:gd name="adj" fmla="val 8000"/>
            </a:avLst>
          </a:prstGeom>
          <a:solidFill>
            <a:srgbClr val="1E3A5F"/>
          </a:solidFill>
          <a:ln w="12700">
            <a:solidFill>
              <a:srgbClr val="2D5A8E"/>
            </a:solidFill>
            <a:prstDash val="solid"/>
          </a:ln>
        </p:spPr>
      </p:sp>
      <p:sp>
        <p:nvSpPr>
          <p:cNvPr id="15" name="Shape 13"/>
          <p:cNvSpPr/>
          <p:nvPr/>
        </p:nvSpPr>
        <p:spPr>
          <a:xfrm>
            <a:off x="6756400" y="1778000"/>
            <a:ext cx="63500" cy="6604000"/>
          </a:xfrm>
          <a:prstGeom prst="rect">
            <a:avLst/>
          </a:prstGeom>
          <a:solidFill>
            <a:srgbClr val="F97316"/>
          </a:solidFill>
          <a:ln/>
        </p:spPr>
      </p:sp>
      <p:sp>
        <p:nvSpPr>
          <p:cNvPr id="16" name="Text 14"/>
          <p:cNvSpPr/>
          <p:nvPr/>
        </p:nvSpPr>
        <p:spPr>
          <a:xfrm>
            <a:off x="7061200" y="2159000"/>
            <a:ext cx="2133600" cy="1016000"/>
          </a:xfrm>
          <a:prstGeom prst="rect">
            <a:avLst/>
          </a:prstGeom>
          <a:noFill/>
          <a:ln/>
        </p:spPr>
        <p:txBody>
          <a:bodyPr wrap="none" lIns="0" tIns="0" rIns="0" bIns="0" rtlCol="0" anchor="t"/>
          <a:lstStyle/>
          <a:p>
            <a:pPr algn="l">
              <a:lnSpc>
                <a:spcPct val="100000"/>
              </a:lnSpc>
            </a:pPr>
            <a:r>
              <a:rPr lang="en-US" sz="6400" dirty="0">
                <a:solidFill>
                  <a:srgbClr val="14B8A6"/>
                </a:solidFill>
                <a:latin typeface="Liter" pitchFamily="34" charset="0"/>
                <a:ea typeface="Liter" pitchFamily="34" charset="-122"/>
                <a:cs typeface="Liter" pitchFamily="34" charset="-120"/>
              </a:rPr>
              <a:t>03</a:t>
            </a:r>
            <a:endParaRPr lang="en-US" sz="6400" dirty="0"/>
          </a:p>
        </p:txBody>
      </p:sp>
      <p:sp>
        <p:nvSpPr>
          <p:cNvPr id="17" name="Text 15"/>
          <p:cNvSpPr/>
          <p:nvPr/>
        </p:nvSpPr>
        <p:spPr>
          <a:xfrm>
            <a:off x="7061200" y="3302000"/>
            <a:ext cx="2133600" cy="762000"/>
          </a:xfrm>
          <a:prstGeom prst="rect">
            <a:avLst/>
          </a:prstGeom>
          <a:noFill/>
          <a:ln/>
        </p:spPr>
        <p:txBody>
          <a:bodyPr wrap="square" lIns="0" tIns="0" rIns="0" bIns="0" rtlCol="0" anchor="t"/>
          <a:lstStyle/>
          <a:p>
            <a:pPr algn="l">
              <a:lnSpc>
                <a:spcPct val="130000"/>
              </a:lnSpc>
            </a:pPr>
            <a:r>
              <a:rPr lang="en-US" sz="1800" b="1" dirty="0">
                <a:solidFill>
                  <a:srgbClr val="F97316"/>
                </a:solidFill>
                <a:latin typeface="Liter" pitchFamily="34" charset="0"/>
                <a:ea typeface="Liter" pitchFamily="34" charset="-122"/>
                <a:cs typeface="Liter" pitchFamily="34" charset="-120"/>
              </a:rPr>
              <a:t>Benchmark des optimiseurs</a:t>
            </a:r>
            <a:endParaRPr lang="en-US" sz="1800" dirty="0"/>
          </a:p>
        </p:txBody>
      </p:sp>
      <p:sp>
        <p:nvSpPr>
          <p:cNvPr id="18" name="Text 16"/>
          <p:cNvSpPr/>
          <p:nvPr/>
        </p:nvSpPr>
        <p:spPr>
          <a:xfrm>
            <a:off x="7061200" y="4191000"/>
            <a:ext cx="2133600" cy="2540000"/>
          </a:xfrm>
          <a:prstGeom prst="rect">
            <a:avLst/>
          </a:prstGeom>
          <a:noFill/>
          <a:ln/>
        </p:spPr>
        <p:txBody>
          <a:bodyPr wrap="square" lIns="0" tIns="0" rIns="0" bIns="0" rtlCol="0" anchor="t"/>
          <a:lstStyle/>
          <a:p>
            <a:pPr algn="l">
              <a:lnSpc>
                <a:spcPct val="150000"/>
              </a:lnSpc>
            </a:pPr>
            <a:r>
              <a:rPr lang="en-US" sz="1400" dirty="0">
                <a:solidFill>
                  <a:srgbClr val="94A3B8"/>
                </a:solidFill>
                <a:latin typeface="Quattrocento Sans" pitchFamily="34" charset="0"/>
                <a:ea typeface="Quattrocento Sans" pitchFamily="34" charset="-122"/>
                <a:cs typeface="Quattrocento Sans" pitchFamily="34" charset="-120"/>
              </a:rPr>
              <a:t>5 optimiseurs, méthodologie, résultats et analyse critique des échecs de SGD et LAMB</a:t>
            </a:r>
            <a:endParaRPr lang="en-US" sz="1400" dirty="0"/>
          </a:p>
        </p:txBody>
      </p:sp>
      <p:sp>
        <p:nvSpPr>
          <p:cNvPr id="19" name="Shape 17"/>
          <p:cNvSpPr/>
          <p:nvPr/>
        </p:nvSpPr>
        <p:spPr>
          <a:xfrm>
            <a:off x="9753600" y="1778000"/>
            <a:ext cx="2743200" cy="6604000"/>
          </a:xfrm>
          <a:prstGeom prst="roundRect">
            <a:avLst>
              <a:gd name="adj" fmla="val 8000"/>
            </a:avLst>
          </a:prstGeom>
          <a:solidFill>
            <a:srgbClr val="1E3A5F"/>
          </a:solidFill>
          <a:ln w="12700">
            <a:solidFill>
              <a:srgbClr val="2D5A8E"/>
            </a:solidFill>
            <a:prstDash val="solid"/>
          </a:ln>
        </p:spPr>
      </p:sp>
      <p:sp>
        <p:nvSpPr>
          <p:cNvPr id="20" name="Shape 18"/>
          <p:cNvSpPr/>
          <p:nvPr/>
        </p:nvSpPr>
        <p:spPr>
          <a:xfrm>
            <a:off x="9753600" y="1778000"/>
            <a:ext cx="63500" cy="6604000"/>
          </a:xfrm>
          <a:prstGeom prst="rect">
            <a:avLst/>
          </a:prstGeom>
          <a:solidFill>
            <a:srgbClr val="14B8A6"/>
          </a:solidFill>
          <a:ln/>
        </p:spPr>
      </p:sp>
      <p:sp>
        <p:nvSpPr>
          <p:cNvPr id="21" name="Text 19"/>
          <p:cNvSpPr/>
          <p:nvPr/>
        </p:nvSpPr>
        <p:spPr>
          <a:xfrm>
            <a:off x="10058400" y="2159000"/>
            <a:ext cx="2133600" cy="1016000"/>
          </a:xfrm>
          <a:prstGeom prst="rect">
            <a:avLst/>
          </a:prstGeom>
          <a:noFill/>
          <a:ln/>
        </p:spPr>
        <p:txBody>
          <a:bodyPr wrap="none" lIns="0" tIns="0" rIns="0" bIns="0" rtlCol="0" anchor="t"/>
          <a:lstStyle/>
          <a:p>
            <a:pPr algn="l">
              <a:lnSpc>
                <a:spcPct val="100000"/>
              </a:lnSpc>
            </a:pPr>
            <a:r>
              <a:rPr lang="en-US" sz="6400" dirty="0">
                <a:solidFill>
                  <a:srgbClr val="14B8A6"/>
                </a:solidFill>
                <a:latin typeface="Liter" pitchFamily="34" charset="0"/>
                <a:ea typeface="Liter" pitchFamily="34" charset="-122"/>
                <a:cs typeface="Liter" pitchFamily="34" charset="-120"/>
              </a:rPr>
              <a:t>04</a:t>
            </a:r>
            <a:endParaRPr lang="en-US" sz="6400" dirty="0"/>
          </a:p>
        </p:txBody>
      </p:sp>
      <p:sp>
        <p:nvSpPr>
          <p:cNvPr id="22" name="Text 20"/>
          <p:cNvSpPr/>
          <p:nvPr/>
        </p:nvSpPr>
        <p:spPr>
          <a:xfrm>
            <a:off x="10058400" y="3302000"/>
            <a:ext cx="2133600" cy="762000"/>
          </a:xfrm>
          <a:prstGeom prst="rect">
            <a:avLst/>
          </a:prstGeom>
          <a:noFill/>
          <a:ln/>
        </p:spPr>
        <p:txBody>
          <a:bodyPr wrap="square" lIns="0" tIns="0" rIns="0" bIns="0" rtlCol="0" anchor="t"/>
          <a:lstStyle/>
          <a:p>
            <a:pPr algn="l">
              <a:lnSpc>
                <a:spcPct val="130000"/>
              </a:lnSpc>
            </a:pPr>
            <a:r>
              <a:rPr lang="en-US" sz="1800" b="1" dirty="0">
                <a:solidFill>
                  <a:srgbClr val="14B8A6"/>
                </a:solidFill>
                <a:latin typeface="Liter" pitchFamily="34" charset="0"/>
                <a:ea typeface="Liter" pitchFamily="34" charset="-122"/>
                <a:cs typeface="Liter" pitchFamily="34" charset="-120"/>
              </a:rPr>
              <a:t>Compression et évaluation Edge</a:t>
            </a:r>
            <a:endParaRPr lang="en-US" sz="1800" dirty="0"/>
          </a:p>
        </p:txBody>
      </p:sp>
      <p:sp>
        <p:nvSpPr>
          <p:cNvPr id="23" name="Text 21"/>
          <p:cNvSpPr/>
          <p:nvPr/>
        </p:nvSpPr>
        <p:spPr>
          <a:xfrm>
            <a:off x="10058400" y="4191000"/>
            <a:ext cx="2133600" cy="2540000"/>
          </a:xfrm>
          <a:prstGeom prst="rect">
            <a:avLst/>
          </a:prstGeom>
          <a:noFill/>
          <a:ln/>
        </p:spPr>
        <p:txBody>
          <a:bodyPr wrap="square" lIns="0" tIns="0" rIns="0" bIns="0" rtlCol="0" anchor="t"/>
          <a:lstStyle/>
          <a:p>
            <a:pPr algn="l">
              <a:lnSpc>
                <a:spcPct val="150000"/>
              </a:lnSpc>
            </a:pPr>
            <a:r>
              <a:rPr lang="en-US" sz="1400" dirty="0">
                <a:solidFill>
                  <a:srgbClr val="94A3B8"/>
                </a:solidFill>
                <a:latin typeface="Quattrocento Sans" pitchFamily="34" charset="0"/>
                <a:ea typeface="Quattrocento Sans" pitchFamily="34" charset="-122"/>
                <a:cs typeface="Quattrocento Sans" pitchFamily="34" charset="-120"/>
              </a:rPr>
              <a:t>Quantification INT8, comparaison FP32 vs INT8, compromis qualité-vitesse-mémoire</a:t>
            </a:r>
            <a:endParaRPr lang="en-US" sz="1400" dirty="0"/>
          </a:p>
        </p:txBody>
      </p:sp>
      <p:sp>
        <p:nvSpPr>
          <p:cNvPr id="24" name="Shape 22"/>
          <p:cNvSpPr/>
          <p:nvPr/>
        </p:nvSpPr>
        <p:spPr>
          <a:xfrm>
            <a:off x="12750800" y="1778000"/>
            <a:ext cx="2743200" cy="6604000"/>
          </a:xfrm>
          <a:prstGeom prst="roundRect">
            <a:avLst>
              <a:gd name="adj" fmla="val 8000"/>
            </a:avLst>
          </a:prstGeom>
          <a:solidFill>
            <a:srgbClr val="1E3A5F"/>
          </a:solidFill>
          <a:ln w="12700">
            <a:solidFill>
              <a:srgbClr val="2D5A8E"/>
            </a:solidFill>
            <a:prstDash val="solid"/>
          </a:ln>
        </p:spPr>
      </p:sp>
      <p:sp>
        <p:nvSpPr>
          <p:cNvPr id="25" name="Shape 23"/>
          <p:cNvSpPr/>
          <p:nvPr/>
        </p:nvSpPr>
        <p:spPr>
          <a:xfrm>
            <a:off x="12750800" y="1778000"/>
            <a:ext cx="63500" cy="6604000"/>
          </a:xfrm>
          <a:prstGeom prst="rect">
            <a:avLst/>
          </a:prstGeom>
          <a:solidFill>
            <a:srgbClr val="14B8A6"/>
          </a:solidFill>
          <a:ln/>
        </p:spPr>
      </p:sp>
      <p:sp>
        <p:nvSpPr>
          <p:cNvPr id="26" name="Text 24"/>
          <p:cNvSpPr/>
          <p:nvPr/>
        </p:nvSpPr>
        <p:spPr>
          <a:xfrm>
            <a:off x="13055600" y="2159000"/>
            <a:ext cx="2133600" cy="1016000"/>
          </a:xfrm>
          <a:prstGeom prst="rect">
            <a:avLst/>
          </a:prstGeom>
          <a:noFill/>
          <a:ln/>
        </p:spPr>
        <p:txBody>
          <a:bodyPr wrap="none" lIns="0" tIns="0" rIns="0" bIns="0" rtlCol="0" anchor="t"/>
          <a:lstStyle/>
          <a:p>
            <a:pPr algn="l">
              <a:lnSpc>
                <a:spcPct val="100000"/>
              </a:lnSpc>
            </a:pPr>
            <a:r>
              <a:rPr lang="en-US" sz="6400" dirty="0">
                <a:solidFill>
                  <a:srgbClr val="14B8A6"/>
                </a:solidFill>
                <a:latin typeface="Liter" pitchFamily="34" charset="0"/>
                <a:ea typeface="Liter" pitchFamily="34" charset="-122"/>
                <a:cs typeface="Liter" pitchFamily="34" charset="-120"/>
              </a:rPr>
              <a:t>05</a:t>
            </a:r>
            <a:endParaRPr lang="en-US" sz="6400" dirty="0"/>
          </a:p>
        </p:txBody>
      </p:sp>
      <p:sp>
        <p:nvSpPr>
          <p:cNvPr id="27" name="Text 25"/>
          <p:cNvSpPr/>
          <p:nvPr/>
        </p:nvSpPr>
        <p:spPr>
          <a:xfrm>
            <a:off x="13055600" y="3302000"/>
            <a:ext cx="2133600" cy="762000"/>
          </a:xfrm>
          <a:prstGeom prst="rect">
            <a:avLst/>
          </a:prstGeom>
          <a:noFill/>
          <a:ln/>
        </p:spPr>
        <p:txBody>
          <a:bodyPr wrap="square" lIns="0" tIns="0" rIns="0" bIns="0" rtlCol="0" anchor="t"/>
          <a:lstStyle/>
          <a:p>
            <a:pPr algn="l">
              <a:lnSpc>
                <a:spcPct val="130000"/>
              </a:lnSpc>
            </a:pPr>
            <a:r>
              <a:rPr lang="en-US" sz="1800" b="1" dirty="0">
                <a:solidFill>
                  <a:srgbClr val="14B8A6"/>
                </a:solidFill>
                <a:latin typeface="Liter" pitchFamily="34" charset="0"/>
                <a:ea typeface="Liter" pitchFamily="34" charset="-122"/>
                <a:cs typeface="Liter" pitchFamily="34" charset="-120"/>
              </a:rPr>
              <a:t>Discussion et perspectives</a:t>
            </a:r>
            <a:endParaRPr lang="en-US" sz="1800" dirty="0"/>
          </a:p>
        </p:txBody>
      </p:sp>
      <p:sp>
        <p:nvSpPr>
          <p:cNvPr id="28" name="Text 26"/>
          <p:cNvSpPr/>
          <p:nvPr/>
        </p:nvSpPr>
        <p:spPr>
          <a:xfrm>
            <a:off x="13055600" y="4191000"/>
            <a:ext cx="2133600" cy="2540000"/>
          </a:xfrm>
          <a:prstGeom prst="rect">
            <a:avLst/>
          </a:prstGeom>
          <a:noFill/>
          <a:ln/>
        </p:spPr>
        <p:txBody>
          <a:bodyPr wrap="square" lIns="0" tIns="0" rIns="0" bIns="0" rtlCol="0" anchor="t"/>
          <a:lstStyle/>
          <a:p>
            <a:pPr algn="l">
              <a:lnSpc>
                <a:spcPct val="150000"/>
              </a:lnSpc>
            </a:pPr>
            <a:r>
              <a:rPr lang="en-US" sz="1400" dirty="0">
                <a:solidFill>
                  <a:srgbClr val="94A3B8"/>
                </a:solidFill>
                <a:latin typeface="Quattrocento Sans" pitchFamily="34" charset="0"/>
                <a:ea typeface="Quattrocento Sans" pitchFamily="34" charset="-122"/>
                <a:cs typeface="Quattrocento Sans" pitchFamily="34" charset="-120"/>
              </a:rPr>
              <a:t>Limites de l'étude, perspectives d'amélioration et conclusion</a:t>
            </a:r>
            <a:endParaRPr lang="en-US" sz="14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gradFill flip="none" rotWithShape="1">
          <a:gsLst>
            <a:gs pos="0">
              <a:srgbClr val="0B1D3A"/>
            </a:gs>
            <a:gs pos="100000">
              <a:srgbClr val="0F2847"/>
            </a:gs>
          </a:gsLst>
          <a:lin ang="8100000" scaled="1"/>
        </a:gradFill>
        <a:effectLst/>
      </p:bgPr>
    </p:bg>
    <p:spTree>
      <p:nvGrpSpPr>
        <p:cNvPr id="1" name=""/>
        <p:cNvGrpSpPr/>
        <p:nvPr/>
      </p:nvGrpSpPr>
      <p:grpSpPr>
        <a:xfrm>
          <a:off x="0" y="0"/>
          <a:ext cx="0" cy="0"/>
          <a:chOff x="0" y="0"/>
          <a:chExt cx="0" cy="0"/>
        </a:xfrm>
      </p:grpSpPr>
      <p:sp>
        <p:nvSpPr>
          <p:cNvPr id="2" name="Text 0"/>
          <p:cNvSpPr/>
          <p:nvPr/>
        </p:nvSpPr>
        <p:spPr>
          <a:xfrm>
            <a:off x="762000" y="2286000"/>
            <a:ext cx="3810000" cy="1206500"/>
          </a:xfrm>
          <a:prstGeom prst="rect">
            <a:avLst/>
          </a:prstGeom>
          <a:noFill/>
          <a:ln/>
        </p:spPr>
        <p:txBody>
          <a:bodyPr wrap="none" lIns="0" tIns="0" rIns="0" bIns="0" rtlCol="0" anchor="ctr"/>
          <a:lstStyle/>
          <a:p>
            <a:pPr algn="l">
              <a:lnSpc>
                <a:spcPct val="100000"/>
              </a:lnSpc>
            </a:pPr>
            <a:r>
              <a:rPr lang="en-US" sz="7200" dirty="0">
                <a:solidFill>
                  <a:srgbClr val="14B8A6"/>
                </a:solidFill>
                <a:latin typeface="Liter" pitchFamily="34" charset="0"/>
                <a:ea typeface="Liter" pitchFamily="34" charset="-122"/>
                <a:cs typeface="Liter" pitchFamily="34" charset="-120"/>
              </a:rPr>
              <a:t>01</a:t>
            </a:r>
            <a:endParaRPr lang="en-US" sz="7200" dirty="0"/>
          </a:p>
        </p:txBody>
      </p:sp>
      <p:sp>
        <p:nvSpPr>
          <p:cNvPr id="3" name="Shape 1"/>
          <p:cNvSpPr/>
          <p:nvPr/>
        </p:nvSpPr>
        <p:spPr>
          <a:xfrm>
            <a:off x="762000" y="3683000"/>
            <a:ext cx="1270000" cy="50800"/>
          </a:xfrm>
          <a:prstGeom prst="rect">
            <a:avLst/>
          </a:prstGeom>
          <a:solidFill>
            <a:srgbClr val="F97316"/>
          </a:solidFill>
          <a:ln/>
        </p:spPr>
      </p:sp>
      <p:sp>
        <p:nvSpPr>
          <p:cNvPr id="4" name="Text 2"/>
          <p:cNvSpPr/>
          <p:nvPr/>
        </p:nvSpPr>
        <p:spPr>
          <a:xfrm>
            <a:off x="762000" y="3937000"/>
            <a:ext cx="10160000" cy="635000"/>
          </a:xfrm>
          <a:prstGeom prst="rect">
            <a:avLst/>
          </a:prstGeom>
          <a:noFill/>
          <a:ln/>
        </p:spPr>
        <p:txBody>
          <a:bodyPr wrap="none" lIns="0" tIns="0" rIns="0" bIns="0" rtlCol="0" anchor="ctr"/>
          <a:lstStyle/>
          <a:p>
            <a:pPr algn="l">
              <a:lnSpc>
                <a:spcPct val="120000"/>
              </a:lnSpc>
            </a:pPr>
            <a:r>
              <a:rPr lang="en-US" sz="3600" b="1" kern="0" spc="200" dirty="0">
                <a:solidFill>
                  <a:srgbClr val="F1F5F9"/>
                </a:solidFill>
                <a:latin typeface="Liter" pitchFamily="34" charset="0"/>
                <a:ea typeface="Liter" pitchFamily="34" charset="-122"/>
                <a:cs typeface="Liter" pitchFamily="34" charset="-120"/>
              </a:rPr>
              <a:t>CONTEXTE ET PROBLÉMATIQUE</a:t>
            </a:r>
            <a:endParaRPr lang="en-US" sz="3600" dirty="0"/>
          </a:p>
        </p:txBody>
      </p:sp>
      <p:sp>
        <p:nvSpPr>
          <p:cNvPr id="5" name="Text 3"/>
          <p:cNvSpPr/>
          <p:nvPr/>
        </p:nvSpPr>
        <p:spPr>
          <a:xfrm>
            <a:off x="762000" y="4762500"/>
            <a:ext cx="11684000" cy="381000"/>
          </a:xfrm>
          <a:prstGeom prst="rect">
            <a:avLst/>
          </a:prstGeom>
          <a:noFill/>
          <a:ln/>
        </p:spPr>
        <p:txBody>
          <a:bodyPr wrap="none" lIns="0" tIns="0" rIns="0" bIns="0" rtlCol="0" anchor="ctr"/>
          <a:lstStyle/>
          <a:p>
            <a:pPr algn="l">
              <a:lnSpc>
                <a:spcPct val="160000"/>
              </a:lnSpc>
            </a:pPr>
            <a:r>
              <a:rPr lang="en-US" sz="2000" dirty="0">
                <a:solidFill>
                  <a:srgbClr val="94A3B8"/>
                </a:solidFill>
                <a:latin typeface="Quattrocento Sans" pitchFamily="34" charset="0"/>
                <a:ea typeface="Quattrocento Sans" pitchFamily="34" charset="-122"/>
                <a:cs typeface="Quattrocento Sans" pitchFamily="34" charset="-120"/>
              </a:rPr>
              <a:t>Pourquoi le déploiement Edge AI est un défi, et comment l'optimisation et la compression y répondent</a:t>
            </a:r>
            <a:endParaRPr lang="en-US" sz="20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Shape 1"/>
          <p:cNvSpPr/>
          <p:nvPr/>
        </p:nvSpPr>
        <p:spPr>
          <a:xfrm>
            <a:off x="0" y="0"/>
            <a:ext cx="3251200" cy="457200"/>
          </a:xfrm>
          <a:prstGeom prst="rect">
            <a:avLst/>
          </a:prstGeom>
          <a:solidFill>
            <a:srgbClr val="14B8A6"/>
          </a:solidFill>
          <a:ln/>
        </p:spPr>
      </p:sp>
      <p:sp>
        <p:nvSpPr>
          <p:cNvPr id="4" name="Text 2"/>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01 Contexte</a:t>
            </a:r>
            <a:endParaRPr lang="en-US" sz="1200" dirty="0"/>
          </a:p>
        </p:txBody>
      </p:sp>
      <p:sp>
        <p:nvSpPr>
          <p:cNvPr id="5" name="Text 3"/>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6" name="Text 4"/>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889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CONTEXTE ET PROBLÉMATIQUE</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651000"/>
            <a:ext cx="6985000" cy="3175000"/>
          </a:xfrm>
          <a:prstGeom prst="roundRect">
            <a:avLst>
              <a:gd name="adj" fmla="val 8000"/>
            </a:avLst>
          </a:prstGeom>
          <a:solidFill>
            <a:srgbClr val="1E3A5F"/>
          </a:solidFill>
          <a:ln w="12700">
            <a:solidFill>
              <a:srgbClr val="2D5A8E"/>
            </a:solidFill>
            <a:prstDash val="solid"/>
          </a:ln>
        </p:spPr>
      </p:sp>
      <p:sp>
        <p:nvSpPr>
          <p:cNvPr id="12" name="Shape 10"/>
          <p:cNvSpPr/>
          <p:nvPr/>
        </p:nvSpPr>
        <p:spPr>
          <a:xfrm>
            <a:off x="762000" y="1651000"/>
            <a:ext cx="63500" cy="3175000"/>
          </a:xfrm>
          <a:prstGeom prst="rect">
            <a:avLst/>
          </a:prstGeom>
          <a:solidFill>
            <a:srgbClr val="F97316"/>
          </a:solidFill>
          <a:ln/>
        </p:spPr>
      </p:sp>
      <p:sp>
        <p:nvSpPr>
          <p:cNvPr id="13" name="Shape 11"/>
          <p:cNvSpPr/>
          <p:nvPr/>
        </p:nvSpPr>
        <p:spPr>
          <a:xfrm>
            <a:off x="1079500" y="1905000"/>
            <a:ext cx="406400" cy="406400"/>
          </a:xfrm>
          <a:custGeom>
            <a:avLst/>
            <a:gdLst/>
            <a:ahLst/>
            <a:cxnLst/>
            <a:rect l="l" t="t" r="r" b="b"/>
            <a:pathLst>
              <a:path w="406400" h="406400">
                <a:moveTo>
                  <a:pt x="139700" y="19050"/>
                </a:moveTo>
                <a:cubicBezTo>
                  <a:pt x="139700" y="8493"/>
                  <a:pt x="131207" y="0"/>
                  <a:pt x="120650" y="0"/>
                </a:cubicBezTo>
                <a:cubicBezTo>
                  <a:pt x="110093" y="0"/>
                  <a:pt x="101600" y="8493"/>
                  <a:pt x="101600" y="19050"/>
                </a:cubicBezTo>
                <a:lnTo>
                  <a:pt x="101600" y="50800"/>
                </a:lnTo>
                <a:cubicBezTo>
                  <a:pt x="73581" y="50800"/>
                  <a:pt x="50800" y="73581"/>
                  <a:pt x="50800" y="101600"/>
                </a:cubicBezTo>
                <a:lnTo>
                  <a:pt x="19050" y="101600"/>
                </a:lnTo>
                <a:cubicBezTo>
                  <a:pt x="8493" y="101600"/>
                  <a:pt x="0" y="110093"/>
                  <a:pt x="0" y="120650"/>
                </a:cubicBezTo>
                <a:cubicBezTo>
                  <a:pt x="0" y="131207"/>
                  <a:pt x="8493" y="139700"/>
                  <a:pt x="19050" y="139700"/>
                </a:cubicBezTo>
                <a:lnTo>
                  <a:pt x="50800" y="139700"/>
                </a:lnTo>
                <a:lnTo>
                  <a:pt x="50800" y="184150"/>
                </a:lnTo>
                <a:lnTo>
                  <a:pt x="19050" y="184150"/>
                </a:lnTo>
                <a:cubicBezTo>
                  <a:pt x="8493" y="184150"/>
                  <a:pt x="0" y="192643"/>
                  <a:pt x="0" y="203200"/>
                </a:cubicBezTo>
                <a:cubicBezTo>
                  <a:pt x="0" y="213757"/>
                  <a:pt x="8493" y="222250"/>
                  <a:pt x="19050" y="222250"/>
                </a:cubicBezTo>
                <a:lnTo>
                  <a:pt x="50800" y="222250"/>
                </a:lnTo>
                <a:lnTo>
                  <a:pt x="50800" y="266700"/>
                </a:lnTo>
                <a:lnTo>
                  <a:pt x="19050" y="266700"/>
                </a:lnTo>
                <a:cubicBezTo>
                  <a:pt x="8493" y="266700"/>
                  <a:pt x="0" y="275193"/>
                  <a:pt x="0" y="285750"/>
                </a:cubicBezTo>
                <a:cubicBezTo>
                  <a:pt x="0" y="296307"/>
                  <a:pt x="8493" y="304800"/>
                  <a:pt x="19050" y="304800"/>
                </a:cubicBezTo>
                <a:lnTo>
                  <a:pt x="50800" y="304800"/>
                </a:lnTo>
                <a:cubicBezTo>
                  <a:pt x="50800" y="332819"/>
                  <a:pt x="73581" y="355600"/>
                  <a:pt x="101600" y="355600"/>
                </a:cubicBezTo>
                <a:lnTo>
                  <a:pt x="101600" y="387350"/>
                </a:lnTo>
                <a:cubicBezTo>
                  <a:pt x="101600" y="397907"/>
                  <a:pt x="110093" y="406400"/>
                  <a:pt x="120650" y="406400"/>
                </a:cubicBezTo>
                <a:cubicBezTo>
                  <a:pt x="131207" y="406400"/>
                  <a:pt x="139700" y="397907"/>
                  <a:pt x="139700" y="387350"/>
                </a:cubicBezTo>
                <a:lnTo>
                  <a:pt x="139700" y="355600"/>
                </a:lnTo>
                <a:lnTo>
                  <a:pt x="184150" y="355600"/>
                </a:lnTo>
                <a:lnTo>
                  <a:pt x="184150" y="387350"/>
                </a:lnTo>
                <a:cubicBezTo>
                  <a:pt x="184150" y="397907"/>
                  <a:pt x="192643" y="406400"/>
                  <a:pt x="203200" y="406400"/>
                </a:cubicBezTo>
                <a:cubicBezTo>
                  <a:pt x="213757" y="406400"/>
                  <a:pt x="222250" y="397907"/>
                  <a:pt x="222250" y="387350"/>
                </a:cubicBezTo>
                <a:lnTo>
                  <a:pt x="222250" y="355600"/>
                </a:lnTo>
                <a:lnTo>
                  <a:pt x="266700" y="355600"/>
                </a:lnTo>
                <a:lnTo>
                  <a:pt x="266700" y="387350"/>
                </a:lnTo>
                <a:cubicBezTo>
                  <a:pt x="266700" y="397907"/>
                  <a:pt x="275193" y="406400"/>
                  <a:pt x="285750" y="406400"/>
                </a:cubicBezTo>
                <a:cubicBezTo>
                  <a:pt x="296307" y="406400"/>
                  <a:pt x="304800" y="397907"/>
                  <a:pt x="304800" y="387350"/>
                </a:cubicBezTo>
                <a:lnTo>
                  <a:pt x="304800" y="355600"/>
                </a:lnTo>
                <a:cubicBezTo>
                  <a:pt x="332819" y="355600"/>
                  <a:pt x="355600" y="332819"/>
                  <a:pt x="355600" y="304800"/>
                </a:cubicBezTo>
                <a:lnTo>
                  <a:pt x="387350" y="304800"/>
                </a:lnTo>
                <a:cubicBezTo>
                  <a:pt x="397907" y="304800"/>
                  <a:pt x="406400" y="296307"/>
                  <a:pt x="406400" y="285750"/>
                </a:cubicBezTo>
                <a:cubicBezTo>
                  <a:pt x="406400" y="275193"/>
                  <a:pt x="397907" y="266700"/>
                  <a:pt x="387350" y="266700"/>
                </a:cubicBezTo>
                <a:lnTo>
                  <a:pt x="355600" y="266700"/>
                </a:lnTo>
                <a:lnTo>
                  <a:pt x="355600" y="222250"/>
                </a:lnTo>
                <a:lnTo>
                  <a:pt x="387350" y="222250"/>
                </a:lnTo>
                <a:cubicBezTo>
                  <a:pt x="397907" y="222250"/>
                  <a:pt x="406400" y="213757"/>
                  <a:pt x="406400" y="203200"/>
                </a:cubicBezTo>
                <a:cubicBezTo>
                  <a:pt x="406400" y="192643"/>
                  <a:pt x="397907" y="184150"/>
                  <a:pt x="387350" y="184150"/>
                </a:cubicBezTo>
                <a:lnTo>
                  <a:pt x="355600" y="184150"/>
                </a:lnTo>
                <a:lnTo>
                  <a:pt x="355600" y="139700"/>
                </a:lnTo>
                <a:lnTo>
                  <a:pt x="387350" y="139700"/>
                </a:lnTo>
                <a:cubicBezTo>
                  <a:pt x="397907" y="139700"/>
                  <a:pt x="406400" y="131207"/>
                  <a:pt x="406400" y="120650"/>
                </a:cubicBezTo>
                <a:cubicBezTo>
                  <a:pt x="406400" y="110093"/>
                  <a:pt x="397907" y="101600"/>
                  <a:pt x="387350" y="101600"/>
                </a:cubicBezTo>
                <a:lnTo>
                  <a:pt x="355600" y="101600"/>
                </a:lnTo>
                <a:cubicBezTo>
                  <a:pt x="355600" y="73581"/>
                  <a:pt x="332819" y="50800"/>
                  <a:pt x="304800" y="50800"/>
                </a:cubicBezTo>
                <a:lnTo>
                  <a:pt x="304800" y="19050"/>
                </a:lnTo>
                <a:cubicBezTo>
                  <a:pt x="304800" y="8493"/>
                  <a:pt x="296307" y="0"/>
                  <a:pt x="285750" y="0"/>
                </a:cubicBezTo>
                <a:cubicBezTo>
                  <a:pt x="275193" y="0"/>
                  <a:pt x="266700" y="8493"/>
                  <a:pt x="266700" y="19050"/>
                </a:cubicBezTo>
                <a:lnTo>
                  <a:pt x="266700" y="50800"/>
                </a:lnTo>
                <a:lnTo>
                  <a:pt x="222250" y="50800"/>
                </a:lnTo>
                <a:lnTo>
                  <a:pt x="222250" y="19050"/>
                </a:lnTo>
                <a:cubicBezTo>
                  <a:pt x="222250" y="8493"/>
                  <a:pt x="213757" y="0"/>
                  <a:pt x="203200" y="0"/>
                </a:cubicBezTo>
                <a:cubicBezTo>
                  <a:pt x="192643" y="0"/>
                  <a:pt x="184150" y="8493"/>
                  <a:pt x="184150" y="19050"/>
                </a:cubicBezTo>
                <a:lnTo>
                  <a:pt x="184150" y="50800"/>
                </a:lnTo>
                <a:lnTo>
                  <a:pt x="139700" y="50800"/>
                </a:lnTo>
                <a:lnTo>
                  <a:pt x="139700" y="19050"/>
                </a:lnTo>
                <a:close/>
                <a:moveTo>
                  <a:pt x="127000" y="101600"/>
                </a:moveTo>
                <a:lnTo>
                  <a:pt x="279400" y="101600"/>
                </a:lnTo>
                <a:cubicBezTo>
                  <a:pt x="293449" y="101600"/>
                  <a:pt x="304800" y="112951"/>
                  <a:pt x="304800" y="127000"/>
                </a:cubicBezTo>
                <a:lnTo>
                  <a:pt x="304800" y="279400"/>
                </a:lnTo>
                <a:cubicBezTo>
                  <a:pt x="304800" y="293449"/>
                  <a:pt x="293449" y="304800"/>
                  <a:pt x="279400" y="304800"/>
                </a:cubicBezTo>
                <a:lnTo>
                  <a:pt x="127000" y="304800"/>
                </a:lnTo>
                <a:cubicBezTo>
                  <a:pt x="112951" y="304800"/>
                  <a:pt x="101600" y="293449"/>
                  <a:pt x="101600" y="279400"/>
                </a:cubicBezTo>
                <a:lnTo>
                  <a:pt x="101600" y="127000"/>
                </a:lnTo>
                <a:cubicBezTo>
                  <a:pt x="101600" y="112951"/>
                  <a:pt x="112951" y="101600"/>
                  <a:pt x="127000" y="101600"/>
                </a:cubicBezTo>
                <a:close/>
                <a:moveTo>
                  <a:pt x="139700" y="139700"/>
                </a:moveTo>
                <a:lnTo>
                  <a:pt x="139700" y="266700"/>
                </a:lnTo>
                <a:lnTo>
                  <a:pt x="266700" y="266700"/>
                </a:lnTo>
                <a:lnTo>
                  <a:pt x="266700" y="139700"/>
                </a:lnTo>
                <a:lnTo>
                  <a:pt x="139700" y="139700"/>
                </a:lnTo>
                <a:close/>
              </a:path>
            </a:pathLst>
          </a:custGeom>
          <a:solidFill>
            <a:srgbClr val="F97316"/>
          </a:solidFill>
          <a:ln/>
        </p:spPr>
      </p:sp>
      <p:sp>
        <p:nvSpPr>
          <p:cNvPr id="14" name="Text 12"/>
          <p:cNvSpPr/>
          <p:nvPr/>
        </p:nvSpPr>
        <p:spPr>
          <a:xfrm>
            <a:off x="1651000" y="1905000"/>
            <a:ext cx="5715000" cy="406400"/>
          </a:xfrm>
          <a:prstGeom prst="rect">
            <a:avLst/>
          </a:prstGeom>
          <a:noFill/>
          <a:ln/>
        </p:spPr>
        <p:txBody>
          <a:bodyPr wrap="none" lIns="0" tIns="0" rIns="0" bIns="0" rtlCol="0" anchor="ctr"/>
          <a:lstStyle/>
          <a:p>
            <a:pPr algn="l">
              <a:lnSpc>
                <a:spcPct val="130000"/>
              </a:lnSpc>
            </a:pPr>
            <a:r>
              <a:rPr lang="en-US" sz="2000" b="1" dirty="0">
                <a:solidFill>
                  <a:srgbClr val="F97316"/>
                </a:solidFill>
                <a:latin typeface="Liter" pitchFamily="34" charset="0"/>
                <a:ea typeface="Liter" pitchFamily="34" charset="-122"/>
                <a:cs typeface="Liter" pitchFamily="34" charset="-120"/>
              </a:rPr>
              <a:t>Contraintes du déploiement Edge</a:t>
            </a:r>
            <a:endParaRPr lang="en-US" sz="2000" dirty="0"/>
          </a:p>
        </p:txBody>
      </p:sp>
      <p:sp>
        <p:nvSpPr>
          <p:cNvPr id="15" name="Text 13"/>
          <p:cNvSpPr/>
          <p:nvPr/>
        </p:nvSpPr>
        <p:spPr>
          <a:xfrm>
            <a:off x="1079500" y="2476500"/>
            <a:ext cx="6350000" cy="2159000"/>
          </a:xfrm>
          <a:prstGeom prst="rect">
            <a:avLst/>
          </a:prstGeom>
          <a:noFill/>
          <a:ln/>
        </p:spPr>
        <p:txBody>
          <a:bodyPr wrap="square" lIns="0" tIns="0" rIns="0" bIns="0" rtlCol="0" anchor="t"/>
          <a:lstStyle/>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 Absence d'accélérateur GPU</a:t>
            </a:r>
            <a:endParaRPr lang="en-US" sz="1600" dirty="0"/>
          </a:p>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 Mémoire vive limitée (RAM contrainte)</a:t>
            </a:r>
            <a:endParaRPr lang="en-US" sz="1600" dirty="0"/>
          </a:p>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 Exigence de latence faible</a:t>
            </a:r>
            <a:endParaRPr lang="en-US" sz="1600" dirty="0"/>
          </a:p>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 Modèles FP32 &gt; 100 Mo inutilisables</a:t>
            </a:r>
            <a:endParaRPr lang="en-US" sz="1600" dirty="0"/>
          </a:p>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 Temps de réponse inacceptables</a:t>
            </a:r>
            <a:endParaRPr lang="en-US" sz="1600" dirty="0"/>
          </a:p>
        </p:txBody>
      </p:sp>
      <p:sp>
        <p:nvSpPr>
          <p:cNvPr id="16" name="Shape 14"/>
          <p:cNvSpPr/>
          <p:nvPr/>
        </p:nvSpPr>
        <p:spPr>
          <a:xfrm>
            <a:off x="8001000" y="1651000"/>
            <a:ext cx="7493000" cy="3175000"/>
          </a:xfrm>
          <a:prstGeom prst="roundRect">
            <a:avLst>
              <a:gd name="adj" fmla="val 8000"/>
            </a:avLst>
          </a:prstGeom>
          <a:solidFill>
            <a:srgbClr val="1E3A5F"/>
          </a:solidFill>
          <a:ln w="12700">
            <a:solidFill>
              <a:srgbClr val="2D5A8E"/>
            </a:solidFill>
            <a:prstDash val="solid"/>
          </a:ln>
        </p:spPr>
      </p:sp>
      <p:sp>
        <p:nvSpPr>
          <p:cNvPr id="17" name="Shape 15"/>
          <p:cNvSpPr/>
          <p:nvPr/>
        </p:nvSpPr>
        <p:spPr>
          <a:xfrm>
            <a:off x="8001000" y="1651000"/>
            <a:ext cx="63500" cy="3175000"/>
          </a:xfrm>
          <a:prstGeom prst="rect">
            <a:avLst/>
          </a:prstGeom>
          <a:solidFill>
            <a:srgbClr val="14B8A6"/>
          </a:solidFill>
          <a:ln/>
        </p:spPr>
      </p:sp>
      <p:sp>
        <p:nvSpPr>
          <p:cNvPr id="18" name="Shape 16"/>
          <p:cNvSpPr/>
          <p:nvPr/>
        </p:nvSpPr>
        <p:spPr>
          <a:xfrm>
            <a:off x="8318500" y="1905000"/>
            <a:ext cx="406400" cy="406400"/>
          </a:xfrm>
          <a:custGeom>
            <a:avLst/>
            <a:gdLst/>
            <a:ahLst/>
            <a:cxnLst/>
            <a:rect l="l" t="t" r="r" b="b"/>
            <a:pathLst>
              <a:path w="406400" h="406400">
                <a:moveTo>
                  <a:pt x="264097" y="167084"/>
                </a:moveTo>
                <a:cubicBezTo>
                  <a:pt x="271844" y="164465"/>
                  <a:pt x="279972" y="169069"/>
                  <a:pt x="283464" y="178038"/>
                </a:cubicBezTo>
                <a:lnTo>
                  <a:pt x="295275" y="207883"/>
                </a:lnTo>
                <a:cubicBezTo>
                  <a:pt x="301816" y="208994"/>
                  <a:pt x="308229" y="211217"/>
                  <a:pt x="314262" y="214313"/>
                </a:cubicBezTo>
                <a:lnTo>
                  <a:pt x="336487" y="195818"/>
                </a:lnTo>
                <a:cubicBezTo>
                  <a:pt x="343154" y="190262"/>
                  <a:pt x="351981" y="191373"/>
                  <a:pt x="357632" y="198438"/>
                </a:cubicBezTo>
                <a:lnTo>
                  <a:pt x="369824" y="213678"/>
                </a:lnTo>
                <a:cubicBezTo>
                  <a:pt x="375475" y="220742"/>
                  <a:pt x="376365" y="231854"/>
                  <a:pt x="371919" y="240109"/>
                </a:cubicBezTo>
                <a:lnTo>
                  <a:pt x="357124" y="267811"/>
                </a:lnTo>
                <a:cubicBezTo>
                  <a:pt x="358331" y="271542"/>
                  <a:pt x="359410" y="275431"/>
                  <a:pt x="360299" y="279479"/>
                </a:cubicBezTo>
                <a:cubicBezTo>
                  <a:pt x="361188" y="283528"/>
                  <a:pt x="361759" y="287496"/>
                  <a:pt x="362204" y="291544"/>
                </a:cubicBezTo>
                <a:lnTo>
                  <a:pt x="386144" y="306308"/>
                </a:lnTo>
                <a:cubicBezTo>
                  <a:pt x="393319" y="310753"/>
                  <a:pt x="397002" y="320913"/>
                  <a:pt x="394907" y="330518"/>
                </a:cubicBezTo>
                <a:lnTo>
                  <a:pt x="390462" y="351314"/>
                </a:lnTo>
                <a:cubicBezTo>
                  <a:pt x="388366" y="360918"/>
                  <a:pt x="381190" y="367427"/>
                  <a:pt x="373190" y="366792"/>
                </a:cubicBezTo>
                <a:lnTo>
                  <a:pt x="346519" y="364649"/>
                </a:lnTo>
                <a:cubicBezTo>
                  <a:pt x="342519" y="371078"/>
                  <a:pt x="337884" y="377031"/>
                  <a:pt x="332613" y="382111"/>
                </a:cubicBezTo>
                <a:lnTo>
                  <a:pt x="334328" y="415369"/>
                </a:lnTo>
                <a:cubicBezTo>
                  <a:pt x="334835" y="425371"/>
                  <a:pt x="329629" y="434419"/>
                  <a:pt x="321945" y="436959"/>
                </a:cubicBezTo>
                <a:lnTo>
                  <a:pt x="305308" y="442516"/>
                </a:lnTo>
                <a:cubicBezTo>
                  <a:pt x="297561" y="445135"/>
                  <a:pt x="289497" y="440531"/>
                  <a:pt x="285941" y="431562"/>
                </a:cubicBezTo>
                <a:lnTo>
                  <a:pt x="274130" y="401717"/>
                </a:lnTo>
                <a:cubicBezTo>
                  <a:pt x="267589" y="400606"/>
                  <a:pt x="261176" y="398383"/>
                  <a:pt x="255143" y="395288"/>
                </a:cubicBezTo>
                <a:lnTo>
                  <a:pt x="232918" y="413782"/>
                </a:lnTo>
                <a:cubicBezTo>
                  <a:pt x="226251" y="419338"/>
                  <a:pt x="217424" y="418227"/>
                  <a:pt x="211773" y="411163"/>
                </a:cubicBezTo>
                <a:lnTo>
                  <a:pt x="199581" y="395923"/>
                </a:lnTo>
                <a:cubicBezTo>
                  <a:pt x="193929" y="388858"/>
                  <a:pt x="193040" y="377825"/>
                  <a:pt x="197485" y="369491"/>
                </a:cubicBezTo>
                <a:lnTo>
                  <a:pt x="212281" y="341709"/>
                </a:lnTo>
                <a:cubicBezTo>
                  <a:pt x="211074" y="337979"/>
                  <a:pt x="209994" y="334089"/>
                  <a:pt x="209106" y="330041"/>
                </a:cubicBezTo>
                <a:cubicBezTo>
                  <a:pt x="208217" y="325993"/>
                  <a:pt x="207645" y="321945"/>
                  <a:pt x="207201" y="317976"/>
                </a:cubicBezTo>
                <a:lnTo>
                  <a:pt x="183261" y="303213"/>
                </a:lnTo>
                <a:cubicBezTo>
                  <a:pt x="176086" y="298768"/>
                  <a:pt x="172466" y="288608"/>
                  <a:pt x="174498" y="279003"/>
                </a:cubicBezTo>
                <a:lnTo>
                  <a:pt x="178943" y="258207"/>
                </a:lnTo>
                <a:cubicBezTo>
                  <a:pt x="181039" y="248602"/>
                  <a:pt x="188214" y="242094"/>
                  <a:pt x="196215" y="242729"/>
                </a:cubicBezTo>
                <a:lnTo>
                  <a:pt x="222822" y="244872"/>
                </a:lnTo>
                <a:cubicBezTo>
                  <a:pt x="226822" y="238442"/>
                  <a:pt x="231458" y="232489"/>
                  <a:pt x="236728" y="227409"/>
                </a:cubicBezTo>
                <a:lnTo>
                  <a:pt x="235014" y="194231"/>
                </a:lnTo>
                <a:cubicBezTo>
                  <a:pt x="234506" y="184229"/>
                  <a:pt x="239712" y="175181"/>
                  <a:pt x="247396" y="172641"/>
                </a:cubicBezTo>
                <a:lnTo>
                  <a:pt x="264033" y="167084"/>
                </a:lnTo>
                <a:close/>
                <a:moveTo>
                  <a:pt x="284734" y="269875"/>
                </a:moveTo>
                <a:cubicBezTo>
                  <a:pt x="269313" y="269897"/>
                  <a:pt x="256808" y="285564"/>
                  <a:pt x="256826" y="304840"/>
                </a:cubicBezTo>
                <a:cubicBezTo>
                  <a:pt x="256843" y="324115"/>
                  <a:pt x="269377" y="339747"/>
                  <a:pt x="284798" y="339725"/>
                </a:cubicBezTo>
                <a:cubicBezTo>
                  <a:pt x="300218" y="339703"/>
                  <a:pt x="312723" y="324036"/>
                  <a:pt x="312706" y="304760"/>
                </a:cubicBezTo>
                <a:cubicBezTo>
                  <a:pt x="312688" y="285485"/>
                  <a:pt x="300155" y="269853"/>
                  <a:pt x="284734" y="269875"/>
                </a:cubicBezTo>
                <a:close/>
                <a:moveTo>
                  <a:pt x="142812" y="-36116"/>
                </a:moveTo>
                <a:lnTo>
                  <a:pt x="159449" y="-30559"/>
                </a:lnTo>
                <a:cubicBezTo>
                  <a:pt x="167132" y="-27940"/>
                  <a:pt x="172339" y="-18891"/>
                  <a:pt x="171831" y="-8969"/>
                </a:cubicBezTo>
                <a:lnTo>
                  <a:pt x="170117" y="24209"/>
                </a:lnTo>
                <a:cubicBezTo>
                  <a:pt x="175387" y="29289"/>
                  <a:pt x="180023" y="35163"/>
                  <a:pt x="184023" y="41672"/>
                </a:cubicBezTo>
                <a:lnTo>
                  <a:pt x="210693" y="39529"/>
                </a:lnTo>
                <a:cubicBezTo>
                  <a:pt x="218631" y="38894"/>
                  <a:pt x="225869" y="45403"/>
                  <a:pt x="227965" y="55007"/>
                </a:cubicBezTo>
                <a:lnTo>
                  <a:pt x="232410" y="75803"/>
                </a:lnTo>
                <a:cubicBezTo>
                  <a:pt x="234442" y="85408"/>
                  <a:pt x="230823" y="95568"/>
                  <a:pt x="223647" y="100013"/>
                </a:cubicBezTo>
                <a:lnTo>
                  <a:pt x="199708" y="114776"/>
                </a:lnTo>
                <a:cubicBezTo>
                  <a:pt x="199263" y="118824"/>
                  <a:pt x="198628" y="122873"/>
                  <a:pt x="197803" y="126841"/>
                </a:cubicBezTo>
                <a:cubicBezTo>
                  <a:pt x="196977" y="130810"/>
                  <a:pt x="195834" y="134779"/>
                  <a:pt x="194628" y="138509"/>
                </a:cubicBezTo>
                <a:lnTo>
                  <a:pt x="209423" y="166291"/>
                </a:lnTo>
                <a:cubicBezTo>
                  <a:pt x="213868" y="174625"/>
                  <a:pt x="212979" y="185658"/>
                  <a:pt x="207328" y="192722"/>
                </a:cubicBezTo>
                <a:lnTo>
                  <a:pt x="195136" y="207963"/>
                </a:lnTo>
                <a:cubicBezTo>
                  <a:pt x="189484" y="215027"/>
                  <a:pt x="180658" y="216138"/>
                  <a:pt x="173990" y="210582"/>
                </a:cubicBezTo>
                <a:lnTo>
                  <a:pt x="151765" y="192088"/>
                </a:lnTo>
                <a:cubicBezTo>
                  <a:pt x="145733" y="195183"/>
                  <a:pt x="139319" y="197406"/>
                  <a:pt x="132779" y="198517"/>
                </a:cubicBezTo>
                <a:lnTo>
                  <a:pt x="120968" y="228362"/>
                </a:lnTo>
                <a:cubicBezTo>
                  <a:pt x="117412" y="237331"/>
                  <a:pt x="109283" y="241856"/>
                  <a:pt x="101600" y="239316"/>
                </a:cubicBezTo>
                <a:lnTo>
                  <a:pt x="84963" y="233759"/>
                </a:lnTo>
                <a:cubicBezTo>
                  <a:pt x="77216" y="231140"/>
                  <a:pt x="72073" y="222091"/>
                  <a:pt x="72581" y="212169"/>
                </a:cubicBezTo>
                <a:lnTo>
                  <a:pt x="74295" y="178911"/>
                </a:lnTo>
                <a:cubicBezTo>
                  <a:pt x="69025" y="173831"/>
                  <a:pt x="64389" y="167958"/>
                  <a:pt x="60389" y="161449"/>
                </a:cubicBezTo>
                <a:lnTo>
                  <a:pt x="33719" y="163592"/>
                </a:lnTo>
                <a:cubicBezTo>
                  <a:pt x="25781" y="164227"/>
                  <a:pt x="18542" y="157718"/>
                  <a:pt x="16447" y="148114"/>
                </a:cubicBezTo>
                <a:lnTo>
                  <a:pt x="12002" y="127318"/>
                </a:lnTo>
                <a:cubicBezTo>
                  <a:pt x="9970" y="117713"/>
                  <a:pt x="13589" y="107553"/>
                  <a:pt x="20765" y="103108"/>
                </a:cubicBezTo>
                <a:lnTo>
                  <a:pt x="44704" y="88344"/>
                </a:lnTo>
                <a:cubicBezTo>
                  <a:pt x="45149" y="84296"/>
                  <a:pt x="45784" y="80328"/>
                  <a:pt x="46609" y="76279"/>
                </a:cubicBezTo>
                <a:cubicBezTo>
                  <a:pt x="47498" y="72231"/>
                  <a:pt x="48514" y="68342"/>
                  <a:pt x="49784" y="64611"/>
                </a:cubicBezTo>
                <a:lnTo>
                  <a:pt x="34989" y="36909"/>
                </a:lnTo>
                <a:cubicBezTo>
                  <a:pt x="30544" y="28575"/>
                  <a:pt x="31433" y="17542"/>
                  <a:pt x="37084" y="10478"/>
                </a:cubicBezTo>
                <a:lnTo>
                  <a:pt x="49276" y="-4762"/>
                </a:lnTo>
                <a:cubicBezTo>
                  <a:pt x="54928" y="-11827"/>
                  <a:pt x="63754" y="-12938"/>
                  <a:pt x="70422" y="-7382"/>
                </a:cubicBezTo>
                <a:lnTo>
                  <a:pt x="92646" y="11113"/>
                </a:lnTo>
                <a:cubicBezTo>
                  <a:pt x="98679" y="8017"/>
                  <a:pt x="105092" y="5794"/>
                  <a:pt x="111633" y="4683"/>
                </a:cubicBezTo>
                <a:lnTo>
                  <a:pt x="123444" y="-25162"/>
                </a:lnTo>
                <a:cubicBezTo>
                  <a:pt x="127000" y="-34131"/>
                  <a:pt x="135065" y="-38656"/>
                  <a:pt x="142812" y="-36116"/>
                </a:cubicBezTo>
                <a:close/>
                <a:moveTo>
                  <a:pt x="122174" y="66675"/>
                </a:moveTo>
                <a:cubicBezTo>
                  <a:pt x="106753" y="66675"/>
                  <a:pt x="94234" y="82324"/>
                  <a:pt x="94234" y="101600"/>
                </a:cubicBezTo>
                <a:cubicBezTo>
                  <a:pt x="94234" y="120876"/>
                  <a:pt x="106753" y="136525"/>
                  <a:pt x="122174" y="136525"/>
                </a:cubicBezTo>
                <a:cubicBezTo>
                  <a:pt x="137595" y="136525"/>
                  <a:pt x="150114" y="120876"/>
                  <a:pt x="150114" y="101600"/>
                </a:cubicBezTo>
                <a:cubicBezTo>
                  <a:pt x="150114" y="82324"/>
                  <a:pt x="137595" y="66675"/>
                  <a:pt x="122174" y="66675"/>
                </a:cubicBezTo>
                <a:close/>
              </a:path>
            </a:pathLst>
          </a:custGeom>
          <a:solidFill>
            <a:srgbClr val="14B8A6"/>
          </a:solidFill>
          <a:ln/>
        </p:spPr>
      </p:sp>
      <p:sp>
        <p:nvSpPr>
          <p:cNvPr id="19" name="Text 17"/>
          <p:cNvSpPr/>
          <p:nvPr/>
        </p:nvSpPr>
        <p:spPr>
          <a:xfrm>
            <a:off x="8890000" y="1905000"/>
            <a:ext cx="6223000" cy="406400"/>
          </a:xfrm>
          <a:prstGeom prst="rect">
            <a:avLst/>
          </a:prstGeom>
          <a:noFill/>
          <a:ln/>
        </p:spPr>
        <p:txBody>
          <a:bodyPr wrap="none" lIns="0" tIns="0" rIns="0" bIns="0" rtlCol="0" anchor="ctr"/>
          <a:lstStyle/>
          <a:p>
            <a:pPr algn="l">
              <a:lnSpc>
                <a:spcPct val="130000"/>
              </a:lnSpc>
            </a:pPr>
            <a:r>
              <a:rPr lang="en-US" sz="2000" b="1" dirty="0">
                <a:solidFill>
                  <a:srgbClr val="14B8A6"/>
                </a:solidFill>
                <a:latin typeface="Liter" pitchFamily="34" charset="0"/>
                <a:ea typeface="Liter" pitchFamily="34" charset="-122"/>
                <a:cs typeface="Liter" pitchFamily="34" charset="-120"/>
              </a:rPr>
              <a:t>Deux leviers principaux</a:t>
            </a:r>
            <a:endParaRPr lang="en-US" sz="2000" dirty="0"/>
          </a:p>
        </p:txBody>
      </p:sp>
      <p:sp>
        <p:nvSpPr>
          <p:cNvPr id="20" name="Text 18"/>
          <p:cNvSpPr/>
          <p:nvPr/>
        </p:nvSpPr>
        <p:spPr>
          <a:xfrm>
            <a:off x="8318500" y="2476500"/>
            <a:ext cx="6858000" cy="2159000"/>
          </a:xfrm>
          <a:prstGeom prst="rect">
            <a:avLst/>
          </a:prstGeom>
          <a:noFill/>
          <a:ln/>
        </p:spPr>
        <p:txBody>
          <a:bodyPr wrap="square" lIns="0" tIns="0" rIns="0" bIns="0" rtlCol="0" anchor="t"/>
          <a:lstStyle/>
          <a:p>
            <a:pPr algn="l">
              <a:lnSpc>
                <a:spcPct val="160000"/>
              </a:lnSpc>
            </a:pPr>
            <a:r>
              <a:rPr lang="en-US" sz="1600" b="1" dirty="0">
                <a:solidFill>
                  <a:srgbClr val="F1F5F9"/>
                </a:solidFill>
                <a:latin typeface="Quattrocento Sans" pitchFamily="34" charset="0"/>
                <a:ea typeface="Quattrocento Sans" pitchFamily="34" charset="-122"/>
                <a:cs typeface="Quattrocento Sans" pitchFamily="34" charset="-120"/>
              </a:rPr>
              <a:t>1. Choix de l'optimiseur</a:t>
            </a:r>
            <a:endParaRPr lang="en-US" sz="1600" dirty="0"/>
          </a:p>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Influence la qualité finale et la vitesse de convergence lors du fine-tuning</a:t>
            </a:r>
            <a:endParaRPr lang="en-US" sz="1600" dirty="0"/>
          </a:p>
          <a:p>
            <a:pPr algn="l">
              <a:lnSpc>
                <a:spcPct val="160000"/>
              </a:lnSpc>
              <a:spcBef>
                <a:spcPts val="800"/>
              </a:spcBef>
            </a:pPr>
            <a:r>
              <a:rPr lang="en-US" sz="1600" b="1" dirty="0">
                <a:solidFill>
                  <a:srgbClr val="F1F5F9"/>
                </a:solidFill>
                <a:latin typeface="Quattrocento Sans" pitchFamily="34" charset="0"/>
                <a:ea typeface="Quattrocento Sans" pitchFamily="34" charset="-122"/>
                <a:cs typeface="Quattrocento Sans" pitchFamily="34" charset="-120"/>
              </a:rPr>
              <a:t>2. Compression du modèle</a:t>
            </a:r>
            <a:endParaRPr lang="en-US" sz="1600" dirty="0"/>
          </a:p>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Quantification INT8 réduit l'empreinte mémoire et accélère l'inférence sur CPU</a:t>
            </a:r>
            <a:endParaRPr lang="en-US" sz="1600" dirty="0"/>
          </a:p>
        </p:txBody>
      </p:sp>
      <p:sp>
        <p:nvSpPr>
          <p:cNvPr id="21" name="Shape 19"/>
          <p:cNvSpPr/>
          <p:nvPr/>
        </p:nvSpPr>
        <p:spPr>
          <a:xfrm>
            <a:off x="762000" y="5143500"/>
            <a:ext cx="14732000" cy="1524000"/>
          </a:xfrm>
          <a:prstGeom prst="roundRect">
            <a:avLst>
              <a:gd name="adj" fmla="val 8000"/>
            </a:avLst>
          </a:prstGeom>
          <a:solidFill>
            <a:srgbClr val="152D4D"/>
          </a:solidFill>
          <a:ln w="12700">
            <a:solidFill>
              <a:srgbClr val="14B8A6"/>
            </a:solidFill>
            <a:prstDash val="solid"/>
          </a:ln>
        </p:spPr>
      </p:sp>
      <p:sp>
        <p:nvSpPr>
          <p:cNvPr id="22" name="Shape 20"/>
          <p:cNvSpPr/>
          <p:nvPr/>
        </p:nvSpPr>
        <p:spPr>
          <a:xfrm>
            <a:off x="1079500" y="5397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14B8A6"/>
          </a:solidFill>
          <a:ln/>
        </p:spPr>
      </p:sp>
      <p:sp>
        <p:nvSpPr>
          <p:cNvPr id="23" name="Text 21"/>
          <p:cNvSpPr/>
          <p:nvPr/>
        </p:nvSpPr>
        <p:spPr>
          <a:xfrm>
            <a:off x="1587500" y="5359400"/>
            <a:ext cx="3810000" cy="406400"/>
          </a:xfrm>
          <a:prstGeom prst="rect">
            <a:avLst/>
          </a:prstGeom>
          <a:noFill/>
          <a:ln/>
        </p:spPr>
        <p:txBody>
          <a:bodyPr wrap="none" lIns="0" tIns="0" rIns="0" bIns="0" rtlCol="0" anchor="ctr"/>
          <a:lstStyle/>
          <a:p>
            <a:pPr algn="l">
              <a:lnSpc>
                <a:spcPct val="130000"/>
              </a:lnSpc>
            </a:pPr>
            <a:r>
              <a:rPr lang="en-US" sz="1800" b="1" dirty="0">
                <a:solidFill>
                  <a:srgbClr val="14B8A6"/>
                </a:solidFill>
                <a:latin typeface="Liter" pitchFamily="34" charset="0"/>
                <a:ea typeface="Liter" pitchFamily="34" charset="-122"/>
                <a:cs typeface="Liter" pitchFamily="34" charset="-120"/>
              </a:rPr>
              <a:t>Problématique centrale</a:t>
            </a:r>
            <a:endParaRPr lang="en-US" sz="1800" dirty="0"/>
          </a:p>
        </p:txBody>
      </p:sp>
      <p:sp>
        <p:nvSpPr>
          <p:cNvPr id="24" name="Text 22"/>
          <p:cNvSpPr/>
          <p:nvPr/>
        </p:nvSpPr>
        <p:spPr>
          <a:xfrm>
            <a:off x="1079500" y="5842000"/>
            <a:ext cx="14097000" cy="762000"/>
          </a:xfrm>
          <a:prstGeom prst="rect">
            <a:avLst/>
          </a:prstGeom>
          <a:noFill/>
          <a:ln/>
        </p:spPr>
        <p:txBody>
          <a:bodyPr wrap="square" lIns="0" tIns="0" rIns="0" bIns="0" rtlCol="0" anchor="t"/>
          <a:lstStyle/>
          <a:p>
            <a:pPr algn="l">
              <a:lnSpc>
                <a:spcPct val="150000"/>
              </a:lnSpc>
            </a:pPr>
            <a:r>
              <a:rPr lang="en-US" sz="1600" dirty="0">
                <a:solidFill>
                  <a:srgbClr val="F1F5F9"/>
                </a:solidFill>
                <a:latin typeface="Quattrocento Sans" pitchFamily="34" charset="0"/>
                <a:ea typeface="Quattrocento Sans" pitchFamily="34" charset="-122"/>
                <a:cs typeface="Quattrocento Sans" pitchFamily="34" charset="-120"/>
              </a:rPr>
              <a:t>Comment identifier le meilleur compromis entre </a:t>
            </a:r>
            <a:r>
              <a:rPr lang="en-US" sz="1600" b="1" dirty="0">
                <a:solidFill>
                  <a:srgbClr val="F1F5F9"/>
                </a:solidFill>
                <a:latin typeface="Quattrocento Sans" pitchFamily="34" charset="0"/>
                <a:ea typeface="Quattrocento Sans" pitchFamily="34" charset="-122"/>
                <a:cs typeface="Quattrocento Sans" pitchFamily="34" charset="-120"/>
              </a:rPr>
              <a:t>performance prédictive</a:t>
            </a: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coût d'entraînement</a:t>
            </a:r>
            <a:r>
              <a:rPr lang="en-US" sz="1600" dirty="0">
                <a:solidFill>
                  <a:srgbClr val="F1F5F9"/>
                </a:solidFill>
                <a:latin typeface="Quattrocento Sans" pitchFamily="34" charset="0"/>
                <a:ea typeface="Quattrocento Sans" pitchFamily="34" charset="-122"/>
                <a:cs typeface="Quattrocento Sans" pitchFamily="34" charset="-120"/>
              </a:rPr>
              <a:t> et </a:t>
            </a:r>
            <a:r>
              <a:rPr lang="en-US" sz="1600" b="1" dirty="0">
                <a:solidFill>
                  <a:srgbClr val="F1F5F9"/>
                </a:solidFill>
                <a:latin typeface="Quattrocento Sans" pitchFamily="34" charset="0"/>
                <a:ea typeface="Quattrocento Sans" pitchFamily="34" charset="-122"/>
                <a:cs typeface="Quattrocento Sans" pitchFamily="34" charset="-120"/>
              </a:rPr>
              <a:t>faisabilité de déploiement</a:t>
            </a:r>
            <a:r>
              <a:rPr lang="en-US" sz="1600" dirty="0">
                <a:solidFill>
                  <a:srgbClr val="F1F5F9"/>
                </a:solidFill>
                <a:latin typeface="Quattrocento Sans" pitchFamily="34" charset="0"/>
                <a:ea typeface="Quattrocento Sans" pitchFamily="34" charset="-122"/>
                <a:cs typeface="Quattrocento Sans" pitchFamily="34" charset="-120"/>
              </a:rPr>
              <a:t> sur dispositif contraint ?</a:t>
            </a:r>
            <a:endParaRPr lang="en-US" sz="1600" dirty="0"/>
          </a:p>
        </p:txBody>
      </p:sp>
      <p:sp>
        <p:nvSpPr>
          <p:cNvPr id="25" name="Text 23"/>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4</a:t>
            </a:r>
            <a:endParaRPr lang="en-US" sz="13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gradFill flip="none" rotWithShape="1">
          <a:gsLst>
            <a:gs pos="0">
              <a:srgbClr val="0B1D3A"/>
            </a:gs>
            <a:gs pos="100000">
              <a:srgbClr val="0F2847"/>
            </a:gs>
          </a:gsLst>
          <a:lin ang="8100000" scaled="1"/>
        </a:gradFill>
        <a:effectLst/>
      </p:bgPr>
    </p:bg>
    <p:spTree>
      <p:nvGrpSpPr>
        <p:cNvPr id="1" name=""/>
        <p:cNvGrpSpPr/>
        <p:nvPr/>
      </p:nvGrpSpPr>
      <p:grpSpPr>
        <a:xfrm>
          <a:off x="0" y="0"/>
          <a:ext cx="0" cy="0"/>
          <a:chOff x="0" y="0"/>
          <a:chExt cx="0" cy="0"/>
        </a:xfrm>
      </p:grpSpPr>
      <p:sp>
        <p:nvSpPr>
          <p:cNvPr id="2" name="Text 0"/>
          <p:cNvSpPr/>
          <p:nvPr/>
        </p:nvSpPr>
        <p:spPr>
          <a:xfrm>
            <a:off x="762000" y="2286000"/>
            <a:ext cx="3810000" cy="1206500"/>
          </a:xfrm>
          <a:prstGeom prst="rect">
            <a:avLst/>
          </a:prstGeom>
          <a:noFill/>
          <a:ln/>
        </p:spPr>
        <p:txBody>
          <a:bodyPr wrap="none" lIns="0" tIns="0" rIns="0" bIns="0" rtlCol="0" anchor="ctr"/>
          <a:lstStyle/>
          <a:p>
            <a:pPr algn="l">
              <a:lnSpc>
                <a:spcPct val="100000"/>
              </a:lnSpc>
            </a:pPr>
            <a:r>
              <a:rPr lang="en-US" sz="7200" dirty="0">
                <a:solidFill>
                  <a:srgbClr val="14B8A6"/>
                </a:solidFill>
                <a:latin typeface="Liter" pitchFamily="34" charset="0"/>
                <a:ea typeface="Liter" pitchFamily="34" charset="-122"/>
                <a:cs typeface="Liter" pitchFamily="34" charset="-120"/>
              </a:rPr>
              <a:t>02</a:t>
            </a:r>
            <a:endParaRPr lang="en-US" sz="7200" dirty="0"/>
          </a:p>
        </p:txBody>
      </p:sp>
      <p:sp>
        <p:nvSpPr>
          <p:cNvPr id="3" name="Shape 1"/>
          <p:cNvSpPr/>
          <p:nvPr/>
        </p:nvSpPr>
        <p:spPr>
          <a:xfrm>
            <a:off x="762000" y="3683000"/>
            <a:ext cx="1270000" cy="50800"/>
          </a:xfrm>
          <a:prstGeom prst="rect">
            <a:avLst/>
          </a:prstGeom>
          <a:solidFill>
            <a:srgbClr val="F97316"/>
          </a:solidFill>
          <a:ln/>
        </p:spPr>
      </p:sp>
      <p:sp>
        <p:nvSpPr>
          <p:cNvPr id="4" name="Text 2"/>
          <p:cNvSpPr/>
          <p:nvPr/>
        </p:nvSpPr>
        <p:spPr>
          <a:xfrm>
            <a:off x="762000" y="3937000"/>
            <a:ext cx="10160000" cy="635000"/>
          </a:xfrm>
          <a:prstGeom prst="rect">
            <a:avLst/>
          </a:prstGeom>
          <a:noFill/>
          <a:ln/>
        </p:spPr>
        <p:txBody>
          <a:bodyPr wrap="none" lIns="0" tIns="0" rIns="0" bIns="0" rtlCol="0" anchor="ctr"/>
          <a:lstStyle/>
          <a:p>
            <a:pPr algn="l">
              <a:lnSpc>
                <a:spcPct val="120000"/>
              </a:lnSpc>
            </a:pPr>
            <a:r>
              <a:rPr lang="en-US" sz="3600" b="1" kern="0" spc="200" dirty="0">
                <a:solidFill>
                  <a:srgbClr val="F1F5F9"/>
                </a:solidFill>
                <a:latin typeface="Liter" pitchFamily="34" charset="0"/>
                <a:ea typeface="Liter" pitchFamily="34" charset="-122"/>
                <a:cs typeface="Liter" pitchFamily="34" charset="-120"/>
              </a:rPr>
              <a:t>ARCHITECTURE DU PIPELINE</a:t>
            </a:r>
            <a:endParaRPr lang="en-US" sz="3600" dirty="0"/>
          </a:p>
        </p:txBody>
      </p:sp>
      <p:sp>
        <p:nvSpPr>
          <p:cNvPr id="5" name="Text 3"/>
          <p:cNvSpPr/>
          <p:nvPr/>
        </p:nvSpPr>
        <p:spPr>
          <a:xfrm>
            <a:off x="762000" y="4762500"/>
            <a:ext cx="11430000" cy="381000"/>
          </a:xfrm>
          <a:prstGeom prst="rect">
            <a:avLst/>
          </a:prstGeom>
          <a:noFill/>
          <a:ln/>
        </p:spPr>
        <p:txBody>
          <a:bodyPr wrap="none" lIns="0" tIns="0" rIns="0" bIns="0" rtlCol="0" anchor="ctr"/>
          <a:lstStyle/>
          <a:p>
            <a:pPr algn="l">
              <a:lnSpc>
                <a:spcPct val="160000"/>
              </a:lnSpc>
            </a:pPr>
            <a:r>
              <a:rPr lang="en-US" sz="2000" dirty="0">
                <a:solidFill>
                  <a:srgbClr val="94A3B8"/>
                </a:solidFill>
                <a:latin typeface="Quattrocento Sans" pitchFamily="34" charset="0"/>
                <a:ea typeface="Quattrocento Sans" pitchFamily="34" charset="-122"/>
                <a:cs typeface="Quattrocento Sans" pitchFamily="34" charset="-120"/>
              </a:rPr>
              <a:t>Une architecture modulaire en 5 blocs fonctionnels pour la reproductibilité et le débogage</a:t>
            </a:r>
            <a:endParaRPr lang="en-US" sz="20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Shape 2"/>
          <p:cNvSpPr/>
          <p:nvPr/>
        </p:nvSpPr>
        <p:spPr>
          <a:xfrm>
            <a:off x="3251200" y="0"/>
            <a:ext cx="3251200" cy="457200"/>
          </a:xfrm>
          <a:prstGeom prst="rect">
            <a:avLst/>
          </a:prstGeom>
          <a:solidFill>
            <a:srgbClr val="14B8A6"/>
          </a:solidFill>
          <a:ln/>
        </p:spPr>
      </p:sp>
      <p:sp>
        <p:nvSpPr>
          <p:cNvPr id="5" name="Text 3"/>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02 Architecture</a:t>
            </a:r>
            <a:endParaRPr lang="en-US" sz="1200" dirty="0"/>
          </a:p>
        </p:txBody>
      </p:sp>
      <p:sp>
        <p:nvSpPr>
          <p:cNvPr id="6" name="Text 4"/>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016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ARCHITECTURE DU PIPELINE — 5 BLOCS</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651000"/>
            <a:ext cx="2692400" cy="2540000"/>
          </a:xfrm>
          <a:prstGeom prst="roundRect">
            <a:avLst>
              <a:gd name="adj" fmla="val 8000"/>
            </a:avLst>
          </a:prstGeom>
          <a:solidFill>
            <a:srgbClr val="1E3A5F"/>
          </a:solidFill>
          <a:ln w="12700">
            <a:solidFill>
              <a:srgbClr val="14B8A6"/>
            </a:solidFill>
            <a:prstDash val="solid"/>
          </a:ln>
        </p:spPr>
      </p:sp>
      <p:sp>
        <p:nvSpPr>
          <p:cNvPr id="12" name="Text 10"/>
          <p:cNvSpPr/>
          <p:nvPr/>
        </p:nvSpPr>
        <p:spPr>
          <a:xfrm>
            <a:off x="762000" y="1778000"/>
            <a:ext cx="2692400" cy="457200"/>
          </a:xfrm>
          <a:prstGeom prst="rect">
            <a:avLst/>
          </a:prstGeom>
          <a:noFill/>
          <a:ln/>
        </p:spPr>
        <p:txBody>
          <a:bodyPr wrap="none" lIns="0" tIns="0" rIns="0" bIns="0" rtlCol="0" anchor="ctr"/>
          <a:lstStyle/>
          <a:p>
            <a:pPr algn="ctr">
              <a:lnSpc>
                <a:spcPct val="120000"/>
              </a:lnSpc>
            </a:pPr>
            <a:r>
              <a:rPr lang="en-US" sz="1400" kern="0" spc="200" dirty="0">
                <a:solidFill>
                  <a:srgbClr val="14B8A6"/>
                </a:solidFill>
                <a:latin typeface="Liter" pitchFamily="34" charset="0"/>
                <a:ea typeface="Liter" pitchFamily="34" charset="-122"/>
                <a:cs typeface="Liter" pitchFamily="34" charset="-120"/>
              </a:rPr>
              <a:t>BLOC 1</a:t>
            </a:r>
            <a:endParaRPr lang="en-US" sz="1400" dirty="0"/>
          </a:p>
        </p:txBody>
      </p:sp>
      <p:sp>
        <p:nvSpPr>
          <p:cNvPr id="13" name="Text 11"/>
          <p:cNvSpPr/>
          <p:nvPr/>
        </p:nvSpPr>
        <p:spPr>
          <a:xfrm>
            <a:off x="889000" y="2311400"/>
            <a:ext cx="2438400" cy="609600"/>
          </a:xfrm>
          <a:prstGeom prst="rect">
            <a:avLst/>
          </a:prstGeom>
          <a:noFill/>
          <a:ln/>
        </p:spPr>
        <p:txBody>
          <a:bodyPr wrap="square" lIns="0" tIns="0" rIns="0" bIns="0" rtlCol="0" anchor="ctr"/>
          <a:lstStyle/>
          <a:p>
            <a:pPr algn="ctr">
              <a:lnSpc>
                <a:spcPct val="130000"/>
              </a:lnSpc>
            </a:pPr>
            <a:r>
              <a:rPr lang="en-US" sz="1400" b="1" dirty="0">
                <a:solidFill>
                  <a:srgbClr val="F1F5F9"/>
                </a:solidFill>
                <a:latin typeface="Liter" pitchFamily="34" charset="0"/>
                <a:ea typeface="Liter" pitchFamily="34" charset="-122"/>
                <a:cs typeface="Liter" pitchFamily="34" charset="-120"/>
              </a:rPr>
              <a:t>Préparation</a:t>
            </a:r>
            <a:endParaRPr lang="en-US" sz="1400" dirty="0"/>
          </a:p>
          <a:p>
            <a:pPr algn="ctr">
              <a:lnSpc>
                <a:spcPct val="130000"/>
              </a:lnSpc>
            </a:pPr>
            <a:r>
              <a:rPr lang="en-US" sz="1400" b="1" dirty="0">
                <a:solidFill>
                  <a:srgbClr val="F1F5F9"/>
                </a:solidFill>
                <a:latin typeface="Liter" pitchFamily="34" charset="0"/>
                <a:ea typeface="Liter" pitchFamily="34" charset="-122"/>
                <a:cs typeface="Liter" pitchFamily="34" charset="-120"/>
              </a:rPr>
              <a:t>des données</a:t>
            </a:r>
            <a:endParaRPr lang="en-US" sz="1400" dirty="0"/>
          </a:p>
        </p:txBody>
      </p:sp>
      <p:sp>
        <p:nvSpPr>
          <p:cNvPr id="14" name="Text 12"/>
          <p:cNvSpPr/>
          <p:nvPr/>
        </p:nvSpPr>
        <p:spPr>
          <a:xfrm>
            <a:off x="889000" y="3048000"/>
            <a:ext cx="2438400" cy="952500"/>
          </a:xfrm>
          <a:prstGeom prst="rect">
            <a:avLst/>
          </a:prstGeom>
          <a:noFill/>
          <a:ln/>
        </p:spPr>
        <p:txBody>
          <a:bodyPr wrap="square" lIns="0" tIns="0" rIns="0" bIns="0" rtlCol="0" anchor="t"/>
          <a:lstStyle/>
          <a:p>
            <a:pPr algn="ct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AG News, sous-échantillonnage, tokenisation 128 tokens</a:t>
            </a:r>
            <a:endParaRPr lang="en-US" sz="1200" dirty="0"/>
          </a:p>
        </p:txBody>
      </p:sp>
      <p:sp>
        <p:nvSpPr>
          <p:cNvPr id="15" name="Shape 13"/>
          <p:cNvSpPr/>
          <p:nvPr/>
        </p:nvSpPr>
        <p:spPr>
          <a:xfrm>
            <a:off x="3454400" y="2794000"/>
            <a:ext cx="317500" cy="0"/>
          </a:xfrm>
          <a:prstGeom prst="straightConnector1">
            <a:avLst/>
          </a:prstGeom>
          <a:noFill/>
          <a:ln w="25400">
            <a:solidFill>
              <a:srgbClr val="2D5A8E"/>
            </a:solidFill>
            <a:prstDash val="solid"/>
            <a:headEnd type="none"/>
            <a:tailEnd type="arrow"/>
          </a:ln>
        </p:spPr>
      </p:sp>
      <p:sp>
        <p:nvSpPr>
          <p:cNvPr id="16" name="Shape 14"/>
          <p:cNvSpPr/>
          <p:nvPr/>
        </p:nvSpPr>
        <p:spPr>
          <a:xfrm>
            <a:off x="3771900" y="1651000"/>
            <a:ext cx="2692400" cy="2540000"/>
          </a:xfrm>
          <a:prstGeom prst="roundRect">
            <a:avLst>
              <a:gd name="adj" fmla="val 8000"/>
            </a:avLst>
          </a:prstGeom>
          <a:solidFill>
            <a:srgbClr val="1E3A5F"/>
          </a:solidFill>
          <a:ln w="12700">
            <a:solidFill>
              <a:srgbClr val="F97316"/>
            </a:solidFill>
            <a:prstDash val="solid"/>
          </a:ln>
        </p:spPr>
      </p:sp>
      <p:sp>
        <p:nvSpPr>
          <p:cNvPr id="17" name="Text 15"/>
          <p:cNvSpPr/>
          <p:nvPr/>
        </p:nvSpPr>
        <p:spPr>
          <a:xfrm>
            <a:off x="3771900" y="1778000"/>
            <a:ext cx="2692400" cy="457200"/>
          </a:xfrm>
          <a:prstGeom prst="rect">
            <a:avLst/>
          </a:prstGeom>
          <a:noFill/>
          <a:ln/>
        </p:spPr>
        <p:txBody>
          <a:bodyPr wrap="none" lIns="0" tIns="0" rIns="0" bIns="0" rtlCol="0" anchor="ctr"/>
          <a:lstStyle/>
          <a:p>
            <a:pPr algn="ctr">
              <a:lnSpc>
                <a:spcPct val="120000"/>
              </a:lnSpc>
            </a:pPr>
            <a:r>
              <a:rPr lang="en-US" sz="1400" kern="0" spc="200" dirty="0">
                <a:solidFill>
                  <a:srgbClr val="F97316"/>
                </a:solidFill>
                <a:latin typeface="Liter" pitchFamily="34" charset="0"/>
                <a:ea typeface="Liter" pitchFamily="34" charset="-122"/>
                <a:cs typeface="Liter" pitchFamily="34" charset="-120"/>
              </a:rPr>
              <a:t>BLOC 2</a:t>
            </a:r>
            <a:endParaRPr lang="en-US" sz="1400" dirty="0"/>
          </a:p>
        </p:txBody>
      </p:sp>
      <p:sp>
        <p:nvSpPr>
          <p:cNvPr id="18" name="Text 16"/>
          <p:cNvSpPr/>
          <p:nvPr/>
        </p:nvSpPr>
        <p:spPr>
          <a:xfrm>
            <a:off x="3898900" y="2311400"/>
            <a:ext cx="2438400" cy="609600"/>
          </a:xfrm>
          <a:prstGeom prst="rect">
            <a:avLst/>
          </a:prstGeom>
          <a:noFill/>
          <a:ln/>
        </p:spPr>
        <p:txBody>
          <a:bodyPr wrap="square" lIns="0" tIns="0" rIns="0" bIns="0" rtlCol="0" anchor="ctr"/>
          <a:lstStyle/>
          <a:p>
            <a:pPr algn="ctr">
              <a:lnSpc>
                <a:spcPct val="130000"/>
              </a:lnSpc>
            </a:pPr>
            <a:r>
              <a:rPr lang="en-US" sz="1400" b="1" dirty="0">
                <a:solidFill>
                  <a:srgbClr val="F1F5F9"/>
                </a:solidFill>
                <a:latin typeface="Liter" pitchFamily="34" charset="0"/>
                <a:ea typeface="Liter" pitchFamily="34" charset="-122"/>
                <a:cs typeface="Liter" pitchFamily="34" charset="-120"/>
              </a:rPr>
              <a:t>Benchmark</a:t>
            </a:r>
            <a:endParaRPr lang="en-US" sz="1400" dirty="0"/>
          </a:p>
          <a:p>
            <a:pPr algn="ctr">
              <a:lnSpc>
                <a:spcPct val="130000"/>
              </a:lnSpc>
            </a:pPr>
            <a:r>
              <a:rPr lang="en-US" sz="1400" b="1" dirty="0">
                <a:solidFill>
                  <a:srgbClr val="F1F5F9"/>
                </a:solidFill>
                <a:latin typeface="Liter" pitchFamily="34" charset="0"/>
                <a:ea typeface="Liter" pitchFamily="34" charset="-122"/>
                <a:cs typeface="Liter" pitchFamily="34" charset="-120"/>
              </a:rPr>
              <a:t>des optimiseurs</a:t>
            </a:r>
            <a:endParaRPr lang="en-US" sz="1400" dirty="0"/>
          </a:p>
        </p:txBody>
      </p:sp>
      <p:sp>
        <p:nvSpPr>
          <p:cNvPr id="19" name="Text 17"/>
          <p:cNvSpPr/>
          <p:nvPr/>
        </p:nvSpPr>
        <p:spPr>
          <a:xfrm>
            <a:off x="3898900" y="3048000"/>
            <a:ext cx="2438400" cy="952500"/>
          </a:xfrm>
          <a:prstGeom prst="rect">
            <a:avLst/>
          </a:prstGeom>
          <a:noFill/>
          <a:ln/>
        </p:spPr>
        <p:txBody>
          <a:bodyPr wrap="square" lIns="0" tIns="0" rIns="0" bIns="0" rtlCol="0" anchor="t"/>
          <a:lstStyle/>
          <a:p>
            <a:pPr algn="ct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AdamW, Adafactor, Lion, LAMB, SGD — sélection du meilleur F1</a:t>
            </a:r>
            <a:endParaRPr lang="en-US" sz="1200" dirty="0"/>
          </a:p>
        </p:txBody>
      </p:sp>
      <p:sp>
        <p:nvSpPr>
          <p:cNvPr id="20" name="Shape 18"/>
          <p:cNvSpPr/>
          <p:nvPr/>
        </p:nvSpPr>
        <p:spPr>
          <a:xfrm>
            <a:off x="6464300" y="2794000"/>
            <a:ext cx="317500" cy="0"/>
          </a:xfrm>
          <a:prstGeom prst="straightConnector1">
            <a:avLst/>
          </a:prstGeom>
          <a:noFill/>
          <a:ln w="25400">
            <a:solidFill>
              <a:srgbClr val="2D5A8E"/>
            </a:solidFill>
            <a:prstDash val="solid"/>
            <a:headEnd type="none"/>
            <a:tailEnd type="arrow"/>
          </a:ln>
        </p:spPr>
      </p:sp>
      <p:sp>
        <p:nvSpPr>
          <p:cNvPr id="21" name="Shape 19"/>
          <p:cNvSpPr/>
          <p:nvPr/>
        </p:nvSpPr>
        <p:spPr>
          <a:xfrm>
            <a:off x="6781800" y="1651000"/>
            <a:ext cx="2692400" cy="2540000"/>
          </a:xfrm>
          <a:prstGeom prst="roundRect">
            <a:avLst>
              <a:gd name="adj" fmla="val 8000"/>
            </a:avLst>
          </a:prstGeom>
          <a:solidFill>
            <a:srgbClr val="1E3A5F"/>
          </a:solidFill>
          <a:ln w="12700">
            <a:solidFill>
              <a:srgbClr val="14B8A6"/>
            </a:solidFill>
            <a:prstDash val="solid"/>
          </a:ln>
        </p:spPr>
      </p:sp>
      <p:sp>
        <p:nvSpPr>
          <p:cNvPr id="22" name="Text 20"/>
          <p:cNvSpPr/>
          <p:nvPr/>
        </p:nvSpPr>
        <p:spPr>
          <a:xfrm>
            <a:off x="6781800" y="1778000"/>
            <a:ext cx="2692400" cy="457200"/>
          </a:xfrm>
          <a:prstGeom prst="rect">
            <a:avLst/>
          </a:prstGeom>
          <a:noFill/>
          <a:ln/>
        </p:spPr>
        <p:txBody>
          <a:bodyPr wrap="none" lIns="0" tIns="0" rIns="0" bIns="0" rtlCol="0" anchor="ctr"/>
          <a:lstStyle/>
          <a:p>
            <a:pPr algn="ctr">
              <a:lnSpc>
                <a:spcPct val="120000"/>
              </a:lnSpc>
            </a:pPr>
            <a:r>
              <a:rPr lang="en-US" sz="1400" kern="0" spc="200" dirty="0">
                <a:solidFill>
                  <a:srgbClr val="14B8A6"/>
                </a:solidFill>
                <a:latin typeface="Liter" pitchFamily="34" charset="0"/>
                <a:ea typeface="Liter" pitchFamily="34" charset="-122"/>
                <a:cs typeface="Liter" pitchFamily="34" charset="-120"/>
              </a:rPr>
              <a:t>BLOC 3</a:t>
            </a:r>
            <a:endParaRPr lang="en-US" sz="1400" dirty="0"/>
          </a:p>
        </p:txBody>
      </p:sp>
      <p:sp>
        <p:nvSpPr>
          <p:cNvPr id="23" name="Text 21"/>
          <p:cNvSpPr/>
          <p:nvPr/>
        </p:nvSpPr>
        <p:spPr>
          <a:xfrm>
            <a:off x="6908800" y="2311400"/>
            <a:ext cx="2438400" cy="609600"/>
          </a:xfrm>
          <a:prstGeom prst="rect">
            <a:avLst/>
          </a:prstGeom>
          <a:noFill/>
          <a:ln/>
        </p:spPr>
        <p:txBody>
          <a:bodyPr wrap="square" lIns="0" tIns="0" rIns="0" bIns="0" rtlCol="0" anchor="ctr"/>
          <a:lstStyle/>
          <a:p>
            <a:pPr algn="ctr">
              <a:lnSpc>
                <a:spcPct val="130000"/>
              </a:lnSpc>
            </a:pPr>
            <a:r>
              <a:rPr lang="en-US" sz="1400" b="1" dirty="0">
                <a:solidFill>
                  <a:srgbClr val="F1F5F9"/>
                </a:solidFill>
                <a:latin typeface="Liter" pitchFamily="34" charset="0"/>
                <a:ea typeface="Liter" pitchFamily="34" charset="-122"/>
                <a:cs typeface="Liter" pitchFamily="34" charset="-120"/>
              </a:rPr>
              <a:t>Compression</a:t>
            </a:r>
            <a:endParaRPr lang="en-US" sz="1400" dirty="0"/>
          </a:p>
          <a:p>
            <a:pPr algn="ctr">
              <a:lnSpc>
                <a:spcPct val="130000"/>
              </a:lnSpc>
            </a:pPr>
            <a:r>
              <a:rPr lang="en-US" sz="1400" b="1" dirty="0">
                <a:solidFill>
                  <a:srgbClr val="F1F5F9"/>
                </a:solidFill>
                <a:latin typeface="Liter" pitchFamily="34" charset="0"/>
                <a:ea typeface="Liter" pitchFamily="34" charset="-122"/>
                <a:cs typeface="Liter" pitchFamily="34" charset="-120"/>
              </a:rPr>
              <a:t>INT8</a:t>
            </a:r>
            <a:endParaRPr lang="en-US" sz="1400" dirty="0"/>
          </a:p>
        </p:txBody>
      </p:sp>
      <p:sp>
        <p:nvSpPr>
          <p:cNvPr id="24" name="Text 22"/>
          <p:cNvSpPr/>
          <p:nvPr/>
        </p:nvSpPr>
        <p:spPr>
          <a:xfrm>
            <a:off x="6908800" y="3048000"/>
            <a:ext cx="2438400" cy="952500"/>
          </a:xfrm>
          <a:prstGeom prst="rect">
            <a:avLst/>
          </a:prstGeom>
          <a:noFill/>
          <a:ln/>
        </p:spPr>
        <p:txBody>
          <a:bodyPr wrap="square" lIns="0" tIns="0" rIns="0" bIns="0" rtlCol="0" anchor="t"/>
          <a:lstStyle/>
          <a:p>
            <a:pPr algn="ct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Quantification dynamique des couches nn.Linear</a:t>
            </a:r>
            <a:endParaRPr lang="en-US" sz="1200" dirty="0"/>
          </a:p>
        </p:txBody>
      </p:sp>
      <p:sp>
        <p:nvSpPr>
          <p:cNvPr id="25" name="Shape 23"/>
          <p:cNvSpPr/>
          <p:nvPr/>
        </p:nvSpPr>
        <p:spPr>
          <a:xfrm>
            <a:off x="9474200" y="2794000"/>
            <a:ext cx="317500" cy="0"/>
          </a:xfrm>
          <a:prstGeom prst="straightConnector1">
            <a:avLst/>
          </a:prstGeom>
          <a:noFill/>
          <a:ln w="25400">
            <a:solidFill>
              <a:srgbClr val="2D5A8E"/>
            </a:solidFill>
            <a:prstDash val="solid"/>
            <a:headEnd type="none"/>
            <a:tailEnd type="arrow"/>
          </a:ln>
        </p:spPr>
      </p:sp>
      <p:sp>
        <p:nvSpPr>
          <p:cNvPr id="26" name="Shape 24"/>
          <p:cNvSpPr/>
          <p:nvPr/>
        </p:nvSpPr>
        <p:spPr>
          <a:xfrm>
            <a:off x="9791700" y="1651000"/>
            <a:ext cx="2692400" cy="2540000"/>
          </a:xfrm>
          <a:prstGeom prst="roundRect">
            <a:avLst>
              <a:gd name="adj" fmla="val 8000"/>
            </a:avLst>
          </a:prstGeom>
          <a:solidFill>
            <a:srgbClr val="1E3A5F"/>
          </a:solidFill>
          <a:ln w="12700">
            <a:solidFill>
              <a:srgbClr val="F97316"/>
            </a:solidFill>
            <a:prstDash val="solid"/>
          </a:ln>
        </p:spPr>
      </p:sp>
      <p:sp>
        <p:nvSpPr>
          <p:cNvPr id="27" name="Text 25"/>
          <p:cNvSpPr/>
          <p:nvPr/>
        </p:nvSpPr>
        <p:spPr>
          <a:xfrm>
            <a:off x="9791700" y="1778000"/>
            <a:ext cx="2692400" cy="457200"/>
          </a:xfrm>
          <a:prstGeom prst="rect">
            <a:avLst/>
          </a:prstGeom>
          <a:noFill/>
          <a:ln/>
        </p:spPr>
        <p:txBody>
          <a:bodyPr wrap="none" lIns="0" tIns="0" rIns="0" bIns="0" rtlCol="0" anchor="ctr"/>
          <a:lstStyle/>
          <a:p>
            <a:pPr algn="ctr">
              <a:lnSpc>
                <a:spcPct val="120000"/>
              </a:lnSpc>
            </a:pPr>
            <a:r>
              <a:rPr lang="en-US" sz="1400" kern="0" spc="200" dirty="0">
                <a:solidFill>
                  <a:srgbClr val="F97316"/>
                </a:solidFill>
                <a:latin typeface="Liter" pitchFamily="34" charset="0"/>
                <a:ea typeface="Liter" pitchFamily="34" charset="-122"/>
                <a:cs typeface="Liter" pitchFamily="34" charset="-120"/>
              </a:rPr>
              <a:t>BLOC 4</a:t>
            </a:r>
            <a:endParaRPr lang="en-US" sz="1400" dirty="0"/>
          </a:p>
        </p:txBody>
      </p:sp>
      <p:sp>
        <p:nvSpPr>
          <p:cNvPr id="28" name="Text 26"/>
          <p:cNvSpPr/>
          <p:nvPr/>
        </p:nvSpPr>
        <p:spPr>
          <a:xfrm>
            <a:off x="9918700" y="2311400"/>
            <a:ext cx="2438400" cy="609600"/>
          </a:xfrm>
          <a:prstGeom prst="rect">
            <a:avLst/>
          </a:prstGeom>
          <a:noFill/>
          <a:ln/>
        </p:spPr>
        <p:txBody>
          <a:bodyPr wrap="square" lIns="0" tIns="0" rIns="0" bIns="0" rtlCol="0" anchor="ctr"/>
          <a:lstStyle/>
          <a:p>
            <a:pPr algn="ctr">
              <a:lnSpc>
                <a:spcPct val="130000"/>
              </a:lnSpc>
            </a:pPr>
            <a:r>
              <a:rPr lang="en-US" sz="1400" b="1" dirty="0">
                <a:solidFill>
                  <a:srgbClr val="F1F5F9"/>
                </a:solidFill>
                <a:latin typeface="Liter" pitchFamily="34" charset="0"/>
                <a:ea typeface="Liter" pitchFamily="34" charset="-122"/>
                <a:cs typeface="Liter" pitchFamily="34" charset="-120"/>
              </a:rPr>
              <a:t>Évaluation</a:t>
            </a:r>
            <a:endParaRPr lang="en-US" sz="1400" dirty="0"/>
          </a:p>
          <a:p>
            <a:pPr algn="ctr">
              <a:lnSpc>
                <a:spcPct val="130000"/>
              </a:lnSpc>
            </a:pPr>
            <a:r>
              <a:rPr lang="en-US" sz="1400" b="1" dirty="0">
                <a:solidFill>
                  <a:srgbClr val="F1F5F9"/>
                </a:solidFill>
                <a:latin typeface="Liter" pitchFamily="34" charset="0"/>
                <a:ea typeface="Liter" pitchFamily="34" charset="-122"/>
                <a:cs typeface="Liter" pitchFamily="34" charset="-120"/>
              </a:rPr>
              <a:t>Edge</a:t>
            </a:r>
            <a:endParaRPr lang="en-US" sz="1400" dirty="0"/>
          </a:p>
        </p:txBody>
      </p:sp>
      <p:sp>
        <p:nvSpPr>
          <p:cNvPr id="29" name="Text 27"/>
          <p:cNvSpPr/>
          <p:nvPr/>
        </p:nvSpPr>
        <p:spPr>
          <a:xfrm>
            <a:off x="9918700" y="3048000"/>
            <a:ext cx="2438400" cy="952500"/>
          </a:xfrm>
          <a:prstGeom prst="rect">
            <a:avLst/>
          </a:prstGeom>
          <a:noFill/>
          <a:ln/>
        </p:spPr>
        <p:txBody>
          <a:bodyPr wrap="square" lIns="0" tIns="0" rIns="0" bIns="0" rtlCol="0" anchor="t"/>
          <a:lstStyle/>
          <a:p>
            <a:pPr algn="ct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Latence, taille, qualité — FP32 vs INT8 sur CPU</a:t>
            </a:r>
            <a:endParaRPr lang="en-US" sz="1200" dirty="0"/>
          </a:p>
        </p:txBody>
      </p:sp>
      <p:sp>
        <p:nvSpPr>
          <p:cNvPr id="30" name="Shape 28"/>
          <p:cNvSpPr/>
          <p:nvPr/>
        </p:nvSpPr>
        <p:spPr>
          <a:xfrm>
            <a:off x="12484100" y="2794000"/>
            <a:ext cx="317500" cy="0"/>
          </a:xfrm>
          <a:prstGeom prst="straightConnector1">
            <a:avLst/>
          </a:prstGeom>
          <a:noFill/>
          <a:ln w="25400">
            <a:solidFill>
              <a:srgbClr val="2D5A8E"/>
            </a:solidFill>
            <a:prstDash val="solid"/>
            <a:headEnd type="none"/>
            <a:tailEnd type="arrow"/>
          </a:ln>
        </p:spPr>
      </p:sp>
      <p:sp>
        <p:nvSpPr>
          <p:cNvPr id="31" name="Shape 29"/>
          <p:cNvSpPr/>
          <p:nvPr/>
        </p:nvSpPr>
        <p:spPr>
          <a:xfrm>
            <a:off x="12801600" y="1651000"/>
            <a:ext cx="2692400" cy="2540000"/>
          </a:xfrm>
          <a:prstGeom prst="roundRect">
            <a:avLst>
              <a:gd name="adj" fmla="val 8000"/>
            </a:avLst>
          </a:prstGeom>
          <a:solidFill>
            <a:srgbClr val="1E3A5F"/>
          </a:solidFill>
          <a:ln w="12700">
            <a:solidFill>
              <a:srgbClr val="14B8A6"/>
            </a:solidFill>
            <a:prstDash val="solid"/>
          </a:ln>
        </p:spPr>
      </p:sp>
      <p:sp>
        <p:nvSpPr>
          <p:cNvPr id="32" name="Text 30"/>
          <p:cNvSpPr/>
          <p:nvPr/>
        </p:nvSpPr>
        <p:spPr>
          <a:xfrm>
            <a:off x="12801600" y="1778000"/>
            <a:ext cx="2692400" cy="457200"/>
          </a:xfrm>
          <a:prstGeom prst="rect">
            <a:avLst/>
          </a:prstGeom>
          <a:noFill/>
          <a:ln/>
        </p:spPr>
        <p:txBody>
          <a:bodyPr wrap="none" lIns="0" tIns="0" rIns="0" bIns="0" rtlCol="0" anchor="ctr"/>
          <a:lstStyle/>
          <a:p>
            <a:pPr algn="ctr">
              <a:lnSpc>
                <a:spcPct val="120000"/>
              </a:lnSpc>
            </a:pPr>
            <a:r>
              <a:rPr lang="en-US" sz="1400" kern="0" spc="200" dirty="0">
                <a:solidFill>
                  <a:srgbClr val="14B8A6"/>
                </a:solidFill>
                <a:latin typeface="Liter" pitchFamily="34" charset="0"/>
                <a:ea typeface="Liter" pitchFamily="34" charset="-122"/>
                <a:cs typeface="Liter" pitchFamily="34" charset="-120"/>
              </a:rPr>
              <a:t>BLOC 5</a:t>
            </a:r>
            <a:endParaRPr lang="en-US" sz="1400" dirty="0"/>
          </a:p>
        </p:txBody>
      </p:sp>
      <p:sp>
        <p:nvSpPr>
          <p:cNvPr id="33" name="Text 31"/>
          <p:cNvSpPr/>
          <p:nvPr/>
        </p:nvSpPr>
        <p:spPr>
          <a:xfrm>
            <a:off x="12928600" y="2260600"/>
            <a:ext cx="2438400" cy="381000"/>
          </a:xfrm>
          <a:prstGeom prst="rect">
            <a:avLst/>
          </a:prstGeom>
          <a:noFill/>
          <a:ln/>
        </p:spPr>
        <p:txBody>
          <a:bodyPr wrap="none" lIns="0" tIns="0" rIns="0" bIns="0" rtlCol="0" anchor="ctr"/>
          <a:lstStyle/>
          <a:p>
            <a:pPr algn="ctr">
              <a:lnSpc>
                <a:spcPct val="120000"/>
              </a:lnSpc>
            </a:pPr>
            <a:r>
              <a:rPr lang="en-US" sz="1500" b="1" dirty="0">
                <a:solidFill>
                  <a:srgbClr val="F1F5F9"/>
                </a:solidFill>
                <a:latin typeface="Liter" pitchFamily="34" charset="0"/>
                <a:ea typeface="Liter" pitchFamily="34" charset="-122"/>
                <a:cs typeface="Liter" pitchFamily="34" charset="-120"/>
              </a:rPr>
              <a:t>Visualisations</a:t>
            </a:r>
            <a:endParaRPr lang="en-US" sz="1500" dirty="0"/>
          </a:p>
        </p:txBody>
      </p:sp>
      <p:sp>
        <p:nvSpPr>
          <p:cNvPr id="34" name="Text 32"/>
          <p:cNvSpPr/>
          <p:nvPr/>
        </p:nvSpPr>
        <p:spPr>
          <a:xfrm>
            <a:off x="12928600" y="3048000"/>
            <a:ext cx="2438400" cy="952500"/>
          </a:xfrm>
          <a:prstGeom prst="rect">
            <a:avLst/>
          </a:prstGeom>
          <a:noFill/>
          <a:ln/>
        </p:spPr>
        <p:txBody>
          <a:bodyPr wrap="square" lIns="0" tIns="0" rIns="0" bIns="0" rtlCol="0" anchor="t"/>
          <a:lstStyle/>
          <a:p>
            <a:pPr algn="ctr">
              <a:lnSpc>
                <a:spcPct val="140000"/>
              </a:lnSpc>
            </a:pPr>
            <a:r>
              <a:rPr lang="en-US" sz="1200" dirty="0">
                <a:solidFill>
                  <a:srgbClr val="94A3B8"/>
                </a:solidFill>
                <a:latin typeface="Quattrocento Sans" pitchFamily="34" charset="0"/>
                <a:ea typeface="Quattrocento Sans" pitchFamily="34" charset="-122"/>
                <a:cs typeface="Quattrocento Sans" pitchFamily="34" charset="-120"/>
              </a:rPr>
              <a:t>Tableaux de bord et figures comparatives</a:t>
            </a:r>
            <a:endParaRPr lang="en-US" sz="1200" dirty="0"/>
          </a:p>
        </p:txBody>
      </p:sp>
      <p:sp>
        <p:nvSpPr>
          <p:cNvPr id="35" name="Shape 33"/>
          <p:cNvSpPr/>
          <p:nvPr/>
        </p:nvSpPr>
        <p:spPr>
          <a:xfrm>
            <a:off x="762000" y="4572000"/>
            <a:ext cx="14732000" cy="1270000"/>
          </a:xfrm>
          <a:prstGeom prst="roundRect">
            <a:avLst>
              <a:gd name="adj" fmla="val 6000"/>
            </a:avLst>
          </a:prstGeom>
          <a:solidFill>
            <a:srgbClr val="152D4D"/>
          </a:solidFill>
          <a:ln w="12700">
            <a:solidFill>
              <a:srgbClr val="2D5A8E"/>
            </a:solidFill>
            <a:prstDash val="solid"/>
          </a:ln>
        </p:spPr>
      </p:sp>
      <p:sp>
        <p:nvSpPr>
          <p:cNvPr id="36" name="Shape 34"/>
          <p:cNvSpPr/>
          <p:nvPr/>
        </p:nvSpPr>
        <p:spPr>
          <a:xfrm>
            <a:off x="1079500" y="4889500"/>
            <a:ext cx="355600" cy="355600"/>
          </a:xfrm>
          <a:custGeom>
            <a:avLst/>
            <a:gdLst/>
            <a:ahLst/>
            <a:cxnLst/>
            <a:rect l="l" t="t" r="r" b="b"/>
            <a:pathLst>
              <a:path w="355600" h="355600">
                <a:moveTo>
                  <a:pt x="197247" y="-903"/>
                </a:moveTo>
                <a:cubicBezTo>
                  <a:pt x="185231" y="-7848"/>
                  <a:pt x="170369" y="-7848"/>
                  <a:pt x="158353" y="-903"/>
                </a:cubicBezTo>
                <a:lnTo>
                  <a:pt x="99874" y="32851"/>
                </a:lnTo>
                <a:cubicBezTo>
                  <a:pt x="87858" y="39797"/>
                  <a:pt x="80427" y="52645"/>
                  <a:pt x="80427" y="66536"/>
                </a:cubicBezTo>
                <a:lnTo>
                  <a:pt x="80427" y="137309"/>
                </a:lnTo>
                <a:lnTo>
                  <a:pt x="19100" y="172730"/>
                </a:lnTo>
                <a:cubicBezTo>
                  <a:pt x="7084" y="179675"/>
                  <a:pt x="-347" y="192524"/>
                  <a:pt x="-347" y="206415"/>
                </a:cubicBezTo>
                <a:lnTo>
                  <a:pt x="-347" y="273993"/>
                </a:lnTo>
                <a:cubicBezTo>
                  <a:pt x="-347" y="287883"/>
                  <a:pt x="7084" y="300732"/>
                  <a:pt x="19100" y="307677"/>
                </a:cubicBezTo>
                <a:lnTo>
                  <a:pt x="77649" y="341432"/>
                </a:lnTo>
                <a:cubicBezTo>
                  <a:pt x="89664" y="348377"/>
                  <a:pt x="104527" y="348377"/>
                  <a:pt x="116542" y="341432"/>
                </a:cubicBezTo>
                <a:lnTo>
                  <a:pt x="177869" y="306010"/>
                </a:lnTo>
                <a:lnTo>
                  <a:pt x="239197" y="341432"/>
                </a:lnTo>
                <a:cubicBezTo>
                  <a:pt x="251212" y="348377"/>
                  <a:pt x="266075" y="348377"/>
                  <a:pt x="278090" y="341432"/>
                </a:cubicBezTo>
                <a:lnTo>
                  <a:pt x="336500" y="307677"/>
                </a:lnTo>
                <a:cubicBezTo>
                  <a:pt x="348516" y="300732"/>
                  <a:pt x="355947" y="287883"/>
                  <a:pt x="355947" y="273993"/>
                </a:cubicBezTo>
                <a:lnTo>
                  <a:pt x="355947" y="206415"/>
                </a:lnTo>
                <a:cubicBezTo>
                  <a:pt x="355947" y="192524"/>
                  <a:pt x="348516" y="179675"/>
                  <a:pt x="336500" y="172730"/>
                </a:cubicBezTo>
                <a:lnTo>
                  <a:pt x="275173" y="137309"/>
                </a:lnTo>
                <a:lnTo>
                  <a:pt x="275173" y="66536"/>
                </a:lnTo>
                <a:cubicBezTo>
                  <a:pt x="275173" y="52645"/>
                  <a:pt x="267742" y="39797"/>
                  <a:pt x="255726" y="32851"/>
                </a:cubicBezTo>
                <a:lnTo>
                  <a:pt x="197247" y="-903"/>
                </a:lnTo>
                <a:close/>
                <a:moveTo>
                  <a:pt x="161131" y="203220"/>
                </a:moveTo>
                <a:lnTo>
                  <a:pt x="161131" y="277187"/>
                </a:lnTo>
                <a:lnTo>
                  <a:pt x="99804" y="312609"/>
                </a:lnTo>
                <a:cubicBezTo>
                  <a:pt x="98971" y="313095"/>
                  <a:pt x="97998" y="313373"/>
                  <a:pt x="97026" y="313373"/>
                </a:cubicBezTo>
                <a:lnTo>
                  <a:pt x="97026" y="240238"/>
                </a:lnTo>
                <a:lnTo>
                  <a:pt x="161131" y="203220"/>
                </a:lnTo>
                <a:close/>
                <a:moveTo>
                  <a:pt x="321846" y="203637"/>
                </a:moveTo>
                <a:cubicBezTo>
                  <a:pt x="322332" y="204470"/>
                  <a:pt x="322610" y="205442"/>
                  <a:pt x="322610" y="206415"/>
                </a:cubicBezTo>
                <a:lnTo>
                  <a:pt x="322610" y="273993"/>
                </a:lnTo>
                <a:cubicBezTo>
                  <a:pt x="322610" y="276007"/>
                  <a:pt x="321568" y="277813"/>
                  <a:pt x="319832" y="278785"/>
                </a:cubicBezTo>
                <a:lnTo>
                  <a:pt x="261283" y="312539"/>
                </a:lnTo>
                <a:cubicBezTo>
                  <a:pt x="260449" y="313025"/>
                  <a:pt x="259477" y="313303"/>
                  <a:pt x="258505" y="313303"/>
                </a:cubicBezTo>
                <a:lnTo>
                  <a:pt x="258505" y="240169"/>
                </a:lnTo>
                <a:lnTo>
                  <a:pt x="321846" y="203637"/>
                </a:lnTo>
                <a:close/>
                <a:moveTo>
                  <a:pt x="241905" y="66536"/>
                </a:moveTo>
                <a:lnTo>
                  <a:pt x="241905" y="137309"/>
                </a:lnTo>
                <a:lnTo>
                  <a:pt x="177800" y="174327"/>
                </a:lnTo>
                <a:lnTo>
                  <a:pt x="177800" y="100360"/>
                </a:lnTo>
                <a:lnTo>
                  <a:pt x="241141" y="63827"/>
                </a:lnTo>
                <a:cubicBezTo>
                  <a:pt x="241627" y="64661"/>
                  <a:pt x="241905" y="65633"/>
                  <a:pt x="241905" y="66606"/>
                </a:cubicBezTo>
                <a:close/>
              </a:path>
            </a:pathLst>
          </a:custGeom>
          <a:solidFill>
            <a:srgbClr val="14B8A6"/>
          </a:solidFill>
          <a:ln/>
        </p:spPr>
      </p:sp>
      <p:sp>
        <p:nvSpPr>
          <p:cNvPr id="37" name="Text 35"/>
          <p:cNvSpPr/>
          <p:nvPr/>
        </p:nvSpPr>
        <p:spPr>
          <a:xfrm>
            <a:off x="1587500" y="4762500"/>
            <a:ext cx="13589000" cy="889000"/>
          </a:xfrm>
          <a:prstGeom prst="rect">
            <a:avLst/>
          </a:prstGeom>
          <a:noFill/>
          <a:ln/>
        </p:spPr>
        <p:txBody>
          <a:bodyPr wrap="square" lIns="0" tIns="0" rIns="0" bIns="0" rtlCol="0" anchor="ctr"/>
          <a:lstStyle/>
          <a:p>
            <a:pPr algn="l">
              <a:lnSpc>
                <a:spcPct val="150000"/>
              </a:lnSpc>
            </a:pPr>
            <a:r>
              <a:rPr lang="en-US" sz="1600" b="1" dirty="0">
                <a:solidFill>
                  <a:srgbClr val="F1F5F9"/>
                </a:solidFill>
                <a:latin typeface="Quattrocento Sans" pitchFamily="34" charset="0"/>
                <a:ea typeface="Quattrocento Sans" pitchFamily="34" charset="-122"/>
                <a:cs typeface="Quattrocento Sans" pitchFamily="34" charset="-120"/>
              </a:rPr>
              <a:t>Architecture modulaire</a:t>
            </a:r>
            <a:r>
              <a:rPr lang="en-US" sz="1600" dirty="0">
                <a:solidFill>
                  <a:srgbClr val="F1F5F9"/>
                </a:solidFill>
                <a:latin typeface="Quattrocento Sans" pitchFamily="34" charset="0"/>
                <a:ea typeface="Quattrocento Sans" pitchFamily="34" charset="-122"/>
                <a:cs typeface="Quattrocento Sans" pitchFamily="34" charset="-120"/>
              </a:rPr>
              <a:t> — Chaque bloc est isolé et indépendant, garantissant la </a:t>
            </a:r>
            <a:r>
              <a:rPr lang="en-US" sz="1600" b="1" dirty="0">
                <a:solidFill>
                  <a:srgbClr val="F1F5F9"/>
                </a:solidFill>
                <a:latin typeface="Quattrocento Sans" pitchFamily="34" charset="0"/>
                <a:ea typeface="Quattrocento Sans" pitchFamily="34" charset="-122"/>
                <a:cs typeface="Quattrocento Sans" pitchFamily="34" charset="-120"/>
              </a:rPr>
              <a:t>reproductibilité</a:t>
            </a:r>
            <a:r>
              <a:rPr lang="en-US" sz="1600" dirty="0">
                <a:solidFill>
                  <a:srgbClr val="F1F5F9"/>
                </a:solidFill>
                <a:latin typeface="Quattrocento Sans" pitchFamily="34" charset="0"/>
                <a:ea typeface="Quattrocento Sans" pitchFamily="34" charset="-122"/>
                <a:cs typeface="Quattrocento Sans" pitchFamily="34" charset="-120"/>
              </a:rPr>
              <a:t> des expériences et permettant un </a:t>
            </a:r>
            <a:r>
              <a:rPr lang="en-US" sz="1600" b="1" dirty="0">
                <a:solidFill>
                  <a:srgbClr val="F1F5F9"/>
                </a:solidFill>
                <a:latin typeface="Quattrocento Sans" pitchFamily="34" charset="0"/>
                <a:ea typeface="Quattrocento Sans" pitchFamily="34" charset="-122"/>
                <a:cs typeface="Quattrocento Sans" pitchFamily="34" charset="-120"/>
              </a:rPr>
              <a:t>débogage facilité</a:t>
            </a:r>
            <a:r>
              <a:rPr lang="en-US" sz="1600" dirty="0">
                <a:solidFill>
                  <a:srgbClr val="F1F5F9"/>
                </a:solidFill>
                <a:latin typeface="Quattrocento Sans" pitchFamily="34" charset="0"/>
                <a:ea typeface="Quattrocento Sans" pitchFamily="34" charset="-122"/>
                <a:cs typeface="Quattrocento Sans" pitchFamily="34" charset="-120"/>
              </a:rPr>
              <a:t> par étape.</a:t>
            </a:r>
            <a:endParaRPr lang="en-US" sz="1600" dirty="0"/>
          </a:p>
        </p:txBody>
      </p:sp>
      <p:sp>
        <p:nvSpPr>
          <p:cNvPr id="38" name="Text 36"/>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6</a:t>
            </a:r>
            <a:endParaRPr lang="en-US" sz="13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Shape 2"/>
          <p:cNvSpPr/>
          <p:nvPr/>
        </p:nvSpPr>
        <p:spPr>
          <a:xfrm>
            <a:off x="3251200" y="0"/>
            <a:ext cx="3251200" cy="457200"/>
          </a:xfrm>
          <a:prstGeom prst="rect">
            <a:avLst/>
          </a:prstGeom>
          <a:solidFill>
            <a:srgbClr val="14B8A6"/>
          </a:solidFill>
          <a:ln/>
        </p:spPr>
      </p:sp>
      <p:sp>
        <p:nvSpPr>
          <p:cNvPr id="5" name="Text 3"/>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02 Architecture</a:t>
            </a:r>
            <a:endParaRPr lang="en-US" sz="1200" dirty="0"/>
          </a:p>
        </p:txBody>
      </p:sp>
      <p:sp>
        <p:nvSpPr>
          <p:cNvPr id="6" name="Text 4"/>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889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MODÈLE ET JEU DE DONNÉES</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587500"/>
            <a:ext cx="7112000" cy="3556000"/>
          </a:xfrm>
          <a:prstGeom prst="roundRect">
            <a:avLst>
              <a:gd name="adj" fmla="val 8000"/>
            </a:avLst>
          </a:prstGeom>
          <a:solidFill>
            <a:srgbClr val="1E3A5F"/>
          </a:solidFill>
          <a:ln w="12700">
            <a:solidFill>
              <a:srgbClr val="2D5A8E"/>
            </a:solidFill>
            <a:prstDash val="solid"/>
          </a:ln>
        </p:spPr>
      </p:sp>
      <p:sp>
        <p:nvSpPr>
          <p:cNvPr id="12" name="Shape 10"/>
          <p:cNvSpPr/>
          <p:nvPr/>
        </p:nvSpPr>
        <p:spPr>
          <a:xfrm>
            <a:off x="762000" y="1587500"/>
            <a:ext cx="63500" cy="3556000"/>
          </a:xfrm>
          <a:prstGeom prst="rect">
            <a:avLst/>
          </a:prstGeom>
          <a:solidFill>
            <a:srgbClr val="F97316"/>
          </a:solidFill>
          <a:ln/>
        </p:spPr>
      </p:sp>
      <p:sp>
        <p:nvSpPr>
          <p:cNvPr id="13" name="Shape 11"/>
          <p:cNvSpPr/>
          <p:nvPr/>
        </p:nvSpPr>
        <p:spPr>
          <a:xfrm>
            <a:off x="1079500" y="1803400"/>
            <a:ext cx="355600" cy="355600"/>
          </a:xfrm>
          <a:custGeom>
            <a:avLst/>
            <a:gdLst/>
            <a:ahLst/>
            <a:cxnLst/>
            <a:rect l="l" t="t" r="r" b="b"/>
            <a:pathLst>
              <a:path w="355600" h="355600">
                <a:moveTo>
                  <a:pt x="83344" y="38894"/>
                </a:moveTo>
                <a:cubicBezTo>
                  <a:pt x="83344" y="17433"/>
                  <a:pt x="100776" y="0"/>
                  <a:pt x="122238" y="0"/>
                </a:cubicBezTo>
                <a:lnTo>
                  <a:pt x="138906" y="0"/>
                </a:lnTo>
                <a:cubicBezTo>
                  <a:pt x="151199" y="0"/>
                  <a:pt x="161131" y="9932"/>
                  <a:pt x="161131" y="22225"/>
                </a:cubicBezTo>
                <a:lnTo>
                  <a:pt x="161131" y="333375"/>
                </a:lnTo>
                <a:cubicBezTo>
                  <a:pt x="161131" y="345668"/>
                  <a:pt x="151199" y="355600"/>
                  <a:pt x="138906" y="355600"/>
                </a:cubicBezTo>
                <a:lnTo>
                  <a:pt x="116681" y="355600"/>
                </a:lnTo>
                <a:cubicBezTo>
                  <a:pt x="95984" y="355600"/>
                  <a:pt x="78551" y="341432"/>
                  <a:pt x="73620" y="322263"/>
                </a:cubicBezTo>
                <a:cubicBezTo>
                  <a:pt x="73134" y="322263"/>
                  <a:pt x="72717" y="322263"/>
                  <a:pt x="72231" y="322263"/>
                </a:cubicBezTo>
                <a:cubicBezTo>
                  <a:pt x="41533" y="322263"/>
                  <a:pt x="16669" y="297398"/>
                  <a:pt x="16669" y="266700"/>
                </a:cubicBezTo>
                <a:cubicBezTo>
                  <a:pt x="16669" y="254198"/>
                  <a:pt x="20836" y="242669"/>
                  <a:pt x="27781" y="233363"/>
                </a:cubicBezTo>
                <a:cubicBezTo>
                  <a:pt x="14307" y="223222"/>
                  <a:pt x="5556" y="207109"/>
                  <a:pt x="5556" y="188913"/>
                </a:cubicBezTo>
                <a:cubicBezTo>
                  <a:pt x="5556" y="167451"/>
                  <a:pt x="17780" y="148769"/>
                  <a:pt x="35560" y="139531"/>
                </a:cubicBezTo>
                <a:cubicBezTo>
                  <a:pt x="30629" y="131197"/>
                  <a:pt x="27781" y="121474"/>
                  <a:pt x="27781" y="111125"/>
                </a:cubicBezTo>
                <a:cubicBezTo>
                  <a:pt x="27781" y="80427"/>
                  <a:pt x="52645" y="55563"/>
                  <a:pt x="83344" y="55563"/>
                </a:cubicBezTo>
                <a:lnTo>
                  <a:pt x="83344" y="38894"/>
                </a:lnTo>
                <a:close/>
                <a:moveTo>
                  <a:pt x="272256" y="38894"/>
                </a:moveTo>
                <a:lnTo>
                  <a:pt x="272256" y="55563"/>
                </a:lnTo>
                <a:cubicBezTo>
                  <a:pt x="302955" y="55563"/>
                  <a:pt x="327819" y="80427"/>
                  <a:pt x="327819" y="111125"/>
                </a:cubicBezTo>
                <a:cubicBezTo>
                  <a:pt x="327819" y="121543"/>
                  <a:pt x="324971" y="131266"/>
                  <a:pt x="320040" y="139531"/>
                </a:cubicBezTo>
                <a:cubicBezTo>
                  <a:pt x="337889" y="148769"/>
                  <a:pt x="350044" y="167382"/>
                  <a:pt x="350044" y="188913"/>
                </a:cubicBezTo>
                <a:cubicBezTo>
                  <a:pt x="350044" y="207109"/>
                  <a:pt x="341293" y="223222"/>
                  <a:pt x="327819" y="233363"/>
                </a:cubicBezTo>
                <a:cubicBezTo>
                  <a:pt x="334764" y="242669"/>
                  <a:pt x="338931" y="254198"/>
                  <a:pt x="338931" y="266700"/>
                </a:cubicBezTo>
                <a:cubicBezTo>
                  <a:pt x="338931" y="297398"/>
                  <a:pt x="314067" y="322263"/>
                  <a:pt x="283369" y="322263"/>
                </a:cubicBezTo>
                <a:cubicBezTo>
                  <a:pt x="282883" y="322263"/>
                  <a:pt x="282466" y="322263"/>
                  <a:pt x="281980" y="322263"/>
                </a:cubicBezTo>
                <a:cubicBezTo>
                  <a:pt x="277049" y="341432"/>
                  <a:pt x="259616" y="355600"/>
                  <a:pt x="238919" y="355600"/>
                </a:cubicBezTo>
                <a:lnTo>
                  <a:pt x="216694" y="355600"/>
                </a:lnTo>
                <a:cubicBezTo>
                  <a:pt x="204401" y="355600"/>
                  <a:pt x="194469" y="345668"/>
                  <a:pt x="194469" y="333375"/>
                </a:cubicBezTo>
                <a:lnTo>
                  <a:pt x="194469" y="22225"/>
                </a:lnTo>
                <a:cubicBezTo>
                  <a:pt x="194469" y="9932"/>
                  <a:pt x="204401" y="0"/>
                  <a:pt x="216694" y="0"/>
                </a:cubicBezTo>
                <a:lnTo>
                  <a:pt x="233363" y="0"/>
                </a:lnTo>
                <a:cubicBezTo>
                  <a:pt x="254824" y="0"/>
                  <a:pt x="272256" y="17433"/>
                  <a:pt x="272256" y="38894"/>
                </a:cubicBezTo>
                <a:close/>
              </a:path>
            </a:pathLst>
          </a:custGeom>
          <a:solidFill>
            <a:srgbClr val="F97316"/>
          </a:solidFill>
          <a:ln/>
        </p:spPr>
      </p:sp>
      <p:sp>
        <p:nvSpPr>
          <p:cNvPr id="14" name="Text 12"/>
          <p:cNvSpPr/>
          <p:nvPr/>
        </p:nvSpPr>
        <p:spPr>
          <a:xfrm>
            <a:off x="1587500" y="1778000"/>
            <a:ext cx="3810000" cy="406400"/>
          </a:xfrm>
          <a:prstGeom prst="rect">
            <a:avLst/>
          </a:prstGeom>
          <a:noFill/>
          <a:ln/>
        </p:spPr>
        <p:txBody>
          <a:bodyPr wrap="none" lIns="0" tIns="0" rIns="0" bIns="0" rtlCol="0" anchor="ctr"/>
          <a:lstStyle/>
          <a:p>
            <a:pPr algn="l">
              <a:lnSpc>
                <a:spcPct val="130000"/>
              </a:lnSpc>
            </a:pPr>
            <a:r>
              <a:rPr lang="en-US" sz="2000" b="1" dirty="0">
                <a:solidFill>
                  <a:srgbClr val="F97316"/>
                </a:solidFill>
                <a:latin typeface="Liter" pitchFamily="34" charset="0"/>
                <a:ea typeface="Liter" pitchFamily="34" charset="-122"/>
                <a:cs typeface="Liter" pitchFamily="34" charset="-120"/>
              </a:rPr>
              <a:t>Modèle</a:t>
            </a:r>
            <a:endParaRPr lang="en-US" sz="2000" dirty="0"/>
          </a:p>
        </p:txBody>
      </p:sp>
      <p:sp>
        <p:nvSpPr>
          <p:cNvPr id="15" name="Text 13"/>
          <p:cNvSpPr/>
          <p:nvPr/>
        </p:nvSpPr>
        <p:spPr>
          <a:xfrm>
            <a:off x="1079500" y="2286000"/>
            <a:ext cx="6477000" cy="355600"/>
          </a:xfrm>
          <a:prstGeom prst="rect">
            <a:avLst/>
          </a:prstGeom>
          <a:noFill/>
          <a:ln/>
        </p:spPr>
        <p:txBody>
          <a:bodyPr wrap="none" lIns="0" tIns="0" rIns="0" bIns="0" rtlCol="0" anchor="ctr"/>
          <a:lstStyle/>
          <a:p>
            <a:pPr algn="l">
              <a:lnSpc>
                <a:spcPct val="120000"/>
              </a:lnSpc>
            </a:pPr>
            <a:r>
              <a:rPr lang="en-US" sz="1600" b="1" dirty="0">
                <a:solidFill>
                  <a:srgbClr val="F1F5F9"/>
                </a:solidFill>
                <a:latin typeface="Quattrocento Sans" pitchFamily="34" charset="0"/>
                <a:ea typeface="Quattrocento Sans" pitchFamily="34" charset="-122"/>
                <a:cs typeface="Quattrocento Sans" pitchFamily="34" charset="-120"/>
              </a:rPr>
              <a:t>microsoft/MiniLM-L12-H384-uncased</a:t>
            </a:r>
            <a:endParaRPr lang="en-US" sz="1600" dirty="0"/>
          </a:p>
        </p:txBody>
      </p:sp>
      <p:sp>
        <p:nvSpPr>
          <p:cNvPr id="16" name="Text 14"/>
          <p:cNvSpPr/>
          <p:nvPr/>
        </p:nvSpPr>
        <p:spPr>
          <a:xfrm>
            <a:off x="1079500" y="2730500"/>
            <a:ext cx="6477000" cy="2222500"/>
          </a:xfrm>
          <a:prstGeom prst="rect">
            <a:avLst/>
          </a:prstGeom>
          <a:noFill/>
          <a:ln/>
        </p:spPr>
        <p:txBody>
          <a:bodyPr wrap="square" lIns="0" tIns="0" rIns="0" bIns="0" rtlCol="0" anchor="t"/>
          <a:lstStyle/>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a:t>
            </a:r>
            <a:r>
              <a:rPr lang="en-US" sz="1500" b="1" dirty="0">
                <a:solidFill>
                  <a:srgbClr val="F1F5F9"/>
                </a:solidFill>
                <a:latin typeface="Quattrocento Sans" pitchFamily="34" charset="0"/>
                <a:ea typeface="Quattrocento Sans" pitchFamily="34" charset="-122"/>
                <a:cs typeface="Quattrocento Sans" pitchFamily="34" charset="-120"/>
              </a:rPr>
              <a:t>~33M</a:t>
            </a:r>
            <a:r>
              <a:rPr lang="en-US" sz="1500" dirty="0">
                <a:solidFill>
                  <a:srgbClr val="F1F5F9"/>
                </a:solidFill>
                <a:latin typeface="Quattrocento Sans" pitchFamily="34" charset="0"/>
                <a:ea typeface="Quattrocento Sans" pitchFamily="34" charset="-122"/>
                <a:cs typeface="Quattrocento Sans" pitchFamily="34" charset="-120"/>
              </a:rPr>
              <a:t> paramètres</a:t>
            </a:r>
            <a:endParaRPr lang="en-US" sz="1500" dirty="0"/>
          </a:p>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a:t>
            </a:r>
            <a:r>
              <a:rPr lang="en-US" sz="1500" b="1" dirty="0">
                <a:solidFill>
                  <a:srgbClr val="F1F5F9"/>
                </a:solidFill>
                <a:latin typeface="Quattrocento Sans" pitchFamily="34" charset="0"/>
                <a:ea typeface="Quattrocento Sans" pitchFamily="34" charset="-122"/>
                <a:cs typeface="Quattrocento Sans" pitchFamily="34" charset="-120"/>
              </a:rPr>
              <a:t>12</a:t>
            </a:r>
            <a:r>
              <a:rPr lang="en-US" sz="1500" dirty="0">
                <a:solidFill>
                  <a:srgbClr val="F1F5F9"/>
                </a:solidFill>
                <a:latin typeface="Quattrocento Sans" pitchFamily="34" charset="0"/>
                <a:ea typeface="Quattrocento Sans" pitchFamily="34" charset="-122"/>
                <a:cs typeface="Quattrocento Sans" pitchFamily="34" charset="-120"/>
              </a:rPr>
              <a:t> couches, </a:t>
            </a:r>
            <a:r>
              <a:rPr lang="en-US" sz="1500" b="1" dirty="0">
                <a:solidFill>
                  <a:srgbClr val="F1F5F9"/>
                </a:solidFill>
                <a:latin typeface="Quattrocento Sans" pitchFamily="34" charset="0"/>
                <a:ea typeface="Quattrocento Sans" pitchFamily="34" charset="-122"/>
                <a:cs typeface="Quattrocento Sans" pitchFamily="34" charset="-120"/>
              </a:rPr>
              <a:t>384</a:t>
            </a:r>
            <a:r>
              <a:rPr lang="en-US" sz="1500" dirty="0">
                <a:solidFill>
                  <a:srgbClr val="F1F5F9"/>
                </a:solidFill>
                <a:latin typeface="Quattrocento Sans" pitchFamily="34" charset="0"/>
                <a:ea typeface="Quattrocento Sans" pitchFamily="34" charset="-122"/>
                <a:cs typeface="Quattrocento Sans" pitchFamily="34" charset="-120"/>
              </a:rPr>
              <a:t> dim. cachée</a:t>
            </a:r>
            <a:endParaRPr lang="en-US" sz="1500" dirty="0"/>
          </a:p>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Transformeur compact distillé de BERT-base</a:t>
            </a:r>
            <a:endParaRPr lang="en-US" sz="1500" dirty="0"/>
          </a:p>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Candidat idéal pour le déploiement embarqué</a:t>
            </a:r>
            <a:endParaRPr lang="en-US" sz="1500" dirty="0"/>
          </a:p>
        </p:txBody>
      </p:sp>
      <p:sp>
        <p:nvSpPr>
          <p:cNvPr id="17" name="Shape 15"/>
          <p:cNvSpPr/>
          <p:nvPr/>
        </p:nvSpPr>
        <p:spPr>
          <a:xfrm>
            <a:off x="8128000" y="1587500"/>
            <a:ext cx="7366000" cy="3556000"/>
          </a:xfrm>
          <a:prstGeom prst="roundRect">
            <a:avLst>
              <a:gd name="adj" fmla="val 8000"/>
            </a:avLst>
          </a:prstGeom>
          <a:solidFill>
            <a:srgbClr val="1E3A5F"/>
          </a:solidFill>
          <a:ln w="12700">
            <a:solidFill>
              <a:srgbClr val="2D5A8E"/>
            </a:solidFill>
            <a:prstDash val="solid"/>
          </a:ln>
        </p:spPr>
      </p:sp>
      <p:sp>
        <p:nvSpPr>
          <p:cNvPr id="18" name="Shape 16"/>
          <p:cNvSpPr/>
          <p:nvPr/>
        </p:nvSpPr>
        <p:spPr>
          <a:xfrm>
            <a:off x="8128000" y="1587500"/>
            <a:ext cx="63500" cy="3556000"/>
          </a:xfrm>
          <a:prstGeom prst="rect">
            <a:avLst/>
          </a:prstGeom>
          <a:solidFill>
            <a:srgbClr val="14B8A6"/>
          </a:solidFill>
          <a:ln/>
        </p:spPr>
      </p:sp>
      <p:sp>
        <p:nvSpPr>
          <p:cNvPr id="19" name="Shape 17"/>
          <p:cNvSpPr/>
          <p:nvPr/>
        </p:nvSpPr>
        <p:spPr>
          <a:xfrm>
            <a:off x="8445500" y="1803400"/>
            <a:ext cx="355600" cy="355600"/>
          </a:xfrm>
          <a:custGeom>
            <a:avLst/>
            <a:gdLst/>
            <a:ahLst/>
            <a:cxnLst/>
            <a:rect l="l" t="t" r="r" b="b"/>
            <a:pathLst>
              <a:path w="355600" h="355600">
                <a:moveTo>
                  <a:pt x="355600" y="142935"/>
                </a:moveTo>
                <a:cubicBezTo>
                  <a:pt x="343853" y="149741"/>
                  <a:pt x="330359" y="155228"/>
                  <a:pt x="316309" y="159603"/>
                </a:cubicBezTo>
                <a:cubicBezTo>
                  <a:pt x="279003" y="171271"/>
                  <a:pt x="230029" y="177800"/>
                  <a:pt x="177800" y="177800"/>
                </a:cubicBezTo>
                <a:cubicBezTo>
                  <a:pt x="125571" y="177800"/>
                  <a:pt x="76518" y="171202"/>
                  <a:pt x="39291" y="159603"/>
                </a:cubicBezTo>
                <a:cubicBezTo>
                  <a:pt x="25321" y="155228"/>
                  <a:pt x="11747" y="149741"/>
                  <a:pt x="0" y="142935"/>
                </a:cubicBezTo>
                <a:lnTo>
                  <a:pt x="0" y="200025"/>
                </a:lnTo>
                <a:cubicBezTo>
                  <a:pt x="0" y="230723"/>
                  <a:pt x="79613" y="255587"/>
                  <a:pt x="177800" y="255587"/>
                </a:cubicBezTo>
                <a:cubicBezTo>
                  <a:pt x="275987" y="255587"/>
                  <a:pt x="355600" y="230723"/>
                  <a:pt x="355600" y="200025"/>
                </a:cubicBezTo>
                <a:lnTo>
                  <a:pt x="355600" y="142935"/>
                </a:lnTo>
                <a:close/>
                <a:moveTo>
                  <a:pt x="355600" y="88900"/>
                </a:moveTo>
                <a:lnTo>
                  <a:pt x="355600" y="55563"/>
                </a:lnTo>
                <a:cubicBezTo>
                  <a:pt x="355600" y="24864"/>
                  <a:pt x="275987" y="0"/>
                  <a:pt x="177800" y="0"/>
                </a:cubicBezTo>
                <a:cubicBezTo>
                  <a:pt x="79613" y="0"/>
                  <a:pt x="0" y="24864"/>
                  <a:pt x="0" y="55563"/>
                </a:cubicBezTo>
                <a:lnTo>
                  <a:pt x="0" y="88900"/>
                </a:lnTo>
                <a:cubicBezTo>
                  <a:pt x="0" y="119598"/>
                  <a:pt x="79613" y="144463"/>
                  <a:pt x="177800" y="144463"/>
                </a:cubicBezTo>
                <a:cubicBezTo>
                  <a:pt x="275987" y="144463"/>
                  <a:pt x="355600" y="119598"/>
                  <a:pt x="355600" y="88900"/>
                </a:cubicBezTo>
                <a:close/>
                <a:moveTo>
                  <a:pt x="316309" y="270728"/>
                </a:moveTo>
                <a:cubicBezTo>
                  <a:pt x="279083" y="282327"/>
                  <a:pt x="230108" y="288925"/>
                  <a:pt x="177800" y="288925"/>
                </a:cubicBezTo>
                <a:cubicBezTo>
                  <a:pt x="125492" y="288925"/>
                  <a:pt x="76518" y="282327"/>
                  <a:pt x="39291" y="270728"/>
                </a:cubicBezTo>
                <a:cubicBezTo>
                  <a:pt x="25321" y="266353"/>
                  <a:pt x="11747" y="260866"/>
                  <a:pt x="0" y="254060"/>
                </a:cubicBezTo>
                <a:lnTo>
                  <a:pt x="0" y="300038"/>
                </a:lnTo>
                <a:cubicBezTo>
                  <a:pt x="0" y="330736"/>
                  <a:pt x="79613" y="355600"/>
                  <a:pt x="177800" y="355600"/>
                </a:cubicBezTo>
                <a:cubicBezTo>
                  <a:pt x="275987" y="355600"/>
                  <a:pt x="355600" y="330736"/>
                  <a:pt x="355600" y="300038"/>
                </a:cubicBezTo>
                <a:lnTo>
                  <a:pt x="355600" y="254060"/>
                </a:lnTo>
                <a:cubicBezTo>
                  <a:pt x="343853" y="260866"/>
                  <a:pt x="330359" y="266353"/>
                  <a:pt x="316309" y="270728"/>
                </a:cubicBezTo>
                <a:close/>
              </a:path>
            </a:pathLst>
          </a:custGeom>
          <a:solidFill>
            <a:srgbClr val="14B8A6"/>
          </a:solidFill>
          <a:ln/>
        </p:spPr>
      </p:sp>
      <p:sp>
        <p:nvSpPr>
          <p:cNvPr id="20" name="Text 18"/>
          <p:cNvSpPr/>
          <p:nvPr/>
        </p:nvSpPr>
        <p:spPr>
          <a:xfrm>
            <a:off x="8953500" y="1778000"/>
            <a:ext cx="3810000" cy="406400"/>
          </a:xfrm>
          <a:prstGeom prst="rect">
            <a:avLst/>
          </a:prstGeom>
          <a:noFill/>
          <a:ln/>
        </p:spPr>
        <p:txBody>
          <a:bodyPr wrap="none" lIns="0" tIns="0" rIns="0" bIns="0" rtlCol="0" anchor="ctr"/>
          <a:lstStyle/>
          <a:p>
            <a:pPr algn="l">
              <a:lnSpc>
                <a:spcPct val="130000"/>
              </a:lnSpc>
            </a:pPr>
            <a:r>
              <a:rPr lang="en-US" sz="2000" b="1" dirty="0">
                <a:solidFill>
                  <a:srgbClr val="14B8A6"/>
                </a:solidFill>
                <a:latin typeface="Liter" pitchFamily="34" charset="0"/>
                <a:ea typeface="Liter" pitchFamily="34" charset="-122"/>
                <a:cs typeface="Liter" pitchFamily="34" charset="-120"/>
              </a:rPr>
              <a:t>Jeu de données</a:t>
            </a:r>
            <a:endParaRPr lang="en-US" sz="2000" dirty="0"/>
          </a:p>
        </p:txBody>
      </p:sp>
      <p:sp>
        <p:nvSpPr>
          <p:cNvPr id="21" name="Text 19"/>
          <p:cNvSpPr/>
          <p:nvPr/>
        </p:nvSpPr>
        <p:spPr>
          <a:xfrm>
            <a:off x="8445500" y="2286000"/>
            <a:ext cx="6731000" cy="355600"/>
          </a:xfrm>
          <a:prstGeom prst="rect">
            <a:avLst/>
          </a:prstGeom>
          <a:noFill/>
          <a:ln/>
        </p:spPr>
        <p:txBody>
          <a:bodyPr wrap="none" lIns="0" tIns="0" rIns="0" bIns="0" rtlCol="0" anchor="ctr"/>
          <a:lstStyle/>
          <a:p>
            <a:pPr algn="l">
              <a:lnSpc>
                <a:spcPct val="120000"/>
              </a:lnSpc>
            </a:pPr>
            <a:r>
              <a:rPr lang="en-US" sz="1600" b="1" dirty="0">
                <a:solidFill>
                  <a:srgbClr val="F1F5F9"/>
                </a:solidFill>
                <a:latin typeface="Quattrocento Sans" pitchFamily="34" charset="0"/>
                <a:ea typeface="Quattrocento Sans" pitchFamily="34" charset="-122"/>
                <a:cs typeface="Quattrocento Sans" pitchFamily="34" charset="-120"/>
              </a:rPr>
              <a:t>AG News — Classification de textes</a:t>
            </a:r>
            <a:endParaRPr lang="en-US" sz="1600" dirty="0"/>
          </a:p>
        </p:txBody>
      </p:sp>
      <p:sp>
        <p:nvSpPr>
          <p:cNvPr id="22" name="Text 20"/>
          <p:cNvSpPr/>
          <p:nvPr/>
        </p:nvSpPr>
        <p:spPr>
          <a:xfrm>
            <a:off x="8445500" y="2730500"/>
            <a:ext cx="6731000" cy="2222500"/>
          </a:xfrm>
          <a:prstGeom prst="rect">
            <a:avLst/>
          </a:prstGeom>
          <a:noFill/>
          <a:ln/>
        </p:spPr>
        <p:txBody>
          <a:bodyPr wrap="square" lIns="0" tIns="0" rIns="0" bIns="0" rtlCol="0" anchor="t"/>
          <a:lstStyle/>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a:t>
            </a:r>
            <a:r>
              <a:rPr lang="en-US" sz="1500" b="1" dirty="0">
                <a:solidFill>
                  <a:srgbClr val="F1F5F9"/>
                </a:solidFill>
                <a:latin typeface="Quattrocento Sans" pitchFamily="34" charset="0"/>
                <a:ea typeface="Quattrocento Sans" pitchFamily="34" charset="-122"/>
                <a:cs typeface="Quattrocento Sans" pitchFamily="34" charset="-120"/>
              </a:rPr>
              <a:t>4 classes</a:t>
            </a:r>
            <a:r>
              <a:rPr lang="en-US" sz="1500" dirty="0">
                <a:solidFill>
                  <a:srgbClr val="F1F5F9"/>
                </a:solidFill>
                <a:latin typeface="Quattrocento Sans" pitchFamily="34" charset="0"/>
                <a:ea typeface="Quattrocento Sans" pitchFamily="34" charset="-122"/>
                <a:cs typeface="Quattrocento Sans" pitchFamily="34" charset="-120"/>
              </a:rPr>
              <a:t> : World, Sports, Business, Sci/Tech</a:t>
            </a:r>
            <a:endParaRPr lang="en-US" sz="1500" dirty="0"/>
          </a:p>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Sous-échantillonnage : </a:t>
            </a:r>
            <a:r>
              <a:rPr lang="en-US" sz="1500" b="1" dirty="0">
                <a:solidFill>
                  <a:srgbClr val="F1F5F9"/>
                </a:solidFill>
                <a:latin typeface="Quattrocento Sans" pitchFamily="34" charset="0"/>
                <a:ea typeface="Quattrocento Sans" pitchFamily="34" charset="-122"/>
                <a:cs typeface="Quattrocento Sans" pitchFamily="34" charset="-120"/>
              </a:rPr>
              <a:t>10k</a:t>
            </a:r>
            <a:r>
              <a:rPr lang="en-US" sz="1500" dirty="0">
                <a:solidFill>
                  <a:srgbClr val="F1F5F9"/>
                </a:solidFill>
                <a:latin typeface="Quattrocento Sans" pitchFamily="34" charset="0"/>
                <a:ea typeface="Quattrocento Sans" pitchFamily="34" charset="-122"/>
                <a:cs typeface="Quattrocento Sans" pitchFamily="34" charset="-120"/>
              </a:rPr>
              <a:t> train / </a:t>
            </a:r>
            <a:r>
              <a:rPr lang="en-US" sz="1500" b="1" dirty="0">
                <a:solidFill>
                  <a:srgbClr val="F1F5F9"/>
                </a:solidFill>
                <a:latin typeface="Quattrocento Sans" pitchFamily="34" charset="0"/>
                <a:ea typeface="Quattrocento Sans" pitchFamily="34" charset="-122"/>
                <a:cs typeface="Quattrocento Sans" pitchFamily="34" charset="-120"/>
              </a:rPr>
              <a:t>2k</a:t>
            </a:r>
            <a:r>
              <a:rPr lang="en-US" sz="1500" dirty="0">
                <a:solidFill>
                  <a:srgbClr val="F1F5F9"/>
                </a:solidFill>
                <a:latin typeface="Quattrocento Sans" pitchFamily="34" charset="0"/>
                <a:ea typeface="Quattrocento Sans" pitchFamily="34" charset="-122"/>
                <a:cs typeface="Quattrocento Sans" pitchFamily="34" charset="-120"/>
              </a:rPr>
              <a:t> test</a:t>
            </a:r>
            <a:endParaRPr lang="en-US" sz="1500" dirty="0"/>
          </a:p>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Graine fixée : seed=</a:t>
            </a:r>
            <a:r>
              <a:rPr lang="en-US" sz="1500" b="1" dirty="0">
                <a:solidFill>
                  <a:srgbClr val="F1F5F9"/>
                </a:solidFill>
                <a:latin typeface="Quattrocento Sans" pitchFamily="34" charset="0"/>
                <a:ea typeface="Quattrocento Sans" pitchFamily="34" charset="-122"/>
                <a:cs typeface="Quattrocento Sans" pitchFamily="34" charset="-120"/>
              </a:rPr>
              <a:t>42</a:t>
            </a:r>
            <a:endParaRPr lang="en-US" sz="1500" dirty="0"/>
          </a:p>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 Tokenisation : </a:t>
            </a:r>
            <a:r>
              <a:rPr lang="en-US" sz="1500" b="1" dirty="0">
                <a:solidFill>
                  <a:srgbClr val="F1F5F9"/>
                </a:solidFill>
                <a:latin typeface="Quattrocento Sans" pitchFamily="34" charset="0"/>
                <a:ea typeface="Quattrocento Sans" pitchFamily="34" charset="-122"/>
                <a:cs typeface="Quattrocento Sans" pitchFamily="34" charset="-120"/>
              </a:rPr>
              <a:t>128</a:t>
            </a:r>
            <a:r>
              <a:rPr lang="en-US" sz="1500" dirty="0">
                <a:solidFill>
                  <a:srgbClr val="F1F5F9"/>
                </a:solidFill>
                <a:latin typeface="Quattrocento Sans" pitchFamily="34" charset="0"/>
                <a:ea typeface="Quattrocento Sans" pitchFamily="34" charset="-122"/>
                <a:cs typeface="Quattrocento Sans" pitchFamily="34" charset="-120"/>
              </a:rPr>
              <a:t> tokens max</a:t>
            </a:r>
            <a:endParaRPr lang="en-US" sz="1500" dirty="0"/>
          </a:p>
        </p:txBody>
      </p:sp>
      <p:sp>
        <p:nvSpPr>
          <p:cNvPr id="23" name="Shape 21"/>
          <p:cNvSpPr/>
          <p:nvPr/>
        </p:nvSpPr>
        <p:spPr>
          <a:xfrm>
            <a:off x="762000" y="5397500"/>
            <a:ext cx="14732000" cy="1270000"/>
          </a:xfrm>
          <a:prstGeom prst="roundRect">
            <a:avLst>
              <a:gd name="adj" fmla="val 6000"/>
            </a:avLst>
          </a:prstGeom>
          <a:solidFill>
            <a:srgbClr val="152D4D"/>
          </a:solidFill>
          <a:ln w="12700">
            <a:solidFill>
              <a:srgbClr val="2D5A8E"/>
            </a:solidFill>
            <a:prstDash val="solid"/>
          </a:ln>
        </p:spPr>
      </p:sp>
      <p:sp>
        <p:nvSpPr>
          <p:cNvPr id="24" name="Shape 22"/>
          <p:cNvSpPr/>
          <p:nvPr/>
        </p:nvSpPr>
        <p:spPr>
          <a:xfrm>
            <a:off x="1079500" y="5715000"/>
            <a:ext cx="304800" cy="304800"/>
          </a:xfrm>
          <a:custGeom>
            <a:avLst/>
            <a:gdLst/>
            <a:ahLst/>
            <a:cxnLst/>
            <a:rect l="l" t="t" r="r" b="b"/>
            <a:pathLst>
              <a:path w="304800" h="304800">
                <a:moveTo>
                  <a:pt x="190923" y="714"/>
                </a:moveTo>
                <a:cubicBezTo>
                  <a:pt x="181928" y="-2203"/>
                  <a:pt x="172561" y="3691"/>
                  <a:pt x="169968" y="13811"/>
                </a:cubicBezTo>
                <a:lnTo>
                  <a:pt x="102235" y="280511"/>
                </a:lnTo>
                <a:cubicBezTo>
                  <a:pt x="99642" y="290632"/>
                  <a:pt x="104881" y="301169"/>
                  <a:pt x="113877" y="304086"/>
                </a:cubicBezTo>
                <a:cubicBezTo>
                  <a:pt x="122872" y="307003"/>
                  <a:pt x="132239" y="301109"/>
                  <a:pt x="134832" y="290989"/>
                </a:cubicBezTo>
                <a:lnTo>
                  <a:pt x="202565" y="24289"/>
                </a:lnTo>
                <a:cubicBezTo>
                  <a:pt x="205158" y="14168"/>
                  <a:pt x="199919" y="3631"/>
                  <a:pt x="190923" y="714"/>
                </a:cubicBezTo>
                <a:close/>
                <a:moveTo>
                  <a:pt x="225108" y="81736"/>
                </a:moveTo>
                <a:cubicBezTo>
                  <a:pt x="218493" y="89178"/>
                  <a:pt x="218493" y="101263"/>
                  <a:pt x="225108" y="108704"/>
                </a:cubicBezTo>
                <a:lnTo>
                  <a:pt x="263948" y="152400"/>
                </a:lnTo>
                <a:lnTo>
                  <a:pt x="225108" y="196096"/>
                </a:lnTo>
                <a:cubicBezTo>
                  <a:pt x="218493" y="203537"/>
                  <a:pt x="218493" y="215622"/>
                  <a:pt x="225108" y="223064"/>
                </a:cubicBezTo>
                <a:cubicBezTo>
                  <a:pt x="231722" y="230505"/>
                  <a:pt x="242464" y="230505"/>
                  <a:pt x="249079" y="223064"/>
                </a:cubicBezTo>
                <a:lnTo>
                  <a:pt x="299879" y="165914"/>
                </a:lnTo>
                <a:cubicBezTo>
                  <a:pt x="306493" y="158472"/>
                  <a:pt x="306493" y="146387"/>
                  <a:pt x="299879" y="138946"/>
                </a:cubicBezTo>
                <a:lnTo>
                  <a:pt x="249079" y="81796"/>
                </a:lnTo>
                <a:cubicBezTo>
                  <a:pt x="242464" y="74355"/>
                  <a:pt x="231722" y="74355"/>
                  <a:pt x="225108" y="81796"/>
                </a:cubicBezTo>
                <a:close/>
                <a:moveTo>
                  <a:pt x="79745" y="81736"/>
                </a:moveTo>
                <a:cubicBezTo>
                  <a:pt x="73131" y="74295"/>
                  <a:pt x="62389" y="74295"/>
                  <a:pt x="55774" y="81736"/>
                </a:cubicBezTo>
                <a:lnTo>
                  <a:pt x="4974" y="138886"/>
                </a:lnTo>
                <a:cubicBezTo>
                  <a:pt x="-1640" y="146328"/>
                  <a:pt x="-1640" y="158413"/>
                  <a:pt x="4974" y="165854"/>
                </a:cubicBezTo>
                <a:lnTo>
                  <a:pt x="55774" y="223004"/>
                </a:lnTo>
                <a:cubicBezTo>
                  <a:pt x="62389" y="230445"/>
                  <a:pt x="73131" y="230445"/>
                  <a:pt x="79745" y="223004"/>
                </a:cubicBezTo>
                <a:cubicBezTo>
                  <a:pt x="86360" y="215563"/>
                  <a:pt x="86360" y="203478"/>
                  <a:pt x="79745" y="196036"/>
                </a:cubicBezTo>
                <a:lnTo>
                  <a:pt x="40905" y="152400"/>
                </a:lnTo>
                <a:lnTo>
                  <a:pt x="79693" y="108704"/>
                </a:lnTo>
                <a:cubicBezTo>
                  <a:pt x="86307" y="101263"/>
                  <a:pt x="86307" y="89178"/>
                  <a:pt x="79693" y="81736"/>
                </a:cubicBezTo>
                <a:close/>
              </a:path>
            </a:pathLst>
          </a:custGeom>
          <a:solidFill>
            <a:srgbClr val="14B8A6"/>
          </a:solidFill>
          <a:ln/>
        </p:spPr>
      </p:sp>
      <p:sp>
        <p:nvSpPr>
          <p:cNvPr id="25" name="Text 23"/>
          <p:cNvSpPr/>
          <p:nvPr/>
        </p:nvSpPr>
        <p:spPr>
          <a:xfrm>
            <a:off x="1524000" y="5651500"/>
            <a:ext cx="5080000" cy="406400"/>
          </a:xfrm>
          <a:prstGeom prst="rect">
            <a:avLst/>
          </a:prstGeom>
          <a:noFill/>
          <a:ln/>
        </p:spPr>
        <p:txBody>
          <a:bodyPr wrap="none" lIns="0" tIns="0" rIns="0" bIns="0" rtlCol="0" anchor="ctr"/>
          <a:lstStyle/>
          <a:p>
            <a:pPr algn="l">
              <a:lnSpc>
                <a:spcPct val="130000"/>
              </a:lnSpc>
            </a:pPr>
            <a:r>
              <a:rPr lang="en-US" sz="1600" b="1" dirty="0">
                <a:solidFill>
                  <a:srgbClr val="14B8A6"/>
                </a:solidFill>
                <a:latin typeface="Liter" pitchFamily="34" charset="0"/>
                <a:ea typeface="Liter" pitchFamily="34" charset="-122"/>
                <a:cs typeface="Liter" pitchFamily="34" charset="-120"/>
              </a:rPr>
              <a:t>Prétraitement et tokenisation</a:t>
            </a:r>
            <a:endParaRPr lang="en-US" sz="1600" dirty="0"/>
          </a:p>
        </p:txBody>
      </p:sp>
      <p:sp>
        <p:nvSpPr>
          <p:cNvPr id="26" name="Text 24"/>
          <p:cNvSpPr/>
          <p:nvPr/>
        </p:nvSpPr>
        <p:spPr>
          <a:xfrm>
            <a:off x="1079500" y="6096000"/>
            <a:ext cx="14097000" cy="406400"/>
          </a:xfrm>
          <a:prstGeom prst="rect">
            <a:avLst/>
          </a:prstGeom>
          <a:noFill/>
          <a:ln/>
        </p:spPr>
        <p:txBody>
          <a:bodyPr wrap="square" lIns="0" tIns="0" rIns="0" bIns="0" rtlCol="0" anchor="ctr"/>
          <a:lstStyle/>
          <a:p>
            <a:pPr algn="l">
              <a:lnSpc>
                <a:spcPct val="140000"/>
              </a:lnSpc>
            </a:pPr>
            <a:r>
              <a:rPr lang="en-US" sz="1500" dirty="0">
                <a:solidFill>
                  <a:srgbClr val="F1F5F9"/>
                </a:solidFill>
                <a:latin typeface="Quattrocento Sans" pitchFamily="34" charset="0"/>
                <a:ea typeface="Quattrocento Sans" pitchFamily="34" charset="-122"/>
                <a:cs typeface="Quattrocento Sans" pitchFamily="34" charset="-120"/>
              </a:rPr>
              <a:t>AutoTokenizer associé au modèle MiniLM — troncature/padding à 128 tokens — conversion au format tenseur PyTorch</a:t>
            </a:r>
            <a:endParaRPr lang="en-US" sz="1500" dirty="0"/>
          </a:p>
        </p:txBody>
      </p:sp>
      <p:sp>
        <p:nvSpPr>
          <p:cNvPr id="27" name="Text 25"/>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7</a:t>
            </a:r>
            <a:endParaRPr lang="en-US" sz="13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gradFill flip="none" rotWithShape="1">
          <a:gsLst>
            <a:gs pos="0">
              <a:srgbClr val="0B1D3A"/>
            </a:gs>
            <a:gs pos="100000">
              <a:srgbClr val="0F2847"/>
            </a:gs>
          </a:gsLst>
          <a:lin ang="8100000" scaled="1"/>
        </a:gradFill>
        <a:effectLst/>
      </p:bgPr>
    </p:bg>
    <p:spTree>
      <p:nvGrpSpPr>
        <p:cNvPr id="1" name=""/>
        <p:cNvGrpSpPr/>
        <p:nvPr/>
      </p:nvGrpSpPr>
      <p:grpSpPr>
        <a:xfrm>
          <a:off x="0" y="0"/>
          <a:ext cx="0" cy="0"/>
          <a:chOff x="0" y="0"/>
          <a:chExt cx="0" cy="0"/>
        </a:xfrm>
      </p:grpSpPr>
      <p:sp>
        <p:nvSpPr>
          <p:cNvPr id="2" name="Text 0"/>
          <p:cNvSpPr/>
          <p:nvPr/>
        </p:nvSpPr>
        <p:spPr>
          <a:xfrm>
            <a:off x="762000" y="2286000"/>
            <a:ext cx="3810000" cy="1206500"/>
          </a:xfrm>
          <a:prstGeom prst="rect">
            <a:avLst/>
          </a:prstGeom>
          <a:noFill/>
          <a:ln/>
        </p:spPr>
        <p:txBody>
          <a:bodyPr wrap="none" lIns="0" tIns="0" rIns="0" bIns="0" rtlCol="0" anchor="ctr"/>
          <a:lstStyle/>
          <a:p>
            <a:pPr algn="l">
              <a:lnSpc>
                <a:spcPct val="100000"/>
              </a:lnSpc>
            </a:pPr>
            <a:r>
              <a:rPr lang="en-US" sz="7200" dirty="0">
                <a:solidFill>
                  <a:srgbClr val="14B8A6"/>
                </a:solidFill>
                <a:latin typeface="Liter" pitchFamily="34" charset="0"/>
                <a:ea typeface="Liter" pitchFamily="34" charset="-122"/>
                <a:cs typeface="Liter" pitchFamily="34" charset="-120"/>
              </a:rPr>
              <a:t>03</a:t>
            </a:r>
            <a:endParaRPr lang="en-US" sz="7200" dirty="0"/>
          </a:p>
        </p:txBody>
      </p:sp>
      <p:sp>
        <p:nvSpPr>
          <p:cNvPr id="3" name="Shape 1"/>
          <p:cNvSpPr/>
          <p:nvPr/>
        </p:nvSpPr>
        <p:spPr>
          <a:xfrm>
            <a:off x="762000" y="3683000"/>
            <a:ext cx="1270000" cy="50800"/>
          </a:xfrm>
          <a:prstGeom prst="rect">
            <a:avLst/>
          </a:prstGeom>
          <a:solidFill>
            <a:srgbClr val="F97316"/>
          </a:solidFill>
          <a:ln/>
        </p:spPr>
      </p:sp>
      <p:sp>
        <p:nvSpPr>
          <p:cNvPr id="4" name="Text 2"/>
          <p:cNvSpPr/>
          <p:nvPr/>
        </p:nvSpPr>
        <p:spPr>
          <a:xfrm>
            <a:off x="762000" y="3937000"/>
            <a:ext cx="11430000" cy="635000"/>
          </a:xfrm>
          <a:prstGeom prst="rect">
            <a:avLst/>
          </a:prstGeom>
          <a:noFill/>
          <a:ln/>
        </p:spPr>
        <p:txBody>
          <a:bodyPr wrap="none" lIns="0" tIns="0" rIns="0" bIns="0" rtlCol="0" anchor="ctr"/>
          <a:lstStyle/>
          <a:p>
            <a:pPr algn="l">
              <a:lnSpc>
                <a:spcPct val="120000"/>
              </a:lnSpc>
            </a:pPr>
            <a:r>
              <a:rPr lang="en-US" sz="3600" b="1" kern="0" spc="200" dirty="0">
                <a:solidFill>
                  <a:srgbClr val="F1F5F9"/>
                </a:solidFill>
                <a:latin typeface="Liter" pitchFamily="34" charset="0"/>
                <a:ea typeface="Liter" pitchFamily="34" charset="-122"/>
                <a:cs typeface="Liter" pitchFamily="34" charset="-120"/>
              </a:rPr>
              <a:t>BENCHMARK DES OPTIMISEURS</a:t>
            </a:r>
            <a:endParaRPr lang="en-US" sz="3600" dirty="0"/>
          </a:p>
        </p:txBody>
      </p:sp>
      <p:sp>
        <p:nvSpPr>
          <p:cNvPr id="5" name="Text 3"/>
          <p:cNvSpPr/>
          <p:nvPr/>
        </p:nvSpPr>
        <p:spPr>
          <a:xfrm>
            <a:off x="762000" y="4762500"/>
            <a:ext cx="11430000" cy="381000"/>
          </a:xfrm>
          <a:prstGeom prst="rect">
            <a:avLst/>
          </a:prstGeom>
          <a:noFill/>
          <a:ln/>
        </p:spPr>
        <p:txBody>
          <a:bodyPr wrap="none" lIns="0" tIns="0" rIns="0" bIns="0" rtlCol="0" anchor="ctr"/>
          <a:lstStyle/>
          <a:p>
            <a:pPr algn="l">
              <a:lnSpc>
                <a:spcPct val="160000"/>
              </a:lnSpc>
            </a:pPr>
            <a:r>
              <a:rPr lang="en-US" sz="2000" dirty="0">
                <a:solidFill>
                  <a:srgbClr val="94A3B8"/>
                </a:solidFill>
                <a:latin typeface="Quattrocento Sans" pitchFamily="34" charset="0"/>
                <a:ea typeface="Quattrocento Sans" pitchFamily="34" charset="-122"/>
                <a:cs typeface="Quattrocento Sans" pitchFamily="34" charset="-120"/>
              </a:rPr>
              <a:t>Comparaison systématique de 5 algorithmes d'optimisation pour le fine-tuning de MiniLM-L12</a:t>
            </a:r>
            <a:endParaRPr lang="en-US" sz="20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Shape 3"/>
          <p:cNvSpPr/>
          <p:nvPr/>
        </p:nvSpPr>
        <p:spPr>
          <a:xfrm>
            <a:off x="6502400" y="0"/>
            <a:ext cx="3251200" cy="457200"/>
          </a:xfrm>
          <a:prstGeom prst="rect">
            <a:avLst/>
          </a:prstGeom>
          <a:solidFill>
            <a:srgbClr val="F97316"/>
          </a:solidFill>
          <a:ln/>
        </p:spPr>
      </p:sp>
      <p:sp>
        <p:nvSpPr>
          <p:cNvPr id="6" name="Text 4"/>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03 Benchmark</a:t>
            </a:r>
            <a:endParaRPr lang="en-US" sz="1200" dirty="0"/>
          </a:p>
        </p:txBody>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889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MÉTHODOLOGIE EXPÉRIMENTALE</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587500"/>
            <a:ext cx="7112000" cy="3556000"/>
          </a:xfrm>
          <a:prstGeom prst="roundRect">
            <a:avLst>
              <a:gd name="adj" fmla="val 8000"/>
            </a:avLst>
          </a:prstGeom>
          <a:solidFill>
            <a:srgbClr val="1E3A5F"/>
          </a:solidFill>
          <a:ln w="12700">
            <a:solidFill>
              <a:srgbClr val="2D5A8E"/>
            </a:solidFill>
            <a:prstDash val="solid"/>
          </a:ln>
        </p:spPr>
      </p:sp>
      <p:sp>
        <p:nvSpPr>
          <p:cNvPr id="12" name="Shape 10"/>
          <p:cNvSpPr/>
          <p:nvPr/>
        </p:nvSpPr>
        <p:spPr>
          <a:xfrm>
            <a:off x="762000" y="1587500"/>
            <a:ext cx="63500" cy="3556000"/>
          </a:xfrm>
          <a:prstGeom prst="rect">
            <a:avLst/>
          </a:prstGeom>
          <a:solidFill>
            <a:srgbClr val="F97316"/>
          </a:solidFill>
          <a:ln/>
        </p:spPr>
      </p:sp>
      <p:sp>
        <p:nvSpPr>
          <p:cNvPr id="13" name="Shape 11"/>
          <p:cNvSpPr/>
          <p:nvPr/>
        </p:nvSpPr>
        <p:spPr>
          <a:xfrm>
            <a:off x="1079500" y="1803400"/>
            <a:ext cx="355600" cy="355600"/>
          </a:xfrm>
          <a:custGeom>
            <a:avLst/>
            <a:gdLst/>
            <a:ahLst/>
            <a:cxnLst/>
            <a:rect l="l" t="t" r="r" b="b"/>
            <a:pathLst>
              <a:path w="355600" h="355600">
                <a:moveTo>
                  <a:pt x="22225" y="44450"/>
                </a:moveTo>
                <a:cubicBezTo>
                  <a:pt x="9932" y="44450"/>
                  <a:pt x="0" y="54382"/>
                  <a:pt x="0" y="66675"/>
                </a:cubicBezTo>
                <a:cubicBezTo>
                  <a:pt x="0" y="78968"/>
                  <a:pt x="9932" y="88900"/>
                  <a:pt x="22225" y="88900"/>
                </a:cubicBezTo>
                <a:lnTo>
                  <a:pt x="82441" y="88900"/>
                </a:lnTo>
                <a:cubicBezTo>
                  <a:pt x="90984" y="108555"/>
                  <a:pt x="110569" y="122238"/>
                  <a:pt x="133350" y="122238"/>
                </a:cubicBezTo>
                <a:cubicBezTo>
                  <a:pt x="156131" y="122238"/>
                  <a:pt x="175716" y="108555"/>
                  <a:pt x="184259" y="88900"/>
                </a:cubicBezTo>
                <a:lnTo>
                  <a:pt x="333375" y="88900"/>
                </a:lnTo>
                <a:cubicBezTo>
                  <a:pt x="345668" y="88900"/>
                  <a:pt x="355600" y="78968"/>
                  <a:pt x="355600" y="66675"/>
                </a:cubicBezTo>
                <a:cubicBezTo>
                  <a:pt x="355600" y="54382"/>
                  <a:pt x="345668" y="44450"/>
                  <a:pt x="333375" y="44450"/>
                </a:cubicBezTo>
                <a:lnTo>
                  <a:pt x="184259" y="44450"/>
                </a:lnTo>
                <a:cubicBezTo>
                  <a:pt x="175716" y="24795"/>
                  <a:pt x="156131" y="11112"/>
                  <a:pt x="133350" y="11112"/>
                </a:cubicBezTo>
                <a:cubicBezTo>
                  <a:pt x="110569" y="11112"/>
                  <a:pt x="90984" y="24795"/>
                  <a:pt x="82441" y="44450"/>
                </a:cubicBezTo>
                <a:lnTo>
                  <a:pt x="22225" y="44450"/>
                </a:lnTo>
                <a:close/>
                <a:moveTo>
                  <a:pt x="22225" y="155575"/>
                </a:moveTo>
                <a:cubicBezTo>
                  <a:pt x="9932" y="155575"/>
                  <a:pt x="0" y="165507"/>
                  <a:pt x="0" y="177800"/>
                </a:cubicBezTo>
                <a:cubicBezTo>
                  <a:pt x="0" y="190093"/>
                  <a:pt x="9932" y="200025"/>
                  <a:pt x="22225" y="200025"/>
                </a:cubicBezTo>
                <a:lnTo>
                  <a:pt x="193566" y="200025"/>
                </a:lnTo>
                <a:cubicBezTo>
                  <a:pt x="202109" y="219680"/>
                  <a:pt x="221694" y="233363"/>
                  <a:pt x="244475" y="233363"/>
                </a:cubicBezTo>
                <a:cubicBezTo>
                  <a:pt x="267256" y="233363"/>
                  <a:pt x="286841" y="219680"/>
                  <a:pt x="295384" y="200025"/>
                </a:cubicBezTo>
                <a:lnTo>
                  <a:pt x="333375" y="200025"/>
                </a:lnTo>
                <a:cubicBezTo>
                  <a:pt x="345668" y="200025"/>
                  <a:pt x="355600" y="190093"/>
                  <a:pt x="355600" y="177800"/>
                </a:cubicBezTo>
                <a:cubicBezTo>
                  <a:pt x="355600" y="165507"/>
                  <a:pt x="345668" y="155575"/>
                  <a:pt x="333375" y="155575"/>
                </a:cubicBezTo>
                <a:lnTo>
                  <a:pt x="295384" y="155575"/>
                </a:lnTo>
                <a:cubicBezTo>
                  <a:pt x="286841" y="135920"/>
                  <a:pt x="267256" y="122238"/>
                  <a:pt x="244475" y="122238"/>
                </a:cubicBezTo>
                <a:cubicBezTo>
                  <a:pt x="221694" y="122238"/>
                  <a:pt x="202109" y="135920"/>
                  <a:pt x="193566" y="155575"/>
                </a:cubicBezTo>
                <a:lnTo>
                  <a:pt x="22225" y="155575"/>
                </a:lnTo>
                <a:close/>
                <a:moveTo>
                  <a:pt x="22225" y="266700"/>
                </a:moveTo>
                <a:cubicBezTo>
                  <a:pt x="9932" y="266700"/>
                  <a:pt x="0" y="276632"/>
                  <a:pt x="0" y="288925"/>
                </a:cubicBezTo>
                <a:cubicBezTo>
                  <a:pt x="0" y="301218"/>
                  <a:pt x="9932" y="311150"/>
                  <a:pt x="22225" y="311150"/>
                </a:cubicBezTo>
                <a:lnTo>
                  <a:pt x="60216" y="311150"/>
                </a:lnTo>
                <a:cubicBezTo>
                  <a:pt x="68759" y="330805"/>
                  <a:pt x="88344" y="344488"/>
                  <a:pt x="111125" y="344488"/>
                </a:cubicBezTo>
                <a:cubicBezTo>
                  <a:pt x="133906" y="344488"/>
                  <a:pt x="153491" y="330805"/>
                  <a:pt x="162034" y="311150"/>
                </a:cubicBezTo>
                <a:lnTo>
                  <a:pt x="333375" y="311150"/>
                </a:lnTo>
                <a:cubicBezTo>
                  <a:pt x="345668" y="311150"/>
                  <a:pt x="355600" y="301218"/>
                  <a:pt x="355600" y="288925"/>
                </a:cubicBezTo>
                <a:cubicBezTo>
                  <a:pt x="355600" y="276632"/>
                  <a:pt x="345668" y="266700"/>
                  <a:pt x="333375" y="266700"/>
                </a:cubicBezTo>
                <a:lnTo>
                  <a:pt x="162034" y="266700"/>
                </a:lnTo>
                <a:cubicBezTo>
                  <a:pt x="153491" y="247045"/>
                  <a:pt x="133906" y="233363"/>
                  <a:pt x="111125" y="233363"/>
                </a:cubicBezTo>
                <a:cubicBezTo>
                  <a:pt x="88344" y="233363"/>
                  <a:pt x="68759" y="247045"/>
                  <a:pt x="60216" y="266700"/>
                </a:cubicBezTo>
                <a:lnTo>
                  <a:pt x="22225" y="266700"/>
                </a:lnTo>
                <a:close/>
              </a:path>
            </a:pathLst>
          </a:custGeom>
          <a:solidFill>
            <a:srgbClr val="F97316"/>
          </a:solidFill>
          <a:ln/>
        </p:spPr>
      </p:sp>
      <p:sp>
        <p:nvSpPr>
          <p:cNvPr id="14" name="Text 12"/>
          <p:cNvSpPr/>
          <p:nvPr/>
        </p:nvSpPr>
        <p:spPr>
          <a:xfrm>
            <a:off x="1587500" y="1778000"/>
            <a:ext cx="3810000" cy="406400"/>
          </a:xfrm>
          <a:prstGeom prst="rect">
            <a:avLst/>
          </a:prstGeom>
          <a:noFill/>
          <a:ln/>
        </p:spPr>
        <p:txBody>
          <a:bodyPr wrap="none" lIns="0" tIns="0" rIns="0" bIns="0" rtlCol="0" anchor="ctr"/>
          <a:lstStyle/>
          <a:p>
            <a:pPr algn="l">
              <a:lnSpc>
                <a:spcPct val="130000"/>
              </a:lnSpc>
            </a:pPr>
            <a:r>
              <a:rPr lang="en-US" sz="2000" b="1" dirty="0">
                <a:solidFill>
                  <a:srgbClr val="F97316"/>
                </a:solidFill>
                <a:latin typeface="Liter" pitchFamily="34" charset="0"/>
                <a:ea typeface="Liter" pitchFamily="34" charset="-122"/>
                <a:cs typeface="Liter" pitchFamily="34" charset="-120"/>
              </a:rPr>
              <a:t>Configuration d'entraînement</a:t>
            </a:r>
            <a:endParaRPr lang="en-US" sz="2000" dirty="0"/>
          </a:p>
        </p:txBody>
      </p:sp>
      <p:sp>
        <p:nvSpPr>
          <p:cNvPr id="15" name="Text 13"/>
          <p:cNvSpPr/>
          <p:nvPr/>
        </p:nvSpPr>
        <p:spPr>
          <a:xfrm>
            <a:off x="1079500" y="2349500"/>
            <a:ext cx="6477000" cy="2540000"/>
          </a:xfrm>
          <a:prstGeom prst="rect">
            <a:avLst/>
          </a:prstGeom>
          <a:noFill/>
          <a:ln/>
        </p:spPr>
        <p:txBody>
          <a:bodyPr wrap="square" lIns="0" tIns="0" rIns="0" bIns="0" rtlCol="0" anchor="t"/>
          <a:lstStyle/>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5 optimiseurs</a:t>
            </a:r>
            <a:r>
              <a:rPr lang="en-US" sz="1600" dirty="0">
                <a:solidFill>
                  <a:srgbClr val="F1F5F9"/>
                </a:solidFill>
                <a:latin typeface="Quattrocento Sans" pitchFamily="34" charset="0"/>
                <a:ea typeface="Quattrocento Sans" pitchFamily="34" charset="-122"/>
                <a:cs typeface="Quattrocento Sans" pitchFamily="34" charset="-120"/>
              </a:rPr>
              <a:t> : AdamW, Adafactor, Lion, LAMB, SGD</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3 époques</a:t>
            </a:r>
            <a:r>
              <a:rPr lang="en-US" sz="1600" dirty="0">
                <a:solidFill>
                  <a:srgbClr val="F1F5F9"/>
                </a:solidFill>
                <a:latin typeface="Quattrocento Sans" pitchFamily="34" charset="0"/>
                <a:ea typeface="Quattrocento Sans" pitchFamily="34" charset="-122"/>
                <a:cs typeface="Quattrocento Sans" pitchFamily="34" charset="-120"/>
              </a:rPr>
              <a:t> par optimiseur</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Batch size</a:t>
            </a:r>
            <a:r>
              <a:rPr lang="en-US" sz="1600" dirty="0">
                <a:solidFill>
                  <a:srgbClr val="F1F5F9"/>
                </a:solidFill>
                <a:latin typeface="Quattrocento Sans" pitchFamily="34" charset="0"/>
                <a:ea typeface="Quattrocento Sans" pitchFamily="34" charset="-122"/>
                <a:cs typeface="Quattrocento Sans" pitchFamily="34" charset="-120"/>
              </a:rPr>
              <a:t> : 32</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Learning rate</a:t>
            </a:r>
            <a:r>
              <a:rPr lang="en-US" sz="1600" dirty="0">
                <a:solidFill>
                  <a:srgbClr val="F1F5F9"/>
                </a:solidFill>
                <a:latin typeface="Quattrocento Sans" pitchFamily="34" charset="0"/>
                <a:ea typeface="Quattrocento Sans" pitchFamily="34" charset="-122"/>
                <a:cs typeface="Quattrocento Sans" pitchFamily="34" charset="-120"/>
              </a:rPr>
              <a:t> : 2e-5 (Lion : 2e-6)</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Fine-tuning depuis les poids pré-entraînés</a:t>
            </a:r>
            <a:endParaRPr lang="en-US" sz="1600" dirty="0"/>
          </a:p>
        </p:txBody>
      </p:sp>
      <p:sp>
        <p:nvSpPr>
          <p:cNvPr id="16" name="Shape 14"/>
          <p:cNvSpPr/>
          <p:nvPr/>
        </p:nvSpPr>
        <p:spPr>
          <a:xfrm>
            <a:off x="8128000" y="1587500"/>
            <a:ext cx="7366000" cy="3556000"/>
          </a:xfrm>
          <a:prstGeom prst="roundRect">
            <a:avLst>
              <a:gd name="adj" fmla="val 8000"/>
            </a:avLst>
          </a:prstGeom>
          <a:solidFill>
            <a:srgbClr val="1E3A5F"/>
          </a:solidFill>
          <a:ln w="12700">
            <a:solidFill>
              <a:srgbClr val="2D5A8E"/>
            </a:solidFill>
            <a:prstDash val="solid"/>
          </a:ln>
        </p:spPr>
      </p:sp>
      <p:sp>
        <p:nvSpPr>
          <p:cNvPr id="17" name="Shape 15"/>
          <p:cNvSpPr/>
          <p:nvPr/>
        </p:nvSpPr>
        <p:spPr>
          <a:xfrm>
            <a:off x="8128000" y="1587500"/>
            <a:ext cx="63500" cy="3556000"/>
          </a:xfrm>
          <a:prstGeom prst="rect">
            <a:avLst/>
          </a:prstGeom>
          <a:solidFill>
            <a:srgbClr val="14B8A6"/>
          </a:solidFill>
          <a:ln/>
        </p:spPr>
      </p:sp>
      <p:sp>
        <p:nvSpPr>
          <p:cNvPr id="18" name="Shape 16"/>
          <p:cNvSpPr/>
          <p:nvPr/>
        </p:nvSpPr>
        <p:spPr>
          <a:xfrm>
            <a:off x="8445500" y="1803400"/>
            <a:ext cx="355600" cy="355600"/>
          </a:xfrm>
          <a:custGeom>
            <a:avLst/>
            <a:gdLst/>
            <a:ahLst/>
            <a:cxnLst/>
            <a:rect l="l" t="t" r="r" b="b"/>
            <a:pathLst>
              <a:path w="355600" h="355600">
                <a:moveTo>
                  <a:pt x="44450" y="44450"/>
                </a:moveTo>
                <a:cubicBezTo>
                  <a:pt x="44450" y="32157"/>
                  <a:pt x="34518" y="22225"/>
                  <a:pt x="22225" y="22225"/>
                </a:cubicBezTo>
                <a:cubicBezTo>
                  <a:pt x="9932" y="22225"/>
                  <a:pt x="0" y="32157"/>
                  <a:pt x="0" y="44450"/>
                </a:cubicBezTo>
                <a:lnTo>
                  <a:pt x="0" y="277813"/>
                </a:lnTo>
                <a:cubicBezTo>
                  <a:pt x="0" y="308511"/>
                  <a:pt x="24864" y="333375"/>
                  <a:pt x="55563" y="333375"/>
                </a:cubicBezTo>
                <a:lnTo>
                  <a:pt x="333375" y="333375"/>
                </a:lnTo>
                <a:cubicBezTo>
                  <a:pt x="345668" y="333375"/>
                  <a:pt x="355600" y="323443"/>
                  <a:pt x="355600" y="311150"/>
                </a:cubicBezTo>
                <a:cubicBezTo>
                  <a:pt x="355600" y="298857"/>
                  <a:pt x="345668" y="288925"/>
                  <a:pt x="333375" y="288925"/>
                </a:cubicBezTo>
                <a:lnTo>
                  <a:pt x="55563" y="288925"/>
                </a:lnTo>
                <a:cubicBezTo>
                  <a:pt x="49451" y="288925"/>
                  <a:pt x="44450" y="283924"/>
                  <a:pt x="44450" y="277813"/>
                </a:cubicBezTo>
                <a:lnTo>
                  <a:pt x="44450" y="44450"/>
                </a:lnTo>
                <a:close/>
                <a:moveTo>
                  <a:pt x="326846" y="104596"/>
                </a:moveTo>
                <a:cubicBezTo>
                  <a:pt x="335528" y="95915"/>
                  <a:pt x="335528" y="81816"/>
                  <a:pt x="326846" y="73134"/>
                </a:cubicBezTo>
                <a:cubicBezTo>
                  <a:pt x="318165" y="64453"/>
                  <a:pt x="304066" y="64453"/>
                  <a:pt x="295384" y="73134"/>
                </a:cubicBezTo>
                <a:lnTo>
                  <a:pt x="222250" y="146338"/>
                </a:lnTo>
                <a:lnTo>
                  <a:pt x="182384" y="106541"/>
                </a:lnTo>
                <a:cubicBezTo>
                  <a:pt x="173702" y="97859"/>
                  <a:pt x="159603" y="97859"/>
                  <a:pt x="150922" y="106541"/>
                </a:cubicBezTo>
                <a:lnTo>
                  <a:pt x="84247" y="173216"/>
                </a:lnTo>
                <a:cubicBezTo>
                  <a:pt x="75565" y="181898"/>
                  <a:pt x="75565" y="195997"/>
                  <a:pt x="84247" y="204678"/>
                </a:cubicBezTo>
                <a:cubicBezTo>
                  <a:pt x="92928" y="213360"/>
                  <a:pt x="107027" y="213360"/>
                  <a:pt x="115709" y="204678"/>
                </a:cubicBezTo>
                <a:lnTo>
                  <a:pt x="166688" y="153700"/>
                </a:lnTo>
                <a:lnTo>
                  <a:pt x="206554" y="193566"/>
                </a:lnTo>
                <a:cubicBezTo>
                  <a:pt x="215235" y="202248"/>
                  <a:pt x="229334" y="202248"/>
                  <a:pt x="238016" y="193566"/>
                </a:cubicBezTo>
                <a:lnTo>
                  <a:pt x="326916" y="104666"/>
                </a:lnTo>
                <a:close/>
              </a:path>
            </a:pathLst>
          </a:custGeom>
          <a:solidFill>
            <a:srgbClr val="14B8A6"/>
          </a:solidFill>
          <a:ln/>
        </p:spPr>
      </p:sp>
      <p:sp>
        <p:nvSpPr>
          <p:cNvPr id="19" name="Text 17"/>
          <p:cNvSpPr/>
          <p:nvPr/>
        </p:nvSpPr>
        <p:spPr>
          <a:xfrm>
            <a:off x="8953500" y="1778000"/>
            <a:ext cx="3810000" cy="406400"/>
          </a:xfrm>
          <a:prstGeom prst="rect">
            <a:avLst/>
          </a:prstGeom>
          <a:noFill/>
          <a:ln/>
        </p:spPr>
        <p:txBody>
          <a:bodyPr wrap="none" lIns="0" tIns="0" rIns="0" bIns="0" rtlCol="0" anchor="ctr"/>
          <a:lstStyle/>
          <a:p>
            <a:pPr algn="l">
              <a:lnSpc>
                <a:spcPct val="130000"/>
              </a:lnSpc>
            </a:pPr>
            <a:r>
              <a:rPr lang="en-US" sz="2000" b="1" dirty="0">
                <a:solidFill>
                  <a:srgbClr val="14B8A6"/>
                </a:solidFill>
                <a:latin typeface="Liter" pitchFamily="34" charset="0"/>
                <a:ea typeface="Liter" pitchFamily="34" charset="-122"/>
                <a:cs typeface="Liter" pitchFamily="34" charset="-120"/>
              </a:rPr>
              <a:t>Métriques suivies</a:t>
            </a:r>
            <a:endParaRPr lang="en-US" sz="2000" dirty="0"/>
          </a:p>
        </p:txBody>
      </p:sp>
      <p:sp>
        <p:nvSpPr>
          <p:cNvPr id="20" name="Text 18"/>
          <p:cNvSpPr/>
          <p:nvPr/>
        </p:nvSpPr>
        <p:spPr>
          <a:xfrm>
            <a:off x="8445500" y="2349500"/>
            <a:ext cx="6731000" cy="2540000"/>
          </a:xfrm>
          <a:prstGeom prst="rect">
            <a:avLst/>
          </a:prstGeom>
          <a:noFill/>
          <a:ln/>
        </p:spPr>
        <p:txBody>
          <a:bodyPr wrap="square" lIns="0" tIns="0" rIns="0" bIns="0" rtlCol="0" anchor="t"/>
          <a:lstStyle/>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Qualité</a:t>
            </a:r>
            <a:r>
              <a:rPr lang="en-US" sz="1600" dirty="0">
                <a:solidFill>
                  <a:srgbClr val="F1F5F9"/>
                </a:solidFill>
                <a:latin typeface="Quattrocento Sans" pitchFamily="34" charset="0"/>
                <a:ea typeface="Quattrocento Sans" pitchFamily="34" charset="-122"/>
                <a:cs typeface="Quattrocento Sans" pitchFamily="34" charset="-120"/>
              </a:rPr>
              <a:t> : Exactitude et F1 macro</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Vitesse</a:t>
            </a:r>
            <a:r>
              <a:rPr lang="en-US" sz="1600" dirty="0">
                <a:solidFill>
                  <a:srgbClr val="F1F5F9"/>
                </a:solidFill>
                <a:latin typeface="Quattrocento Sans" pitchFamily="34" charset="0"/>
                <a:ea typeface="Quattrocento Sans" pitchFamily="34" charset="-122"/>
                <a:cs typeface="Quattrocento Sans" pitchFamily="34" charset="-120"/>
              </a:rPr>
              <a:t> : Temps d'entraînement (s)</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Ressources</a:t>
            </a:r>
            <a:r>
              <a:rPr lang="en-US" sz="1600" dirty="0">
                <a:solidFill>
                  <a:srgbClr val="F1F5F9"/>
                </a:solidFill>
                <a:latin typeface="Quattrocento Sans" pitchFamily="34" charset="0"/>
                <a:ea typeface="Quattrocento Sans" pitchFamily="34" charset="-122"/>
                <a:cs typeface="Quattrocento Sans" pitchFamily="34" charset="-120"/>
              </a:rPr>
              <a:t> : Pic de mémoire CPU/GPU</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Stabilité</a:t>
            </a:r>
            <a:r>
              <a:rPr lang="en-US" sz="1600" dirty="0">
                <a:solidFill>
                  <a:srgbClr val="F1F5F9"/>
                </a:solidFill>
                <a:latin typeface="Quattrocento Sans" pitchFamily="34" charset="0"/>
                <a:ea typeface="Quattrocento Sans" pitchFamily="34" charset="-122"/>
                <a:cs typeface="Quattrocento Sans" pitchFamily="34" charset="-120"/>
              </a:rPr>
              <a:t> : Écart-type de la perte</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Sélection par </a:t>
            </a:r>
            <a:r>
              <a:rPr lang="en-US" sz="1600" b="1" dirty="0">
                <a:solidFill>
                  <a:srgbClr val="F1F5F9"/>
                </a:solidFill>
                <a:latin typeface="Quattrocento Sans" pitchFamily="34" charset="0"/>
                <a:ea typeface="Quattrocento Sans" pitchFamily="34" charset="-122"/>
                <a:cs typeface="Quattrocento Sans" pitchFamily="34" charset="-120"/>
              </a:rPr>
              <a:t>F1 macro maximal</a:t>
            </a:r>
            <a:endParaRPr lang="en-US" sz="1600" dirty="0"/>
          </a:p>
        </p:txBody>
      </p:sp>
      <p:sp>
        <p:nvSpPr>
          <p:cNvPr id="21" name="Shape 19"/>
          <p:cNvSpPr/>
          <p:nvPr/>
        </p:nvSpPr>
        <p:spPr>
          <a:xfrm>
            <a:off x="762000" y="5397500"/>
            <a:ext cx="14732000" cy="1270000"/>
          </a:xfrm>
          <a:prstGeom prst="roundRect">
            <a:avLst>
              <a:gd name="adj" fmla="val 6000"/>
            </a:avLst>
          </a:prstGeom>
          <a:solidFill>
            <a:srgbClr val="152D4D"/>
          </a:solidFill>
          <a:ln w="12700">
            <a:solidFill>
              <a:srgbClr val="2D5A8E"/>
            </a:solidFill>
            <a:prstDash val="solid"/>
          </a:ln>
        </p:spPr>
      </p:sp>
      <p:sp>
        <p:nvSpPr>
          <p:cNvPr id="22" name="Shape 20"/>
          <p:cNvSpPr/>
          <p:nvPr/>
        </p:nvSpPr>
        <p:spPr>
          <a:xfrm>
            <a:off x="1079500" y="57150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133350" y="95250"/>
                </a:moveTo>
                <a:cubicBezTo>
                  <a:pt x="133350" y="84736"/>
                  <a:pt x="141886" y="76200"/>
                  <a:pt x="152400" y="76200"/>
                </a:cubicBezTo>
                <a:cubicBezTo>
                  <a:pt x="162914" y="76200"/>
                  <a:pt x="171450" y="84736"/>
                  <a:pt x="171450" y="95250"/>
                </a:cubicBezTo>
                <a:cubicBezTo>
                  <a:pt x="171450" y="105764"/>
                  <a:pt x="162914" y="114300"/>
                  <a:pt x="152400" y="114300"/>
                </a:cubicBezTo>
                <a:cubicBezTo>
                  <a:pt x="141886" y="114300"/>
                  <a:pt x="133350" y="105764"/>
                  <a:pt x="133350" y="95250"/>
                </a:cubicBezTo>
                <a:close/>
                <a:moveTo>
                  <a:pt x="128588" y="133350"/>
                </a:moveTo>
                <a:lnTo>
                  <a:pt x="157163" y="133350"/>
                </a:lnTo>
                <a:cubicBezTo>
                  <a:pt x="165080" y="133350"/>
                  <a:pt x="171450" y="139720"/>
                  <a:pt x="171450" y="147638"/>
                </a:cubicBezTo>
                <a:lnTo>
                  <a:pt x="171450" y="200025"/>
                </a:lnTo>
                <a:lnTo>
                  <a:pt x="176212" y="200025"/>
                </a:lnTo>
                <a:cubicBezTo>
                  <a:pt x="184130" y="200025"/>
                  <a:pt x="190500" y="206395"/>
                  <a:pt x="190500" y="214313"/>
                </a:cubicBezTo>
                <a:cubicBezTo>
                  <a:pt x="190500" y="222230"/>
                  <a:pt x="184130" y="228600"/>
                  <a:pt x="176212" y="228600"/>
                </a:cubicBezTo>
                <a:lnTo>
                  <a:pt x="128588" y="228600"/>
                </a:lnTo>
                <a:cubicBezTo>
                  <a:pt x="120670" y="228600"/>
                  <a:pt x="114300" y="222230"/>
                  <a:pt x="114300" y="214313"/>
                </a:cubicBezTo>
                <a:cubicBezTo>
                  <a:pt x="114300" y="206395"/>
                  <a:pt x="120670" y="200025"/>
                  <a:pt x="128588" y="200025"/>
                </a:cubicBezTo>
                <a:lnTo>
                  <a:pt x="142875" y="200025"/>
                </a:lnTo>
                <a:lnTo>
                  <a:pt x="142875" y="161925"/>
                </a:lnTo>
                <a:lnTo>
                  <a:pt x="128588" y="161925"/>
                </a:lnTo>
                <a:cubicBezTo>
                  <a:pt x="120670" y="161925"/>
                  <a:pt x="114300" y="155555"/>
                  <a:pt x="114300" y="147638"/>
                </a:cubicBezTo>
                <a:cubicBezTo>
                  <a:pt x="114300" y="139720"/>
                  <a:pt x="120670" y="133350"/>
                  <a:pt x="128588" y="133350"/>
                </a:cubicBezTo>
                <a:close/>
              </a:path>
            </a:pathLst>
          </a:custGeom>
          <a:solidFill>
            <a:srgbClr val="14B8A6"/>
          </a:solidFill>
          <a:ln/>
        </p:spPr>
      </p:sp>
      <p:sp>
        <p:nvSpPr>
          <p:cNvPr id="23" name="Text 21"/>
          <p:cNvSpPr/>
          <p:nvPr/>
        </p:nvSpPr>
        <p:spPr>
          <a:xfrm>
            <a:off x="1524000" y="5651500"/>
            <a:ext cx="5080000" cy="406400"/>
          </a:xfrm>
          <a:prstGeom prst="rect">
            <a:avLst/>
          </a:prstGeom>
          <a:noFill/>
          <a:ln/>
        </p:spPr>
        <p:txBody>
          <a:bodyPr wrap="none" lIns="0" tIns="0" rIns="0" bIns="0" rtlCol="0" anchor="ctr"/>
          <a:lstStyle/>
          <a:p>
            <a:pPr algn="l">
              <a:lnSpc>
                <a:spcPct val="130000"/>
              </a:lnSpc>
            </a:pPr>
            <a:r>
              <a:rPr lang="en-US" sz="1600" b="1" dirty="0">
                <a:solidFill>
                  <a:srgbClr val="14B8A6"/>
                </a:solidFill>
                <a:latin typeface="Liter" pitchFamily="34" charset="0"/>
                <a:ea typeface="Liter" pitchFamily="34" charset="-122"/>
                <a:cs typeface="Liter" pitchFamily="34" charset="-120"/>
              </a:rPr>
              <a:t>Note sur le learning rate de Lion</a:t>
            </a:r>
            <a:endParaRPr lang="en-US" sz="1600" dirty="0"/>
          </a:p>
        </p:txBody>
      </p:sp>
      <p:sp>
        <p:nvSpPr>
          <p:cNvPr id="24" name="Text 22"/>
          <p:cNvSpPr/>
          <p:nvPr/>
        </p:nvSpPr>
        <p:spPr>
          <a:xfrm>
            <a:off x="1079500" y="6096000"/>
            <a:ext cx="14097000" cy="406400"/>
          </a:xfrm>
          <a:prstGeom prst="rect">
            <a:avLst/>
          </a:prstGeom>
          <a:noFill/>
          <a:ln/>
        </p:spPr>
        <p:txBody>
          <a:bodyPr wrap="square" lIns="0" tIns="0" rIns="0" bIns="0" rtlCol="0" anchor="ctr"/>
          <a:lstStyle/>
          <a:p>
            <a:pPr algn="l">
              <a:lnSpc>
                <a:spcPct val="140000"/>
              </a:lnSpc>
            </a:pPr>
            <a:r>
              <a:rPr lang="en-US" sz="1500" dirty="0">
                <a:solidFill>
                  <a:srgbClr val="F1F5F9"/>
                </a:solidFill>
                <a:latin typeface="Quattrocento Sans" pitchFamily="34" charset="0"/>
                <a:ea typeface="Quattrocento Sans" pitchFamily="34" charset="-122"/>
                <a:cs typeface="Quattrocento Sans" pitchFamily="34" charset="-120"/>
              </a:rPr>
              <a:t>Facteur multiplicatif de </a:t>
            </a:r>
            <a:r>
              <a:rPr lang="en-US" sz="1500" b="1" dirty="0">
                <a:solidFill>
                  <a:srgbClr val="F1F5F9"/>
                </a:solidFill>
                <a:latin typeface="Quattrocento Sans" pitchFamily="34" charset="0"/>
                <a:ea typeface="Quattrocento Sans" pitchFamily="34" charset="-122"/>
                <a:cs typeface="Quattrocento Sans" pitchFamily="34" charset="-120"/>
              </a:rPr>
              <a:t>0,1</a:t>
            </a:r>
            <a:r>
              <a:rPr lang="en-US" sz="1500" dirty="0">
                <a:solidFill>
                  <a:srgbClr val="F1F5F9"/>
                </a:solidFill>
                <a:latin typeface="Quattrocento Sans" pitchFamily="34" charset="0"/>
                <a:ea typeface="Quattrocento Sans" pitchFamily="34" charset="-122"/>
                <a:cs typeface="Quattrocento Sans" pitchFamily="34" charset="-120"/>
              </a:rPr>
              <a:t> appliqué conformément aux recommandations des auteurs de Lion — taux effectif : </a:t>
            </a:r>
            <a:r>
              <a:rPr lang="en-US" sz="1500" b="1" dirty="0">
                <a:solidFill>
                  <a:srgbClr val="F1F5F9"/>
                </a:solidFill>
                <a:latin typeface="Quattrocento Sans" pitchFamily="34" charset="0"/>
                <a:ea typeface="Quattrocento Sans" pitchFamily="34" charset="-122"/>
                <a:cs typeface="Quattrocento Sans" pitchFamily="34" charset="-120"/>
              </a:rPr>
              <a:t>2e-6</a:t>
            </a:r>
            <a:endParaRPr lang="en-US" sz="1500" dirty="0"/>
          </a:p>
        </p:txBody>
      </p:sp>
      <p:sp>
        <p:nvSpPr>
          <p:cNvPr id="25" name="Text 23"/>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9</a:t>
            </a:r>
            <a:endParaRPr lang="en-US" sz="13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Shape 3"/>
          <p:cNvSpPr/>
          <p:nvPr/>
        </p:nvSpPr>
        <p:spPr>
          <a:xfrm>
            <a:off x="6502400" y="0"/>
            <a:ext cx="3251200" cy="457200"/>
          </a:xfrm>
          <a:prstGeom prst="rect">
            <a:avLst/>
          </a:prstGeom>
          <a:solidFill>
            <a:srgbClr val="F97316"/>
          </a:solidFill>
          <a:ln/>
        </p:spPr>
      </p:sp>
      <p:sp>
        <p:nvSpPr>
          <p:cNvPr id="6" name="Text 4"/>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03 Benchmark</a:t>
            </a:r>
            <a:endParaRPr lang="en-US" sz="1200" dirty="0"/>
          </a:p>
        </p:txBody>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016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RÉSULTATS — PERFORMANCE GLOBALE</a:t>
            </a:r>
            <a:endParaRPr lang="en-US" sz="3000" dirty="0"/>
          </a:p>
        </p:txBody>
      </p:sp>
      <p:sp>
        <p:nvSpPr>
          <p:cNvPr id="10" name="Shape 8"/>
          <p:cNvSpPr/>
          <p:nvPr/>
        </p:nvSpPr>
        <p:spPr>
          <a:xfrm>
            <a:off x="762000" y="1270000"/>
            <a:ext cx="1016000" cy="38100"/>
          </a:xfrm>
          <a:prstGeom prst="rect">
            <a:avLst/>
          </a:prstGeom>
          <a:solidFill>
            <a:srgbClr val="F97316"/>
          </a:solidFill>
          <a:ln/>
        </p:spPr>
      </p:sp>
      <p:graphicFrame>
        <p:nvGraphicFramePr>
          <p:cNvPr id="11" name="Chart 0"/>
          <p:cNvGraphicFramePr/>
          <p:nvPr/>
        </p:nvGraphicFramePr>
        <p:xfrm>
          <a:off x="762000" y="1524000"/>
          <a:ext cx="86360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9652000" y="1524000"/>
            <a:ext cx="5842000" cy="1841500"/>
          </a:xfrm>
          <a:prstGeom prst="roundRect">
            <a:avLst>
              <a:gd name="adj" fmla="val 8000"/>
            </a:avLst>
          </a:prstGeom>
          <a:solidFill>
            <a:srgbClr val="152D4D"/>
          </a:solidFill>
          <a:ln w="12700">
            <a:solidFill>
              <a:srgbClr val="F97316"/>
            </a:solidFill>
            <a:prstDash val="solid"/>
          </a:ln>
        </p:spPr>
      </p:sp>
      <p:sp>
        <p:nvSpPr>
          <p:cNvPr id="13" name="Shape 10"/>
          <p:cNvSpPr/>
          <p:nvPr/>
        </p:nvSpPr>
        <p:spPr>
          <a:xfrm>
            <a:off x="9969500" y="1752600"/>
            <a:ext cx="355600" cy="355600"/>
          </a:xfrm>
          <a:custGeom>
            <a:avLst/>
            <a:gdLst/>
            <a:ahLst/>
            <a:cxnLst/>
            <a:rect l="l" t="t" r="r" b="b"/>
            <a:pathLst>
              <a:path w="355600" h="355600">
                <a:moveTo>
                  <a:pt x="100221" y="0"/>
                </a:moveTo>
                <a:lnTo>
                  <a:pt x="255796" y="0"/>
                </a:lnTo>
                <a:cubicBezTo>
                  <a:pt x="274201" y="0"/>
                  <a:pt x="289203" y="15141"/>
                  <a:pt x="288508" y="33476"/>
                </a:cubicBezTo>
                <a:cubicBezTo>
                  <a:pt x="288369" y="37157"/>
                  <a:pt x="288230" y="40838"/>
                  <a:pt x="288022" y="44450"/>
                </a:cubicBezTo>
                <a:lnTo>
                  <a:pt x="322471" y="44450"/>
                </a:lnTo>
                <a:cubicBezTo>
                  <a:pt x="340598" y="44450"/>
                  <a:pt x="356572" y="59452"/>
                  <a:pt x="355183" y="79038"/>
                </a:cubicBezTo>
                <a:cubicBezTo>
                  <a:pt x="349974" y="151061"/>
                  <a:pt x="313164" y="190649"/>
                  <a:pt x="273229" y="211346"/>
                </a:cubicBezTo>
                <a:cubicBezTo>
                  <a:pt x="262255" y="217041"/>
                  <a:pt x="251073" y="221278"/>
                  <a:pt x="240447" y="224403"/>
                </a:cubicBezTo>
                <a:cubicBezTo>
                  <a:pt x="226417" y="244267"/>
                  <a:pt x="211832" y="254754"/>
                  <a:pt x="200233" y="260380"/>
                </a:cubicBezTo>
                <a:lnTo>
                  <a:pt x="200233" y="311150"/>
                </a:lnTo>
                <a:lnTo>
                  <a:pt x="244683" y="311150"/>
                </a:lnTo>
                <a:cubicBezTo>
                  <a:pt x="256977" y="311150"/>
                  <a:pt x="266908" y="321082"/>
                  <a:pt x="266908" y="333375"/>
                </a:cubicBezTo>
                <a:cubicBezTo>
                  <a:pt x="266908" y="345668"/>
                  <a:pt x="256977" y="355600"/>
                  <a:pt x="244683" y="355600"/>
                </a:cubicBezTo>
                <a:lnTo>
                  <a:pt x="111333" y="355600"/>
                </a:lnTo>
                <a:cubicBezTo>
                  <a:pt x="99040" y="355600"/>
                  <a:pt x="89108" y="345668"/>
                  <a:pt x="89108" y="333375"/>
                </a:cubicBezTo>
                <a:cubicBezTo>
                  <a:pt x="89108" y="321082"/>
                  <a:pt x="99040" y="311150"/>
                  <a:pt x="111333" y="311150"/>
                </a:cubicBezTo>
                <a:lnTo>
                  <a:pt x="155783" y="311150"/>
                </a:lnTo>
                <a:lnTo>
                  <a:pt x="155783" y="260380"/>
                </a:lnTo>
                <a:cubicBezTo>
                  <a:pt x="144671" y="255032"/>
                  <a:pt x="130850" y="245100"/>
                  <a:pt x="117376" y="226834"/>
                </a:cubicBezTo>
                <a:cubicBezTo>
                  <a:pt x="104596" y="223500"/>
                  <a:pt x="90706" y="218430"/>
                  <a:pt x="77162" y="210790"/>
                </a:cubicBezTo>
                <a:cubicBezTo>
                  <a:pt x="39588" y="189746"/>
                  <a:pt x="5695" y="150088"/>
                  <a:pt x="833" y="78899"/>
                </a:cubicBezTo>
                <a:cubicBezTo>
                  <a:pt x="-486" y="59382"/>
                  <a:pt x="15419" y="44381"/>
                  <a:pt x="33546" y="44381"/>
                </a:cubicBezTo>
                <a:lnTo>
                  <a:pt x="67995" y="44381"/>
                </a:lnTo>
                <a:cubicBezTo>
                  <a:pt x="67786" y="40769"/>
                  <a:pt x="67647" y="37157"/>
                  <a:pt x="67508" y="33407"/>
                </a:cubicBezTo>
                <a:cubicBezTo>
                  <a:pt x="66814" y="15002"/>
                  <a:pt x="81816" y="-69"/>
                  <a:pt x="100221" y="-69"/>
                </a:cubicBezTo>
                <a:close/>
                <a:moveTo>
                  <a:pt x="70495" y="77788"/>
                </a:moveTo>
                <a:lnTo>
                  <a:pt x="34101" y="77788"/>
                </a:lnTo>
                <a:cubicBezTo>
                  <a:pt x="38408" y="136614"/>
                  <a:pt x="65425" y="166062"/>
                  <a:pt x="93276" y="181689"/>
                </a:cubicBezTo>
                <a:cubicBezTo>
                  <a:pt x="83274" y="155783"/>
                  <a:pt x="75009" y="121960"/>
                  <a:pt x="70495" y="77788"/>
                </a:cubicBezTo>
                <a:close/>
                <a:moveTo>
                  <a:pt x="263922" y="178356"/>
                </a:moveTo>
                <a:cubicBezTo>
                  <a:pt x="292050" y="161826"/>
                  <a:pt x="317470" y="132447"/>
                  <a:pt x="321776" y="77788"/>
                </a:cubicBezTo>
                <a:lnTo>
                  <a:pt x="285452" y="77788"/>
                </a:lnTo>
                <a:cubicBezTo>
                  <a:pt x="281146" y="120084"/>
                  <a:pt x="273368" y="152936"/>
                  <a:pt x="263922" y="178356"/>
                </a:cubicBezTo>
                <a:close/>
              </a:path>
            </a:pathLst>
          </a:custGeom>
          <a:solidFill>
            <a:srgbClr val="F97316"/>
          </a:solidFill>
          <a:ln/>
        </p:spPr>
      </p:sp>
      <p:sp>
        <p:nvSpPr>
          <p:cNvPr id="14" name="Text 11"/>
          <p:cNvSpPr/>
          <p:nvPr/>
        </p:nvSpPr>
        <p:spPr>
          <a:xfrm>
            <a:off x="10477500" y="1714500"/>
            <a:ext cx="4699000" cy="406400"/>
          </a:xfrm>
          <a:prstGeom prst="rect">
            <a:avLst/>
          </a:prstGeom>
          <a:noFill/>
          <a:ln/>
        </p:spPr>
        <p:txBody>
          <a:bodyPr wrap="none" lIns="0" tIns="0" rIns="0" bIns="0" rtlCol="0" anchor="ctr"/>
          <a:lstStyle/>
          <a:p>
            <a:pPr algn="l">
              <a:lnSpc>
                <a:spcPct val="130000"/>
              </a:lnSpc>
            </a:pPr>
            <a:r>
              <a:rPr lang="en-US" sz="1800" b="1" dirty="0">
                <a:solidFill>
                  <a:srgbClr val="F97316"/>
                </a:solidFill>
                <a:latin typeface="Liter" pitchFamily="34" charset="0"/>
                <a:ea typeface="Liter" pitchFamily="34" charset="-122"/>
                <a:cs typeface="Liter" pitchFamily="34" charset="-120"/>
              </a:rPr>
              <a:t>Gagnant : AdamW</a:t>
            </a:r>
            <a:endParaRPr lang="en-US" sz="1800" dirty="0"/>
          </a:p>
        </p:txBody>
      </p:sp>
      <p:sp>
        <p:nvSpPr>
          <p:cNvPr id="15" name="Text 12"/>
          <p:cNvSpPr/>
          <p:nvPr/>
        </p:nvSpPr>
        <p:spPr>
          <a:xfrm>
            <a:off x="9969500" y="2222500"/>
            <a:ext cx="2667000" cy="889000"/>
          </a:xfrm>
          <a:prstGeom prst="rect">
            <a:avLst/>
          </a:prstGeom>
          <a:noFill/>
          <a:ln/>
        </p:spPr>
        <p:txBody>
          <a:bodyPr wrap="none" lIns="0" tIns="0" rIns="0" bIns="0" rtlCol="0" anchor="ctr"/>
          <a:lstStyle/>
          <a:p>
            <a:pPr algn="l">
              <a:lnSpc>
                <a:spcPct val="100000"/>
              </a:lnSpc>
            </a:pPr>
            <a:r>
              <a:rPr lang="en-US" sz="4800" dirty="0">
                <a:solidFill>
                  <a:srgbClr val="F97316"/>
                </a:solidFill>
                <a:latin typeface="Liter" pitchFamily="34" charset="0"/>
                <a:ea typeface="Liter" pitchFamily="34" charset="-122"/>
                <a:cs typeface="Liter" pitchFamily="34" charset="-120"/>
              </a:rPr>
              <a:t>0.9013</a:t>
            </a:r>
            <a:endParaRPr lang="en-US" sz="4800" dirty="0"/>
          </a:p>
        </p:txBody>
      </p:sp>
      <p:sp>
        <p:nvSpPr>
          <p:cNvPr id="16" name="Text 13"/>
          <p:cNvSpPr/>
          <p:nvPr/>
        </p:nvSpPr>
        <p:spPr>
          <a:xfrm>
            <a:off x="12700000" y="2349500"/>
            <a:ext cx="2540000" cy="317500"/>
          </a:xfrm>
          <a:prstGeom prst="rect">
            <a:avLst/>
          </a:prstGeom>
          <a:noFill/>
          <a:ln/>
        </p:spPr>
        <p:txBody>
          <a:bodyPr wrap="none" lIns="0" tIns="0" rIns="0" bIns="0" rtlCol="0" anchor="ctr"/>
          <a:lstStyle/>
          <a:p>
            <a:pPr algn="l">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F1 macro</a:t>
            </a:r>
            <a:endParaRPr lang="en-US" sz="1400" dirty="0"/>
          </a:p>
        </p:txBody>
      </p:sp>
      <p:sp>
        <p:nvSpPr>
          <p:cNvPr id="17" name="Text 14"/>
          <p:cNvSpPr/>
          <p:nvPr/>
        </p:nvSpPr>
        <p:spPr>
          <a:xfrm>
            <a:off x="12700000" y="2730500"/>
            <a:ext cx="2540000" cy="381000"/>
          </a:xfrm>
          <a:prstGeom prst="rect">
            <a:avLst/>
          </a:prstGeom>
          <a:noFill/>
          <a:ln/>
        </p:spPr>
        <p:txBody>
          <a:bodyPr wrap="none" lIns="0" tIns="0" rIns="0" bIns="0" rtlCol="0" anchor="ctr"/>
          <a:lstStyle/>
          <a:p>
            <a:pPr algn="l">
              <a:lnSpc>
                <a:spcPct val="120000"/>
              </a:lnSpc>
            </a:pPr>
            <a:r>
              <a:rPr lang="en-US" sz="2000" dirty="0">
                <a:solidFill>
                  <a:srgbClr val="14B8A6"/>
                </a:solidFill>
                <a:latin typeface="Liter" pitchFamily="34" charset="0"/>
                <a:ea typeface="Liter" pitchFamily="34" charset="-122"/>
                <a:cs typeface="Liter" pitchFamily="34" charset="-120"/>
              </a:rPr>
              <a:t>62.27 s</a:t>
            </a:r>
            <a:endParaRPr lang="en-US" sz="2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62000" y="5588000"/>
          <a:ext cx="14732000" cy="2921000"/>
        </p:xfrm>
        <a:graphic>
          <a:graphicData uri="http://schemas.openxmlformats.org/drawingml/2006/table">
            <a:tbl>
              <a:tblPr/>
              <a:tblGrid>
                <a:gridCol w="265176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2062480">
                  <a:extLst>
                    <a:ext uri="{9D8B030D-6E8A-4147-A177-3AD203B41FA5}">
                      <a16:colId xmlns:a16="http://schemas.microsoft.com/office/drawing/2014/main" val="20002"/>
                    </a:ext>
                  </a:extLst>
                </a:gridCol>
                <a:gridCol w="2062480">
                  <a:extLst>
                    <a:ext uri="{9D8B030D-6E8A-4147-A177-3AD203B41FA5}">
                      <a16:colId xmlns:a16="http://schemas.microsoft.com/office/drawing/2014/main" val="20003"/>
                    </a:ext>
                  </a:extLst>
                </a:gridCol>
                <a:gridCol w="2062480">
                  <a:extLst>
                    <a:ext uri="{9D8B030D-6E8A-4147-A177-3AD203B41FA5}">
                      <a16:colId xmlns:a16="http://schemas.microsoft.com/office/drawing/2014/main" val="20004"/>
                    </a:ext>
                  </a:extLst>
                </a:gridCol>
                <a:gridCol w="2062480">
                  <a:extLst>
                    <a:ext uri="{9D8B030D-6E8A-4147-A177-3AD203B41FA5}">
                      <a16:colId xmlns:a16="http://schemas.microsoft.com/office/drawing/2014/main" val="20005"/>
                    </a:ext>
                  </a:extLst>
                </a:gridCol>
                <a:gridCol w="1767840">
                  <a:extLst>
                    <a:ext uri="{9D8B030D-6E8A-4147-A177-3AD203B41FA5}">
                      <a16:colId xmlns:a16="http://schemas.microsoft.com/office/drawing/2014/main" val="20006"/>
                    </a:ext>
                  </a:extLst>
                </a:gridCol>
              </a:tblGrid>
              <a:tr h="525780">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Optimiseur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Exactitude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F1 macro</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Temps (s)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RAM CPU (Mo)</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RAM GPU (Mo)</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σ perte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extLst>
                  <a:ext uri="{0D108BD9-81ED-4DB2-BD59-A6C34878D82A}">
                    <a16:rowId xmlns:a16="http://schemas.microsoft.com/office/drawing/2014/main" val="10000"/>
                  </a:ext>
                </a:extLst>
              </a:tr>
              <a:tr h="479044">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AdamW</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0.9005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0.9013</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62.27</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1721.43</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1272.39</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0.0258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extLst>
                  <a:ext uri="{0D108BD9-81ED-4DB2-BD59-A6C34878D82A}">
                    <a16:rowId xmlns:a16="http://schemas.microsoft.com/office/drawing/2014/main" val="10001"/>
                  </a:ext>
                </a:extLst>
              </a:tr>
              <a:tr h="479044">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Adafactor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0.8960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0.8969</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125.94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1835.07</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1405.24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0.1117</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extLst>
                  <a:ext uri="{0D108BD9-81ED-4DB2-BD59-A6C34878D82A}">
                    <a16:rowId xmlns:a16="http://schemas.microsoft.com/office/drawing/2014/main" val="10002"/>
                  </a:ext>
                </a:extLst>
              </a:tr>
              <a:tr h="479044">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Lion</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0.8755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0.8766</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71.40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1855.52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1662.35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0.0576</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extLst>
                  <a:ext uri="{0D108BD9-81ED-4DB2-BD59-A6C34878D82A}">
                    <a16:rowId xmlns:a16="http://schemas.microsoft.com/office/drawing/2014/main" val="10003"/>
                  </a:ext>
                </a:extLst>
              </a:tr>
              <a:tr h="479044">
                <a:tc>
                  <a:txBody>
                    <a:bodyPr/>
                    <a:lstStyle/>
                    <a:p>
                      <a:pPr algn="ctr"/>
                      <a:r>
                        <a:rPr lang="en-US" sz="1400" dirty="0">
                          <a:solidFill>
                            <a:srgbClr val="EF4444"/>
                          </a:solidFill>
                          <a:latin typeface="Quattrocento Sans" pitchFamily="34" charset="0"/>
                          <a:ea typeface="Quattrocento Sans" pitchFamily="34" charset="-122"/>
                          <a:cs typeface="Quattrocento Sans" pitchFamily="34" charset="-120"/>
                        </a:rPr>
                        <a:t>LAMB</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EF4444"/>
                          </a:solidFill>
                          <a:latin typeface="Quattrocento Sans" pitchFamily="34" charset="0"/>
                          <a:ea typeface="Quattrocento Sans" pitchFamily="34" charset="-122"/>
                          <a:cs typeface="Quattrocento Sans" pitchFamily="34" charset="-120"/>
                        </a:rPr>
                        <a:t>0.4695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EF4444"/>
                          </a:solidFill>
                          <a:latin typeface="Quattrocento Sans" pitchFamily="34" charset="0"/>
                          <a:ea typeface="Quattrocento Sans" pitchFamily="34" charset="-122"/>
                          <a:cs typeface="Quattrocento Sans" pitchFamily="34" charset="-120"/>
                        </a:rPr>
                        <a:t>0.3620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119.12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1862.50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1926.98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0.0048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extLst>
                  <a:ext uri="{0D108BD9-81ED-4DB2-BD59-A6C34878D82A}">
                    <a16:rowId xmlns:a16="http://schemas.microsoft.com/office/drawing/2014/main" val="10004"/>
                  </a:ext>
                </a:extLst>
              </a:tr>
              <a:tr h="479044">
                <a:tc>
                  <a:txBody>
                    <a:bodyPr/>
                    <a:lstStyle/>
                    <a:p>
                      <a:pPr algn="ctr"/>
                      <a:r>
                        <a:rPr lang="en-US" sz="1400" dirty="0">
                          <a:solidFill>
                            <a:srgbClr val="EF4444"/>
                          </a:solidFill>
                          <a:latin typeface="Quattrocento Sans" pitchFamily="34" charset="0"/>
                          <a:ea typeface="Quattrocento Sans" pitchFamily="34" charset="-122"/>
                          <a:cs typeface="Quattrocento Sans" pitchFamily="34" charset="-120"/>
                        </a:rPr>
                        <a:t>SGD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EF4444"/>
                          </a:solidFill>
                          <a:latin typeface="Quattrocento Sans" pitchFamily="34" charset="0"/>
                          <a:ea typeface="Quattrocento Sans" pitchFamily="34" charset="-122"/>
                          <a:cs typeface="Quattrocento Sans" pitchFamily="34" charset="-120"/>
                        </a:rPr>
                        <a:t>0.2485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EF4444"/>
                          </a:solidFill>
                          <a:latin typeface="Quattrocento Sans" pitchFamily="34" charset="0"/>
                          <a:ea typeface="Quattrocento Sans" pitchFamily="34" charset="-122"/>
                          <a:cs typeface="Quattrocento Sans" pitchFamily="34" charset="-120"/>
                        </a:rPr>
                        <a:t>0.0995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61.13</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1788.79</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1928.98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0.0003</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extLst>
                  <a:ext uri="{0D108BD9-81ED-4DB2-BD59-A6C34878D82A}">
                    <a16:rowId xmlns:a16="http://schemas.microsoft.com/office/drawing/2014/main" val="10005"/>
                  </a:ext>
                </a:extLst>
              </a:tr>
            </a:tbl>
          </a:graphicData>
        </a:graphic>
      </p:graphicFrame>
      <p:sp>
        <p:nvSpPr>
          <p:cNvPr id="19" name="Text 15"/>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10</a:t>
            </a:r>
            <a:endParaRPr lang="en-US" sz="13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Shape 3"/>
          <p:cNvSpPr/>
          <p:nvPr/>
        </p:nvSpPr>
        <p:spPr>
          <a:xfrm>
            <a:off x="6502400" y="0"/>
            <a:ext cx="3251200" cy="457200"/>
          </a:xfrm>
          <a:prstGeom prst="rect">
            <a:avLst/>
          </a:prstGeom>
          <a:solidFill>
            <a:srgbClr val="F97316"/>
          </a:solidFill>
          <a:ln/>
        </p:spPr>
      </p:sp>
      <p:sp>
        <p:nvSpPr>
          <p:cNvPr id="6" name="Text 4"/>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03 Benchmark</a:t>
            </a:r>
            <a:endParaRPr lang="en-US" sz="1200" dirty="0"/>
          </a:p>
        </p:txBody>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143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POURQUOI SGD ET LAMB ONT ÉCHOUÉ</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524000"/>
            <a:ext cx="2540000" cy="381000"/>
          </a:xfrm>
          <a:prstGeom prst="roundRect">
            <a:avLst>
              <a:gd name="adj" fmla="val 15000"/>
            </a:avLst>
          </a:prstGeom>
          <a:solidFill>
            <a:srgbClr val="F97316"/>
          </a:solidFill>
          <a:ln/>
        </p:spPr>
      </p:sp>
      <p:sp>
        <p:nvSpPr>
          <p:cNvPr id="12" name="Text 10"/>
          <p:cNvSpPr/>
          <p:nvPr/>
        </p:nvSpPr>
        <p:spPr>
          <a:xfrm>
            <a:off x="762000" y="1524000"/>
            <a:ext cx="2540000" cy="381000"/>
          </a:xfrm>
          <a:prstGeom prst="rect">
            <a:avLst/>
          </a:prstGeom>
          <a:noFill/>
          <a:ln/>
        </p:spPr>
        <p:txBody>
          <a:bodyPr wrap="none" lIns="0" tIns="0" rIns="0" bIns="0" rtlCol="0" anchor="ctr"/>
          <a:lstStyle/>
          <a:p>
            <a:pPr algn="ctr">
              <a:lnSpc>
                <a:spcPct val="120000"/>
              </a:lnSpc>
            </a:pPr>
            <a:r>
              <a:rPr lang="en-US" sz="1300" kern="0" spc="200" dirty="0">
                <a:solidFill>
                  <a:srgbClr val="FFFFFF"/>
                </a:solidFill>
                <a:latin typeface="Liter" pitchFamily="34" charset="0"/>
                <a:ea typeface="Liter" pitchFamily="34" charset="-122"/>
                <a:cs typeface="Liter" pitchFamily="34" charset="-120"/>
              </a:rPr>
              <a:t>INSIGHT CLÉ</a:t>
            </a:r>
            <a:endParaRPr lang="en-US" sz="1300" dirty="0"/>
          </a:p>
        </p:txBody>
      </p:sp>
      <p:sp>
        <p:nvSpPr>
          <p:cNvPr id="13" name="Text 11"/>
          <p:cNvSpPr/>
          <p:nvPr/>
        </p:nvSpPr>
        <p:spPr>
          <a:xfrm>
            <a:off x="762000" y="2095500"/>
            <a:ext cx="4699000" cy="1016000"/>
          </a:xfrm>
          <a:prstGeom prst="rect">
            <a:avLst/>
          </a:prstGeom>
          <a:noFill/>
          <a:ln/>
        </p:spPr>
        <p:txBody>
          <a:bodyPr wrap="none" lIns="0" tIns="0" rIns="0" bIns="0" rtlCol="0" anchor="ctr"/>
          <a:lstStyle/>
          <a:p>
            <a:pPr algn="l">
              <a:lnSpc>
                <a:spcPct val="100000"/>
              </a:lnSpc>
            </a:pPr>
            <a:r>
              <a:rPr lang="en-US" sz="5600" dirty="0">
                <a:solidFill>
                  <a:srgbClr val="F97316"/>
                </a:solidFill>
                <a:latin typeface="Liter" pitchFamily="34" charset="0"/>
                <a:ea typeface="Liter" pitchFamily="34" charset="-122"/>
                <a:cs typeface="Liter" pitchFamily="34" charset="-120"/>
              </a:rPr>
              <a:t>ln(4) ≈ 1.386</a:t>
            </a:r>
            <a:endParaRPr lang="en-US" sz="5600" dirty="0"/>
          </a:p>
        </p:txBody>
      </p:sp>
      <p:sp>
        <p:nvSpPr>
          <p:cNvPr id="14" name="Text 12"/>
          <p:cNvSpPr/>
          <p:nvPr/>
        </p:nvSpPr>
        <p:spPr>
          <a:xfrm>
            <a:off x="5651500" y="2222500"/>
            <a:ext cx="9842500" cy="889000"/>
          </a:xfrm>
          <a:prstGeom prst="rect">
            <a:avLst/>
          </a:prstGeom>
          <a:noFill/>
          <a:ln/>
        </p:spPr>
        <p:txBody>
          <a:bodyPr wrap="square" lIns="0" tIns="0" rIns="0" bIns="0" rtlCol="0" anchor="ctr"/>
          <a:lstStyle/>
          <a:p>
            <a:pPr algn="l">
              <a:lnSpc>
                <a:spcPct val="150000"/>
              </a:lnSpc>
            </a:pPr>
            <a:r>
              <a:rPr lang="en-US" sz="1800" dirty="0">
                <a:solidFill>
                  <a:srgbClr val="F1F5F9"/>
                </a:solidFill>
                <a:latin typeface="Quattrocento Sans" pitchFamily="34" charset="0"/>
                <a:ea typeface="Quattrocento Sans" pitchFamily="34" charset="-122"/>
                <a:cs typeface="Quattrocento Sans" pitchFamily="34" charset="-120"/>
              </a:rPr>
              <a:t>Perte théorique d'un modèle prédisant </a:t>
            </a:r>
            <a:r>
              <a:rPr lang="en-US" sz="1800" b="1" dirty="0">
                <a:solidFill>
                  <a:srgbClr val="F1F5F9"/>
                </a:solidFill>
                <a:latin typeface="Quattrocento Sans" pitchFamily="34" charset="0"/>
                <a:ea typeface="Quattrocento Sans" pitchFamily="34" charset="-122"/>
                <a:cs typeface="Quattrocento Sans" pitchFamily="34" charset="-120"/>
              </a:rPr>
              <a:t>au hasard</a:t>
            </a:r>
            <a:r>
              <a:rPr lang="en-US" sz="1800" dirty="0">
                <a:solidFill>
                  <a:srgbClr val="F1F5F9"/>
                </a:solidFill>
                <a:latin typeface="Quattrocento Sans" pitchFamily="34" charset="0"/>
                <a:ea typeface="Quattrocento Sans" pitchFamily="34" charset="-122"/>
                <a:cs typeface="Quattrocento Sans" pitchFamily="34" charset="-120"/>
              </a:rPr>
              <a:t> parmi 4 classes équilibrées — SGD et LAMB y restent bloqués</a:t>
            </a:r>
            <a:endParaRPr lang="en-US" sz="1800" dirty="0"/>
          </a:p>
        </p:txBody>
      </p:sp>
      <p:sp>
        <p:nvSpPr>
          <p:cNvPr id="15" name="Shape 13"/>
          <p:cNvSpPr/>
          <p:nvPr/>
        </p:nvSpPr>
        <p:spPr>
          <a:xfrm>
            <a:off x="762000" y="3302000"/>
            <a:ext cx="14732000" cy="12700"/>
          </a:xfrm>
          <a:prstGeom prst="rect">
            <a:avLst/>
          </a:prstGeom>
          <a:solidFill>
            <a:srgbClr val="2D5A8E"/>
          </a:solidFill>
          <a:ln/>
        </p:spPr>
      </p:sp>
      <p:sp>
        <p:nvSpPr>
          <p:cNvPr id="16" name="Shape 14"/>
          <p:cNvSpPr/>
          <p:nvPr/>
        </p:nvSpPr>
        <p:spPr>
          <a:xfrm>
            <a:off x="762000" y="3556000"/>
            <a:ext cx="7112000" cy="2540000"/>
          </a:xfrm>
          <a:prstGeom prst="roundRect">
            <a:avLst>
              <a:gd name="adj" fmla="val 8000"/>
            </a:avLst>
          </a:prstGeom>
          <a:solidFill>
            <a:srgbClr val="1E3A5F"/>
          </a:solidFill>
          <a:ln w="12700">
            <a:solidFill>
              <a:srgbClr val="EF4444"/>
            </a:solidFill>
            <a:prstDash val="solid"/>
          </a:ln>
        </p:spPr>
      </p:sp>
      <p:sp>
        <p:nvSpPr>
          <p:cNvPr id="17" name="Shape 15"/>
          <p:cNvSpPr/>
          <p:nvPr/>
        </p:nvSpPr>
        <p:spPr>
          <a:xfrm>
            <a:off x="762000" y="3556000"/>
            <a:ext cx="63500" cy="2540000"/>
          </a:xfrm>
          <a:prstGeom prst="rect">
            <a:avLst/>
          </a:prstGeom>
          <a:solidFill>
            <a:srgbClr val="EF4444"/>
          </a:solidFill>
          <a:ln/>
        </p:spPr>
      </p:sp>
      <p:sp>
        <p:nvSpPr>
          <p:cNvPr id="18" name="Text 16"/>
          <p:cNvSpPr/>
          <p:nvPr/>
        </p:nvSpPr>
        <p:spPr>
          <a:xfrm>
            <a:off x="1079500" y="3708400"/>
            <a:ext cx="2540000" cy="381000"/>
          </a:xfrm>
          <a:prstGeom prst="rect">
            <a:avLst/>
          </a:prstGeom>
          <a:noFill/>
          <a:ln/>
        </p:spPr>
        <p:txBody>
          <a:bodyPr wrap="none" lIns="0" tIns="0" rIns="0" bIns="0" rtlCol="0" anchor="ctr"/>
          <a:lstStyle/>
          <a:p>
            <a:pPr algn="l">
              <a:lnSpc>
                <a:spcPct val="120000"/>
              </a:lnSpc>
            </a:pPr>
            <a:r>
              <a:rPr lang="en-US" sz="2200" b="1" dirty="0">
                <a:solidFill>
                  <a:srgbClr val="EF4444"/>
                </a:solidFill>
                <a:latin typeface="Liter" pitchFamily="34" charset="0"/>
                <a:ea typeface="Liter" pitchFamily="34" charset="-122"/>
                <a:cs typeface="Liter" pitchFamily="34" charset="-120"/>
              </a:rPr>
              <a:t>SGD</a:t>
            </a:r>
            <a:endParaRPr lang="en-US" sz="2200" dirty="0"/>
          </a:p>
        </p:txBody>
      </p:sp>
      <p:sp>
        <p:nvSpPr>
          <p:cNvPr id="19" name="Text 17"/>
          <p:cNvSpPr/>
          <p:nvPr/>
        </p:nvSpPr>
        <p:spPr>
          <a:xfrm>
            <a:off x="1079500" y="4165600"/>
            <a:ext cx="3175000" cy="571500"/>
          </a:xfrm>
          <a:prstGeom prst="rect">
            <a:avLst/>
          </a:prstGeom>
          <a:noFill/>
          <a:ln/>
        </p:spPr>
        <p:txBody>
          <a:bodyPr wrap="none" lIns="0" tIns="0" rIns="0" bIns="0" rtlCol="0" anchor="ctr"/>
          <a:lstStyle/>
          <a:p>
            <a:pPr algn="l">
              <a:lnSpc>
                <a:spcPct val="120000"/>
              </a:lnSpc>
            </a:pPr>
            <a:r>
              <a:rPr lang="en-US" sz="3600" dirty="0">
                <a:solidFill>
                  <a:srgbClr val="F1F5F9"/>
                </a:solidFill>
                <a:latin typeface="Liter" pitchFamily="34" charset="0"/>
                <a:ea typeface="Liter" pitchFamily="34" charset="-122"/>
                <a:cs typeface="Liter" pitchFamily="34" charset="-120"/>
              </a:rPr>
              <a:t>0.2485</a:t>
            </a:r>
            <a:endParaRPr lang="en-US" sz="3600" dirty="0"/>
          </a:p>
        </p:txBody>
      </p:sp>
      <p:sp>
        <p:nvSpPr>
          <p:cNvPr id="20" name="Text 18"/>
          <p:cNvSpPr/>
          <p:nvPr/>
        </p:nvSpPr>
        <p:spPr>
          <a:xfrm>
            <a:off x="4318000" y="4318000"/>
            <a:ext cx="3175000" cy="317500"/>
          </a:xfrm>
          <a:prstGeom prst="rect">
            <a:avLst/>
          </a:prstGeom>
          <a:noFill/>
          <a:ln/>
        </p:spPr>
        <p:txBody>
          <a:bodyPr wrap="none" lIns="0" tIns="0" rIns="0" bIns="0" rtlCol="0" anchor="ctr"/>
          <a:lstStyle/>
          <a:p>
            <a:pPr algn="l">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 classifieur aléatoire (4 classes)</a:t>
            </a:r>
            <a:endParaRPr lang="en-US" sz="1400" dirty="0"/>
          </a:p>
        </p:txBody>
      </p:sp>
      <p:sp>
        <p:nvSpPr>
          <p:cNvPr id="21" name="Text 19"/>
          <p:cNvSpPr/>
          <p:nvPr/>
        </p:nvSpPr>
        <p:spPr>
          <a:xfrm>
            <a:off x="1079500" y="4826000"/>
            <a:ext cx="6477000" cy="1079500"/>
          </a:xfrm>
          <a:prstGeom prst="rect">
            <a:avLst/>
          </a:prstGeom>
          <a:noFill/>
          <a:ln/>
        </p:spPr>
        <p:txBody>
          <a:bodyPr wrap="square" lIns="0" tIns="0" rIns="0" bIns="0" rtlCol="0" anchor="t"/>
          <a:lstStyle/>
          <a:p>
            <a:pPr algn="l">
              <a:lnSpc>
                <a:spcPct val="150000"/>
              </a:lnSpc>
            </a:pPr>
            <a:r>
              <a:rPr lang="en-US" sz="1500" dirty="0">
                <a:solidFill>
                  <a:srgbClr val="F1F5F9"/>
                </a:solidFill>
                <a:latin typeface="Quattrocento Sans" pitchFamily="34" charset="0"/>
                <a:ea typeface="Quattrocento Sans" pitchFamily="34" charset="-122"/>
                <a:cs typeface="Quattrocento Sans" pitchFamily="34" charset="-120"/>
              </a:rPr>
              <a:t>Le taux 2e-5 est </a:t>
            </a:r>
            <a:r>
              <a:rPr lang="en-US" sz="1500" b="1" dirty="0">
                <a:solidFill>
                  <a:srgbClr val="F1F5F9"/>
                </a:solidFill>
                <a:latin typeface="Quattrocento Sans" pitchFamily="34" charset="0"/>
                <a:ea typeface="Quattrocento Sans" pitchFamily="34" charset="-122"/>
                <a:cs typeface="Quattrocento Sans" pitchFamily="34" charset="-120"/>
              </a:rPr>
              <a:t>beaucoup trop faible</a:t>
            </a:r>
            <a:r>
              <a:rPr lang="en-US" sz="1500" dirty="0">
                <a:solidFill>
                  <a:srgbClr val="F1F5F9"/>
                </a:solidFill>
                <a:latin typeface="Quattrocento Sans" pitchFamily="34" charset="0"/>
                <a:ea typeface="Quattrocento Sans" pitchFamily="34" charset="-122"/>
                <a:cs typeface="Quattrocento Sans" pitchFamily="34" charset="-120"/>
              </a:rPr>
              <a:t> pour que SGD sorte d'un optimum plat en seulement 3 époques. Nécessite un LR plus élevé et du warmup.</a:t>
            </a:r>
            <a:endParaRPr lang="en-US" sz="1500" dirty="0"/>
          </a:p>
        </p:txBody>
      </p:sp>
      <p:sp>
        <p:nvSpPr>
          <p:cNvPr id="22" name="Shape 20"/>
          <p:cNvSpPr/>
          <p:nvPr/>
        </p:nvSpPr>
        <p:spPr>
          <a:xfrm>
            <a:off x="8128000" y="3556000"/>
            <a:ext cx="7366000" cy="2540000"/>
          </a:xfrm>
          <a:prstGeom prst="roundRect">
            <a:avLst>
              <a:gd name="adj" fmla="val 8000"/>
            </a:avLst>
          </a:prstGeom>
          <a:solidFill>
            <a:srgbClr val="1E3A5F"/>
          </a:solidFill>
          <a:ln w="12700">
            <a:solidFill>
              <a:srgbClr val="8B5CF6"/>
            </a:solidFill>
            <a:prstDash val="solid"/>
          </a:ln>
        </p:spPr>
      </p:sp>
      <p:sp>
        <p:nvSpPr>
          <p:cNvPr id="23" name="Shape 21"/>
          <p:cNvSpPr/>
          <p:nvPr/>
        </p:nvSpPr>
        <p:spPr>
          <a:xfrm>
            <a:off x="8128000" y="3556000"/>
            <a:ext cx="63500" cy="2540000"/>
          </a:xfrm>
          <a:prstGeom prst="rect">
            <a:avLst/>
          </a:prstGeom>
          <a:solidFill>
            <a:srgbClr val="8B5CF6"/>
          </a:solidFill>
          <a:ln/>
        </p:spPr>
      </p:sp>
      <p:sp>
        <p:nvSpPr>
          <p:cNvPr id="24" name="Text 22"/>
          <p:cNvSpPr/>
          <p:nvPr/>
        </p:nvSpPr>
        <p:spPr>
          <a:xfrm>
            <a:off x="8445500" y="3708400"/>
            <a:ext cx="2540000" cy="381000"/>
          </a:xfrm>
          <a:prstGeom prst="rect">
            <a:avLst/>
          </a:prstGeom>
          <a:noFill/>
          <a:ln/>
        </p:spPr>
        <p:txBody>
          <a:bodyPr wrap="none" lIns="0" tIns="0" rIns="0" bIns="0" rtlCol="0" anchor="ctr"/>
          <a:lstStyle/>
          <a:p>
            <a:pPr algn="l">
              <a:lnSpc>
                <a:spcPct val="120000"/>
              </a:lnSpc>
            </a:pPr>
            <a:r>
              <a:rPr lang="en-US" sz="2200" b="1" dirty="0">
                <a:solidFill>
                  <a:srgbClr val="8B5CF6"/>
                </a:solidFill>
                <a:latin typeface="Liter" pitchFamily="34" charset="0"/>
                <a:ea typeface="Liter" pitchFamily="34" charset="-122"/>
                <a:cs typeface="Liter" pitchFamily="34" charset="-120"/>
              </a:rPr>
              <a:t>LAMB</a:t>
            </a:r>
            <a:endParaRPr lang="en-US" sz="2200" dirty="0"/>
          </a:p>
        </p:txBody>
      </p:sp>
      <p:sp>
        <p:nvSpPr>
          <p:cNvPr id="25" name="Text 23"/>
          <p:cNvSpPr/>
          <p:nvPr/>
        </p:nvSpPr>
        <p:spPr>
          <a:xfrm>
            <a:off x="8445500" y="4165600"/>
            <a:ext cx="3175000" cy="571500"/>
          </a:xfrm>
          <a:prstGeom prst="rect">
            <a:avLst/>
          </a:prstGeom>
          <a:noFill/>
          <a:ln/>
        </p:spPr>
        <p:txBody>
          <a:bodyPr wrap="none" lIns="0" tIns="0" rIns="0" bIns="0" rtlCol="0" anchor="ctr"/>
          <a:lstStyle/>
          <a:p>
            <a:pPr algn="l">
              <a:lnSpc>
                <a:spcPct val="120000"/>
              </a:lnSpc>
            </a:pPr>
            <a:r>
              <a:rPr lang="en-US" sz="3600" dirty="0">
                <a:solidFill>
                  <a:srgbClr val="F1F5F9"/>
                </a:solidFill>
                <a:latin typeface="Liter" pitchFamily="34" charset="0"/>
                <a:ea typeface="Liter" pitchFamily="34" charset="-122"/>
                <a:cs typeface="Liter" pitchFamily="34" charset="-120"/>
              </a:rPr>
              <a:t>0.4695</a:t>
            </a:r>
            <a:endParaRPr lang="en-US" sz="3600" dirty="0"/>
          </a:p>
        </p:txBody>
      </p:sp>
      <p:sp>
        <p:nvSpPr>
          <p:cNvPr id="26" name="Text 24"/>
          <p:cNvSpPr/>
          <p:nvPr/>
        </p:nvSpPr>
        <p:spPr>
          <a:xfrm>
            <a:off x="11684000" y="4318000"/>
            <a:ext cx="3429000" cy="317500"/>
          </a:xfrm>
          <a:prstGeom prst="rect">
            <a:avLst/>
          </a:prstGeom>
          <a:noFill/>
          <a:ln/>
        </p:spPr>
        <p:txBody>
          <a:bodyPr wrap="none" lIns="0" tIns="0" rIns="0" bIns="0" rtlCol="0" anchor="ctr"/>
          <a:lstStyle/>
          <a:p>
            <a:pPr algn="l">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à peine au-dessus du hasard</a:t>
            </a:r>
            <a:endParaRPr lang="en-US" sz="1400" dirty="0"/>
          </a:p>
        </p:txBody>
      </p:sp>
      <p:sp>
        <p:nvSpPr>
          <p:cNvPr id="27" name="Text 25"/>
          <p:cNvSpPr/>
          <p:nvPr/>
        </p:nvSpPr>
        <p:spPr>
          <a:xfrm>
            <a:off x="8445500" y="4826000"/>
            <a:ext cx="6731000" cy="1079500"/>
          </a:xfrm>
          <a:prstGeom prst="rect">
            <a:avLst/>
          </a:prstGeom>
          <a:noFill/>
          <a:ln/>
        </p:spPr>
        <p:txBody>
          <a:bodyPr wrap="square" lIns="0" tIns="0" rIns="0" bIns="0" rtlCol="0" anchor="t"/>
          <a:lstStyle/>
          <a:p>
            <a:pPr algn="l">
              <a:lnSpc>
                <a:spcPct val="150000"/>
              </a:lnSpc>
            </a:pPr>
            <a:r>
              <a:rPr lang="en-US" sz="1500" dirty="0">
                <a:solidFill>
                  <a:srgbClr val="F1F5F9"/>
                </a:solidFill>
                <a:latin typeface="Quattrocento Sans" pitchFamily="34" charset="0"/>
                <a:ea typeface="Quattrocento Sans" pitchFamily="34" charset="-122"/>
                <a:cs typeface="Quattrocento Sans" pitchFamily="34" charset="-120"/>
              </a:rPr>
              <a:t>Conçu pour l'optimisation en </a:t>
            </a:r>
            <a:r>
              <a:rPr lang="en-US" sz="1500" b="1" dirty="0">
                <a:solidFill>
                  <a:srgbClr val="F1F5F9"/>
                </a:solidFill>
                <a:latin typeface="Quattrocento Sans" pitchFamily="34" charset="0"/>
                <a:ea typeface="Quattrocento Sans" pitchFamily="34" charset="-122"/>
                <a:cs typeface="Quattrocento Sans" pitchFamily="34" charset="-120"/>
              </a:rPr>
              <a:t>grand batch</a:t>
            </a:r>
            <a:r>
              <a:rPr lang="en-US" sz="1500" dirty="0">
                <a:solidFill>
                  <a:srgbClr val="F1F5F9"/>
                </a:solidFill>
                <a:latin typeface="Quattrocento Sans" pitchFamily="34" charset="0"/>
                <a:ea typeface="Quattrocento Sans" pitchFamily="34" charset="-122"/>
                <a:cs typeface="Quattrocento Sans" pitchFamily="34" charset="-120"/>
              </a:rPr>
              <a:t>, LAMB souffre également d'un réglage inadapté. Le LR 2e-5 ne lui convient pas.</a:t>
            </a:r>
            <a:endParaRPr lang="en-US" sz="1500" dirty="0"/>
          </a:p>
        </p:txBody>
      </p:sp>
      <p:sp>
        <p:nvSpPr>
          <p:cNvPr id="28" name="Shape 26"/>
          <p:cNvSpPr/>
          <p:nvPr/>
        </p:nvSpPr>
        <p:spPr>
          <a:xfrm>
            <a:off x="762000" y="6413500"/>
            <a:ext cx="14732000" cy="1016000"/>
          </a:xfrm>
          <a:prstGeom prst="roundRect">
            <a:avLst>
              <a:gd name="adj" fmla="val 6000"/>
            </a:avLst>
          </a:prstGeom>
          <a:solidFill>
            <a:srgbClr val="152D4D"/>
          </a:solidFill>
          <a:ln w="12700">
            <a:solidFill>
              <a:srgbClr val="14B8A6"/>
            </a:solidFill>
            <a:prstDash val="solid"/>
          </a:ln>
        </p:spPr>
      </p:sp>
      <p:sp>
        <p:nvSpPr>
          <p:cNvPr id="29" name="Shape 27"/>
          <p:cNvSpPr/>
          <p:nvPr/>
        </p:nvSpPr>
        <p:spPr>
          <a:xfrm>
            <a:off x="1079500" y="6667500"/>
            <a:ext cx="304800" cy="304800"/>
          </a:xfrm>
          <a:custGeom>
            <a:avLst/>
            <a:gdLst/>
            <a:ahLst/>
            <a:cxnLst/>
            <a:rect l="l" t="t" r="r" b="b"/>
            <a:pathLst>
              <a:path w="304800" h="304800">
                <a:moveTo>
                  <a:pt x="232489" y="228600"/>
                </a:moveTo>
                <a:cubicBezTo>
                  <a:pt x="238284" y="215325"/>
                  <a:pt x="249872" y="203299"/>
                  <a:pt x="262969" y="192941"/>
                </a:cubicBezTo>
                <a:cubicBezTo>
                  <a:pt x="288925" y="172462"/>
                  <a:pt x="304800" y="144780"/>
                  <a:pt x="304800" y="114300"/>
                </a:cubicBezTo>
                <a:cubicBezTo>
                  <a:pt x="304800" y="51197"/>
                  <a:pt x="236537" y="0"/>
                  <a:pt x="152400" y="0"/>
                </a:cubicBezTo>
                <a:cubicBezTo>
                  <a:pt x="68262" y="0"/>
                  <a:pt x="0" y="51197"/>
                  <a:pt x="0" y="114300"/>
                </a:cubicBezTo>
                <a:cubicBezTo>
                  <a:pt x="0" y="144780"/>
                  <a:pt x="15875" y="172462"/>
                  <a:pt x="41831" y="192941"/>
                </a:cubicBezTo>
                <a:cubicBezTo>
                  <a:pt x="54928" y="203299"/>
                  <a:pt x="66596" y="215325"/>
                  <a:pt x="72311" y="228600"/>
                </a:cubicBezTo>
                <a:lnTo>
                  <a:pt x="232410" y="228600"/>
                </a:lnTo>
                <a:close/>
                <a:moveTo>
                  <a:pt x="228600" y="257175"/>
                </a:moveTo>
                <a:lnTo>
                  <a:pt x="76200" y="257175"/>
                </a:lnTo>
                <a:lnTo>
                  <a:pt x="76200" y="266700"/>
                </a:lnTo>
                <a:cubicBezTo>
                  <a:pt x="76200" y="293013"/>
                  <a:pt x="104616" y="314325"/>
                  <a:pt x="139700" y="314325"/>
                </a:cubicBezTo>
                <a:lnTo>
                  <a:pt x="165100" y="314325"/>
                </a:lnTo>
                <a:cubicBezTo>
                  <a:pt x="200184" y="314325"/>
                  <a:pt x="228600" y="293013"/>
                  <a:pt x="228600" y="266700"/>
                </a:cubicBezTo>
                <a:lnTo>
                  <a:pt x="228600" y="257175"/>
                </a:lnTo>
                <a:close/>
                <a:moveTo>
                  <a:pt x="146050" y="66675"/>
                </a:moveTo>
                <a:cubicBezTo>
                  <a:pt x="114459" y="66675"/>
                  <a:pt x="88900" y="85844"/>
                  <a:pt x="88900" y="109537"/>
                </a:cubicBezTo>
                <a:cubicBezTo>
                  <a:pt x="88900" y="117455"/>
                  <a:pt x="80407" y="123825"/>
                  <a:pt x="69850" y="123825"/>
                </a:cubicBezTo>
                <a:cubicBezTo>
                  <a:pt x="59293" y="123825"/>
                  <a:pt x="50800" y="117455"/>
                  <a:pt x="50800" y="109537"/>
                </a:cubicBezTo>
                <a:cubicBezTo>
                  <a:pt x="50800" y="70068"/>
                  <a:pt x="93424" y="38100"/>
                  <a:pt x="146050" y="38100"/>
                </a:cubicBezTo>
                <a:cubicBezTo>
                  <a:pt x="156607" y="38100"/>
                  <a:pt x="165100" y="44470"/>
                  <a:pt x="165100" y="52388"/>
                </a:cubicBezTo>
                <a:cubicBezTo>
                  <a:pt x="165100" y="60305"/>
                  <a:pt x="156607" y="66675"/>
                  <a:pt x="146050" y="66675"/>
                </a:cubicBezTo>
                <a:close/>
              </a:path>
            </a:pathLst>
          </a:custGeom>
          <a:solidFill>
            <a:srgbClr val="F97316"/>
          </a:solidFill>
          <a:ln/>
        </p:spPr>
      </p:sp>
      <p:sp>
        <p:nvSpPr>
          <p:cNvPr id="30" name="Text 28"/>
          <p:cNvSpPr/>
          <p:nvPr/>
        </p:nvSpPr>
        <p:spPr>
          <a:xfrm>
            <a:off x="1524000" y="6540500"/>
            <a:ext cx="13716000" cy="762000"/>
          </a:xfrm>
          <a:prstGeom prst="rect">
            <a:avLst/>
          </a:prstGeom>
          <a:noFill/>
          <a:ln/>
        </p:spPr>
        <p:txBody>
          <a:bodyPr wrap="square" lIns="0" tIns="0" rIns="0" bIns="0" rtlCol="0" anchor="ctr"/>
          <a:lstStyle/>
          <a:p>
            <a:pPr algn="l">
              <a:lnSpc>
                <a:spcPct val="150000"/>
              </a:lnSpc>
            </a:pPr>
            <a:r>
              <a:rPr lang="en-US" sz="1600" b="1" dirty="0">
                <a:solidFill>
                  <a:srgbClr val="F1F5F9"/>
                </a:solidFill>
                <a:latin typeface="Quattrocento Sans" pitchFamily="34" charset="0"/>
                <a:ea typeface="Quattrocento Sans" pitchFamily="34" charset="-122"/>
                <a:cs typeface="Quattrocento Sans" pitchFamily="34" charset="-120"/>
              </a:rPr>
              <a:t>Méthodologie, pas bug</a:t>
            </a:r>
            <a:r>
              <a:rPr lang="en-US" sz="1600" dirty="0">
                <a:solidFill>
                  <a:srgbClr val="F1F5F9"/>
                </a:solidFill>
                <a:latin typeface="Quattrocento Sans" pitchFamily="34" charset="0"/>
                <a:ea typeface="Quattrocento Sans" pitchFamily="34" charset="-122"/>
                <a:cs typeface="Quattrocento Sans" pitchFamily="34" charset="-120"/>
              </a:rPr>
              <a:t> — L'échec de SGD et LAMB est un résultat attendu. Le benchmark compare des </a:t>
            </a:r>
            <a:r>
              <a:rPr lang="en-US" sz="1600" b="1" dirty="0">
                <a:solidFill>
                  <a:srgbClr val="F1F5F9"/>
                </a:solidFill>
                <a:latin typeface="Quattrocento Sans" pitchFamily="34" charset="0"/>
                <a:ea typeface="Quattrocento Sans" pitchFamily="34" charset="-122"/>
                <a:cs typeface="Quattrocento Sans" pitchFamily="34" charset="-120"/>
              </a:rPr>
              <a:t>configurations</a:t>
            </a:r>
            <a:r>
              <a:rPr lang="en-US" sz="1600" dirty="0">
                <a:solidFill>
                  <a:srgbClr val="F1F5F9"/>
                </a:solidFill>
                <a:latin typeface="Quattrocento Sans" pitchFamily="34" charset="0"/>
                <a:ea typeface="Quattrocento Sans" pitchFamily="34" charset="-122"/>
                <a:cs typeface="Quattrocento Sans" pitchFamily="34" charset="-120"/>
              </a:rPr>
              <a:t>, pas des algorithmes dans l'absolu. Un réglage spécifique aurait donné des résultats très différents.</a:t>
            </a:r>
            <a:endParaRPr lang="en-US" sz="1600" dirty="0"/>
          </a:p>
        </p:txBody>
      </p:sp>
      <p:sp>
        <p:nvSpPr>
          <p:cNvPr id="31" name="Text 29"/>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11</a:t>
            </a:r>
            <a:endParaRPr lang="en-US" sz="13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gradFill flip="none" rotWithShape="1">
          <a:gsLst>
            <a:gs pos="0">
              <a:srgbClr val="0B1D3A"/>
            </a:gs>
            <a:gs pos="100000">
              <a:srgbClr val="0F2847"/>
            </a:gs>
          </a:gsLst>
          <a:lin ang="8100000" scaled="1"/>
        </a:gradFill>
        <a:effectLst/>
      </p:bgPr>
    </p:bg>
    <p:spTree>
      <p:nvGrpSpPr>
        <p:cNvPr id="1" name=""/>
        <p:cNvGrpSpPr/>
        <p:nvPr/>
      </p:nvGrpSpPr>
      <p:grpSpPr>
        <a:xfrm>
          <a:off x="0" y="0"/>
          <a:ext cx="0" cy="0"/>
          <a:chOff x="0" y="0"/>
          <a:chExt cx="0" cy="0"/>
        </a:xfrm>
      </p:grpSpPr>
      <p:sp>
        <p:nvSpPr>
          <p:cNvPr id="2" name="Text 0"/>
          <p:cNvSpPr/>
          <p:nvPr/>
        </p:nvSpPr>
        <p:spPr>
          <a:xfrm>
            <a:off x="762000" y="2286000"/>
            <a:ext cx="3810000" cy="1206500"/>
          </a:xfrm>
          <a:prstGeom prst="rect">
            <a:avLst/>
          </a:prstGeom>
          <a:noFill/>
          <a:ln/>
        </p:spPr>
        <p:txBody>
          <a:bodyPr wrap="none" lIns="0" tIns="0" rIns="0" bIns="0" rtlCol="0" anchor="ctr"/>
          <a:lstStyle/>
          <a:p>
            <a:pPr algn="l">
              <a:lnSpc>
                <a:spcPct val="100000"/>
              </a:lnSpc>
            </a:pPr>
            <a:r>
              <a:rPr lang="en-US" sz="7200" dirty="0">
                <a:solidFill>
                  <a:srgbClr val="14B8A6"/>
                </a:solidFill>
                <a:latin typeface="Liter" pitchFamily="34" charset="0"/>
                <a:ea typeface="Liter" pitchFamily="34" charset="-122"/>
                <a:cs typeface="Liter" pitchFamily="34" charset="-120"/>
              </a:rPr>
              <a:t>04</a:t>
            </a:r>
            <a:endParaRPr lang="en-US" sz="7200" dirty="0"/>
          </a:p>
        </p:txBody>
      </p:sp>
      <p:sp>
        <p:nvSpPr>
          <p:cNvPr id="3" name="Shape 1"/>
          <p:cNvSpPr/>
          <p:nvPr/>
        </p:nvSpPr>
        <p:spPr>
          <a:xfrm>
            <a:off x="762000" y="3683000"/>
            <a:ext cx="1270000" cy="50800"/>
          </a:xfrm>
          <a:prstGeom prst="rect">
            <a:avLst/>
          </a:prstGeom>
          <a:solidFill>
            <a:srgbClr val="F97316"/>
          </a:solidFill>
          <a:ln/>
        </p:spPr>
      </p:sp>
      <p:sp>
        <p:nvSpPr>
          <p:cNvPr id="4" name="Text 2"/>
          <p:cNvSpPr/>
          <p:nvPr/>
        </p:nvSpPr>
        <p:spPr>
          <a:xfrm>
            <a:off x="762000" y="3937000"/>
            <a:ext cx="11430000" cy="635000"/>
          </a:xfrm>
          <a:prstGeom prst="rect">
            <a:avLst/>
          </a:prstGeom>
          <a:noFill/>
          <a:ln/>
        </p:spPr>
        <p:txBody>
          <a:bodyPr wrap="none" lIns="0" tIns="0" rIns="0" bIns="0" rtlCol="0" anchor="ctr"/>
          <a:lstStyle/>
          <a:p>
            <a:pPr algn="l">
              <a:lnSpc>
                <a:spcPct val="120000"/>
              </a:lnSpc>
            </a:pPr>
            <a:r>
              <a:rPr lang="en-US" sz="3600" b="1" kern="0" spc="200" dirty="0">
                <a:solidFill>
                  <a:srgbClr val="F1F5F9"/>
                </a:solidFill>
                <a:latin typeface="Liter" pitchFamily="34" charset="0"/>
                <a:ea typeface="Liter" pitchFamily="34" charset="-122"/>
                <a:cs typeface="Liter" pitchFamily="34" charset="-120"/>
              </a:rPr>
              <a:t>COMPRESSION ET ÉVALUATION EDGE</a:t>
            </a:r>
            <a:endParaRPr lang="en-US" sz="3600" dirty="0"/>
          </a:p>
        </p:txBody>
      </p:sp>
      <p:sp>
        <p:nvSpPr>
          <p:cNvPr id="5" name="Text 3"/>
          <p:cNvSpPr/>
          <p:nvPr/>
        </p:nvSpPr>
        <p:spPr>
          <a:xfrm>
            <a:off x="762000" y="4762500"/>
            <a:ext cx="11430000" cy="381000"/>
          </a:xfrm>
          <a:prstGeom prst="rect">
            <a:avLst/>
          </a:prstGeom>
          <a:noFill/>
          <a:ln/>
        </p:spPr>
        <p:txBody>
          <a:bodyPr wrap="none" lIns="0" tIns="0" rIns="0" bIns="0" rtlCol="0" anchor="ctr"/>
          <a:lstStyle/>
          <a:p>
            <a:pPr algn="l">
              <a:lnSpc>
                <a:spcPct val="160000"/>
              </a:lnSpc>
            </a:pPr>
            <a:r>
              <a:rPr lang="en-US" sz="2000" dirty="0">
                <a:solidFill>
                  <a:srgbClr val="94A3B8"/>
                </a:solidFill>
                <a:latin typeface="Quattrocento Sans" pitchFamily="34" charset="0"/>
                <a:ea typeface="Quattrocento Sans" pitchFamily="34" charset="-122"/>
                <a:cs typeface="Quattrocento Sans" pitchFamily="34" charset="-120"/>
              </a:rPr>
              <a:t>Quantification dynamique INT8 et mesure du compromis qualité-vitesse-mémoire</a:t>
            </a:r>
            <a:endParaRPr lang="en-US" sz="20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Text 3"/>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6" name="Shape 4"/>
          <p:cNvSpPr/>
          <p:nvPr/>
        </p:nvSpPr>
        <p:spPr>
          <a:xfrm>
            <a:off x="9753600" y="0"/>
            <a:ext cx="3251200" cy="457200"/>
          </a:xfrm>
          <a:prstGeom prst="rect">
            <a:avLst/>
          </a:prstGeom>
          <a:solidFill>
            <a:srgbClr val="14B8A6"/>
          </a:solidFill>
          <a:ln/>
        </p:spPr>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016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QUANTIFICATION DYNAMIQUE INT8</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587500"/>
            <a:ext cx="7112000" cy="3556000"/>
          </a:xfrm>
          <a:prstGeom prst="roundRect">
            <a:avLst>
              <a:gd name="adj" fmla="val 8000"/>
            </a:avLst>
          </a:prstGeom>
          <a:solidFill>
            <a:srgbClr val="1E3A5F"/>
          </a:solidFill>
          <a:ln w="12700">
            <a:solidFill>
              <a:srgbClr val="14B8A6"/>
            </a:solidFill>
            <a:prstDash val="solid"/>
          </a:ln>
        </p:spPr>
      </p:sp>
      <p:sp>
        <p:nvSpPr>
          <p:cNvPr id="12" name="Shape 10"/>
          <p:cNvSpPr/>
          <p:nvPr/>
        </p:nvSpPr>
        <p:spPr>
          <a:xfrm>
            <a:off x="762000" y="1587500"/>
            <a:ext cx="63500" cy="3556000"/>
          </a:xfrm>
          <a:prstGeom prst="rect">
            <a:avLst/>
          </a:prstGeom>
          <a:solidFill>
            <a:srgbClr val="14B8A6"/>
          </a:solidFill>
          <a:ln/>
        </p:spPr>
      </p:sp>
      <p:sp>
        <p:nvSpPr>
          <p:cNvPr id="13" name="Shape 11"/>
          <p:cNvSpPr/>
          <p:nvPr/>
        </p:nvSpPr>
        <p:spPr>
          <a:xfrm>
            <a:off x="1079500" y="1803400"/>
            <a:ext cx="355600" cy="355600"/>
          </a:xfrm>
          <a:custGeom>
            <a:avLst/>
            <a:gdLst/>
            <a:ahLst/>
            <a:cxnLst/>
            <a:rect l="l" t="t" r="r" b="b"/>
            <a:pathLst>
              <a:path w="355600" h="355600">
                <a:moveTo>
                  <a:pt x="127000" y="44450"/>
                </a:moveTo>
                <a:cubicBezTo>
                  <a:pt x="127000" y="32157"/>
                  <a:pt x="115649" y="22225"/>
                  <a:pt x="101600" y="22225"/>
                </a:cubicBezTo>
                <a:cubicBezTo>
                  <a:pt x="87551" y="22225"/>
                  <a:pt x="76200" y="32157"/>
                  <a:pt x="76200" y="44450"/>
                </a:cubicBezTo>
                <a:lnTo>
                  <a:pt x="76200" y="88900"/>
                </a:lnTo>
                <a:lnTo>
                  <a:pt x="25400" y="88900"/>
                </a:lnTo>
                <a:cubicBezTo>
                  <a:pt x="11351" y="88900"/>
                  <a:pt x="0" y="98832"/>
                  <a:pt x="0" y="111125"/>
                </a:cubicBezTo>
                <a:cubicBezTo>
                  <a:pt x="0" y="123418"/>
                  <a:pt x="11351" y="133350"/>
                  <a:pt x="25400" y="133350"/>
                </a:cubicBezTo>
                <a:lnTo>
                  <a:pt x="101600" y="133350"/>
                </a:lnTo>
                <a:cubicBezTo>
                  <a:pt x="115649" y="133350"/>
                  <a:pt x="127000" y="123418"/>
                  <a:pt x="127000" y="111125"/>
                </a:cubicBezTo>
                <a:lnTo>
                  <a:pt x="127000" y="44450"/>
                </a:lnTo>
                <a:close/>
                <a:moveTo>
                  <a:pt x="25400" y="222250"/>
                </a:moveTo>
                <a:cubicBezTo>
                  <a:pt x="11351" y="222250"/>
                  <a:pt x="0" y="232182"/>
                  <a:pt x="0" y="244475"/>
                </a:cubicBezTo>
                <a:cubicBezTo>
                  <a:pt x="0" y="256768"/>
                  <a:pt x="11351" y="266700"/>
                  <a:pt x="25400" y="266700"/>
                </a:cubicBezTo>
                <a:lnTo>
                  <a:pt x="76200" y="266700"/>
                </a:lnTo>
                <a:lnTo>
                  <a:pt x="76200" y="311150"/>
                </a:lnTo>
                <a:cubicBezTo>
                  <a:pt x="76200" y="323443"/>
                  <a:pt x="87551" y="333375"/>
                  <a:pt x="101600" y="333375"/>
                </a:cubicBezTo>
                <a:cubicBezTo>
                  <a:pt x="115649" y="333375"/>
                  <a:pt x="127000" y="323443"/>
                  <a:pt x="127000" y="311150"/>
                </a:cubicBezTo>
                <a:lnTo>
                  <a:pt x="127000" y="244475"/>
                </a:lnTo>
                <a:cubicBezTo>
                  <a:pt x="127000" y="232182"/>
                  <a:pt x="115649" y="222250"/>
                  <a:pt x="101600" y="222250"/>
                </a:cubicBezTo>
                <a:lnTo>
                  <a:pt x="25400" y="222250"/>
                </a:lnTo>
                <a:close/>
                <a:moveTo>
                  <a:pt x="279400" y="44450"/>
                </a:moveTo>
                <a:cubicBezTo>
                  <a:pt x="279400" y="32157"/>
                  <a:pt x="268049" y="22225"/>
                  <a:pt x="254000" y="22225"/>
                </a:cubicBezTo>
                <a:cubicBezTo>
                  <a:pt x="239951" y="22225"/>
                  <a:pt x="228600" y="32157"/>
                  <a:pt x="228600" y="44450"/>
                </a:cubicBezTo>
                <a:lnTo>
                  <a:pt x="228600" y="111125"/>
                </a:lnTo>
                <a:cubicBezTo>
                  <a:pt x="228600" y="123418"/>
                  <a:pt x="239951" y="133350"/>
                  <a:pt x="254000" y="133350"/>
                </a:cubicBezTo>
                <a:lnTo>
                  <a:pt x="330200" y="133350"/>
                </a:lnTo>
                <a:cubicBezTo>
                  <a:pt x="344249" y="133350"/>
                  <a:pt x="355600" y="123418"/>
                  <a:pt x="355600" y="111125"/>
                </a:cubicBezTo>
                <a:cubicBezTo>
                  <a:pt x="355600" y="98832"/>
                  <a:pt x="344249" y="88900"/>
                  <a:pt x="330200" y="88900"/>
                </a:cubicBezTo>
                <a:lnTo>
                  <a:pt x="279400" y="88900"/>
                </a:lnTo>
                <a:lnTo>
                  <a:pt x="279400" y="44450"/>
                </a:lnTo>
                <a:close/>
                <a:moveTo>
                  <a:pt x="254000" y="222250"/>
                </a:moveTo>
                <a:cubicBezTo>
                  <a:pt x="239951" y="222250"/>
                  <a:pt x="228600" y="232182"/>
                  <a:pt x="228600" y="244475"/>
                </a:cubicBezTo>
                <a:lnTo>
                  <a:pt x="228600" y="311150"/>
                </a:lnTo>
                <a:cubicBezTo>
                  <a:pt x="228600" y="323443"/>
                  <a:pt x="239951" y="333375"/>
                  <a:pt x="254000" y="333375"/>
                </a:cubicBezTo>
                <a:cubicBezTo>
                  <a:pt x="268049" y="333375"/>
                  <a:pt x="279400" y="323443"/>
                  <a:pt x="279400" y="311150"/>
                </a:cubicBezTo>
                <a:lnTo>
                  <a:pt x="279400" y="266700"/>
                </a:lnTo>
                <a:lnTo>
                  <a:pt x="330200" y="266700"/>
                </a:lnTo>
                <a:cubicBezTo>
                  <a:pt x="344249" y="266700"/>
                  <a:pt x="355600" y="256768"/>
                  <a:pt x="355600" y="244475"/>
                </a:cubicBezTo>
                <a:cubicBezTo>
                  <a:pt x="355600" y="232182"/>
                  <a:pt x="344249" y="222250"/>
                  <a:pt x="330200" y="222250"/>
                </a:cubicBezTo>
                <a:lnTo>
                  <a:pt x="254000" y="222250"/>
                </a:lnTo>
                <a:close/>
              </a:path>
            </a:pathLst>
          </a:custGeom>
          <a:solidFill>
            <a:srgbClr val="14B8A6"/>
          </a:solidFill>
          <a:ln/>
        </p:spPr>
      </p:sp>
      <p:sp>
        <p:nvSpPr>
          <p:cNvPr id="14" name="Text 12"/>
          <p:cNvSpPr/>
          <p:nvPr/>
        </p:nvSpPr>
        <p:spPr>
          <a:xfrm>
            <a:off x="1587500" y="1778000"/>
            <a:ext cx="5080000" cy="406400"/>
          </a:xfrm>
          <a:prstGeom prst="rect">
            <a:avLst/>
          </a:prstGeom>
          <a:noFill/>
          <a:ln/>
        </p:spPr>
        <p:txBody>
          <a:bodyPr wrap="none" lIns="0" tIns="0" rIns="0" bIns="0" rtlCol="0" anchor="ctr"/>
          <a:lstStyle/>
          <a:p>
            <a:pPr algn="l">
              <a:lnSpc>
                <a:spcPct val="130000"/>
              </a:lnSpc>
            </a:pPr>
            <a:r>
              <a:rPr lang="en-US" sz="2000" b="1" dirty="0">
                <a:solidFill>
                  <a:srgbClr val="14B8A6"/>
                </a:solidFill>
                <a:latin typeface="Liter" pitchFamily="34" charset="0"/>
                <a:ea typeface="Liter" pitchFamily="34" charset="-122"/>
                <a:cs typeface="Liter" pitchFamily="34" charset="-120"/>
              </a:rPr>
              <a:t>Principe de la quantification</a:t>
            </a:r>
            <a:endParaRPr lang="en-US" sz="2000" dirty="0"/>
          </a:p>
        </p:txBody>
      </p:sp>
      <p:sp>
        <p:nvSpPr>
          <p:cNvPr id="15" name="Text 13"/>
          <p:cNvSpPr/>
          <p:nvPr/>
        </p:nvSpPr>
        <p:spPr>
          <a:xfrm>
            <a:off x="1079500" y="2349500"/>
            <a:ext cx="6477000" cy="2540000"/>
          </a:xfrm>
          <a:prstGeom prst="rect">
            <a:avLst/>
          </a:prstGeom>
          <a:noFill/>
          <a:ln/>
        </p:spPr>
        <p:txBody>
          <a:bodyPr wrap="square" lIns="0" tIns="0" rIns="0" bIns="0" rtlCol="0" anchor="t"/>
          <a:lstStyle/>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Fonction : </a:t>
            </a:r>
            <a:r>
              <a:rPr lang="en-US" sz="1600" b="1" dirty="0">
                <a:solidFill>
                  <a:srgbClr val="F1F5F9"/>
                </a:solidFill>
                <a:latin typeface="Quattrocento Sans" pitchFamily="34" charset="0"/>
                <a:ea typeface="Quattrocento Sans" pitchFamily="34" charset="-122"/>
                <a:cs typeface="Quattrocento Sans" pitchFamily="34" charset="-120"/>
              </a:rPr>
              <a:t>torch.quantization.quantize_dynamic</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Conversion des poids </a:t>
            </a:r>
            <a:r>
              <a:rPr lang="en-US" sz="1600" b="1" dirty="0">
                <a:solidFill>
                  <a:srgbClr val="F1F5F9"/>
                </a:solidFill>
                <a:latin typeface="Quattrocento Sans" pitchFamily="34" charset="0"/>
                <a:ea typeface="Quattrocento Sans" pitchFamily="34" charset="-122"/>
                <a:cs typeface="Quattrocento Sans" pitchFamily="34" charset="-120"/>
              </a:rPr>
              <a:t>nn.Linear</a:t>
            </a:r>
            <a:r>
              <a:rPr lang="en-US" sz="1600" dirty="0">
                <a:solidFill>
                  <a:srgbClr val="F1F5F9"/>
                </a:solidFill>
                <a:latin typeface="Quattrocento Sans" pitchFamily="34" charset="0"/>
                <a:ea typeface="Quattrocento Sans" pitchFamily="34" charset="-122"/>
                <a:cs typeface="Quattrocento Sans" pitchFamily="34" charset="-120"/>
              </a:rPr>
              <a:t> en INT8</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Activations quantifiées </a:t>
            </a:r>
            <a:r>
              <a:rPr lang="en-US" sz="1600" b="1" dirty="0">
                <a:solidFill>
                  <a:srgbClr val="F1F5F9"/>
                </a:solidFill>
                <a:latin typeface="Quattrocento Sans" pitchFamily="34" charset="0"/>
                <a:ea typeface="Quattrocento Sans" pitchFamily="34" charset="-122"/>
                <a:cs typeface="Quattrocento Sans" pitchFamily="34" charset="-120"/>
              </a:rPr>
              <a:t>dynamiquement</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Échelles calculées </a:t>
            </a:r>
            <a:r>
              <a:rPr lang="en-US" sz="1600" b="1" dirty="0">
                <a:solidFill>
                  <a:srgbClr val="F1F5F9"/>
                </a:solidFill>
                <a:latin typeface="Quattrocento Sans" pitchFamily="34" charset="0"/>
                <a:ea typeface="Quattrocento Sans" pitchFamily="34" charset="-122"/>
                <a:cs typeface="Quattrocento Sans" pitchFamily="34" charset="-120"/>
              </a:rPr>
              <a:t>à la volée</a:t>
            </a:r>
            <a:r>
              <a:rPr lang="en-US" sz="1600" dirty="0">
                <a:solidFill>
                  <a:srgbClr val="F1F5F9"/>
                </a:solidFill>
                <a:latin typeface="Quattrocento Sans" pitchFamily="34" charset="0"/>
                <a:ea typeface="Quattrocento Sans" pitchFamily="34" charset="-122"/>
                <a:cs typeface="Quattrocento Sans" pitchFamily="34" charset="-120"/>
              </a:rPr>
              <a:t> par batch</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Aucune donnée de calibration</a:t>
            </a:r>
            <a:r>
              <a:rPr lang="en-US" sz="1600" dirty="0">
                <a:solidFill>
                  <a:srgbClr val="F1F5F9"/>
                </a:solidFill>
                <a:latin typeface="Quattrocento Sans" pitchFamily="34" charset="0"/>
                <a:ea typeface="Quattrocento Sans" pitchFamily="34" charset="-122"/>
                <a:cs typeface="Quattrocento Sans" pitchFamily="34" charset="-120"/>
              </a:rPr>
              <a:t> requise</a:t>
            </a:r>
            <a:endParaRPr lang="en-US" sz="1600" dirty="0"/>
          </a:p>
        </p:txBody>
      </p:sp>
      <p:sp>
        <p:nvSpPr>
          <p:cNvPr id="16" name="Shape 14"/>
          <p:cNvSpPr/>
          <p:nvPr/>
        </p:nvSpPr>
        <p:spPr>
          <a:xfrm>
            <a:off x="8128000" y="1587500"/>
            <a:ext cx="7366000" cy="3556000"/>
          </a:xfrm>
          <a:prstGeom prst="roundRect">
            <a:avLst>
              <a:gd name="adj" fmla="val 8000"/>
            </a:avLst>
          </a:prstGeom>
          <a:solidFill>
            <a:srgbClr val="1E3A5F"/>
          </a:solidFill>
          <a:ln w="12700">
            <a:solidFill>
              <a:srgbClr val="F97316"/>
            </a:solidFill>
            <a:prstDash val="solid"/>
          </a:ln>
        </p:spPr>
      </p:sp>
      <p:sp>
        <p:nvSpPr>
          <p:cNvPr id="17" name="Shape 15"/>
          <p:cNvSpPr/>
          <p:nvPr/>
        </p:nvSpPr>
        <p:spPr>
          <a:xfrm>
            <a:off x="8128000" y="1587500"/>
            <a:ext cx="63500" cy="3556000"/>
          </a:xfrm>
          <a:prstGeom prst="rect">
            <a:avLst/>
          </a:prstGeom>
          <a:solidFill>
            <a:srgbClr val="F97316"/>
          </a:solidFill>
          <a:ln/>
        </p:spPr>
      </p:sp>
      <p:sp>
        <p:nvSpPr>
          <p:cNvPr id="18" name="Shape 16"/>
          <p:cNvSpPr/>
          <p:nvPr/>
        </p:nvSpPr>
        <p:spPr>
          <a:xfrm>
            <a:off x="8445500" y="1803400"/>
            <a:ext cx="355600" cy="355600"/>
          </a:xfrm>
          <a:custGeom>
            <a:avLst/>
            <a:gdLst/>
            <a:ahLst/>
            <a:cxnLst/>
            <a:rect l="l" t="t" r="r" b="b"/>
            <a:pathLst>
              <a:path w="355600" h="355600">
                <a:moveTo>
                  <a:pt x="177800" y="-11112"/>
                </a:moveTo>
                <a:cubicBezTo>
                  <a:pt x="188727" y="-11112"/>
                  <a:pt x="197556" y="-1181"/>
                  <a:pt x="197556" y="11112"/>
                </a:cubicBezTo>
                <a:lnTo>
                  <a:pt x="197556" y="23822"/>
                </a:lnTo>
                <a:cubicBezTo>
                  <a:pt x="258119" y="33546"/>
                  <a:pt x="306026" y="87441"/>
                  <a:pt x="314669" y="155575"/>
                </a:cubicBezTo>
                <a:lnTo>
                  <a:pt x="325967" y="155575"/>
                </a:lnTo>
                <a:cubicBezTo>
                  <a:pt x="336894" y="155575"/>
                  <a:pt x="345722" y="165507"/>
                  <a:pt x="345722" y="177800"/>
                </a:cubicBezTo>
                <a:cubicBezTo>
                  <a:pt x="345722" y="190093"/>
                  <a:pt x="336894" y="200025"/>
                  <a:pt x="325967" y="200025"/>
                </a:cubicBezTo>
                <a:lnTo>
                  <a:pt x="314669" y="200025"/>
                </a:lnTo>
                <a:cubicBezTo>
                  <a:pt x="306026" y="268159"/>
                  <a:pt x="258119" y="322054"/>
                  <a:pt x="197556" y="331778"/>
                </a:cubicBezTo>
                <a:lnTo>
                  <a:pt x="197556" y="344488"/>
                </a:lnTo>
                <a:cubicBezTo>
                  <a:pt x="197556" y="356781"/>
                  <a:pt x="188727" y="366712"/>
                  <a:pt x="177800" y="366712"/>
                </a:cubicBezTo>
                <a:cubicBezTo>
                  <a:pt x="166873" y="366712"/>
                  <a:pt x="158044" y="356781"/>
                  <a:pt x="158044" y="344488"/>
                </a:cubicBezTo>
                <a:lnTo>
                  <a:pt x="158044" y="331778"/>
                </a:lnTo>
                <a:cubicBezTo>
                  <a:pt x="97481" y="322054"/>
                  <a:pt x="49574" y="268159"/>
                  <a:pt x="40931" y="200025"/>
                </a:cubicBezTo>
                <a:lnTo>
                  <a:pt x="29633" y="200025"/>
                </a:lnTo>
                <a:cubicBezTo>
                  <a:pt x="18706" y="200025"/>
                  <a:pt x="9878" y="190093"/>
                  <a:pt x="9878" y="177800"/>
                </a:cubicBezTo>
                <a:cubicBezTo>
                  <a:pt x="9878" y="165507"/>
                  <a:pt x="18706" y="155575"/>
                  <a:pt x="29633" y="155575"/>
                </a:cubicBezTo>
                <a:lnTo>
                  <a:pt x="40931" y="155575"/>
                </a:lnTo>
                <a:cubicBezTo>
                  <a:pt x="49574" y="87441"/>
                  <a:pt x="97481" y="33546"/>
                  <a:pt x="158044" y="23822"/>
                </a:cubicBezTo>
                <a:lnTo>
                  <a:pt x="158044" y="11112"/>
                </a:lnTo>
                <a:cubicBezTo>
                  <a:pt x="158044" y="-1181"/>
                  <a:pt x="166873" y="-11112"/>
                  <a:pt x="177800" y="-11112"/>
                </a:cubicBezTo>
                <a:close/>
                <a:moveTo>
                  <a:pt x="80998" y="200025"/>
                </a:moveTo>
                <a:cubicBezTo>
                  <a:pt x="88838" y="243572"/>
                  <a:pt x="119336" y="277882"/>
                  <a:pt x="158044" y="286703"/>
                </a:cubicBezTo>
                <a:lnTo>
                  <a:pt x="158044" y="277813"/>
                </a:lnTo>
                <a:cubicBezTo>
                  <a:pt x="158044" y="265519"/>
                  <a:pt x="166873" y="255587"/>
                  <a:pt x="177800" y="255587"/>
                </a:cubicBezTo>
                <a:cubicBezTo>
                  <a:pt x="188727" y="255587"/>
                  <a:pt x="197556" y="265519"/>
                  <a:pt x="197556" y="277813"/>
                </a:cubicBezTo>
                <a:lnTo>
                  <a:pt x="197556" y="286703"/>
                </a:lnTo>
                <a:cubicBezTo>
                  <a:pt x="236264" y="277882"/>
                  <a:pt x="266762" y="243572"/>
                  <a:pt x="274602" y="200025"/>
                </a:cubicBezTo>
                <a:lnTo>
                  <a:pt x="266700" y="200025"/>
                </a:lnTo>
                <a:cubicBezTo>
                  <a:pt x="255773" y="200025"/>
                  <a:pt x="246944" y="190093"/>
                  <a:pt x="246944" y="177800"/>
                </a:cubicBezTo>
                <a:cubicBezTo>
                  <a:pt x="246944" y="165507"/>
                  <a:pt x="255773" y="155575"/>
                  <a:pt x="266700" y="155575"/>
                </a:cubicBezTo>
                <a:lnTo>
                  <a:pt x="274602" y="155575"/>
                </a:lnTo>
                <a:cubicBezTo>
                  <a:pt x="266762" y="112028"/>
                  <a:pt x="236264" y="77718"/>
                  <a:pt x="197556" y="68898"/>
                </a:cubicBezTo>
                <a:lnTo>
                  <a:pt x="197556" y="77788"/>
                </a:lnTo>
                <a:cubicBezTo>
                  <a:pt x="197556" y="90081"/>
                  <a:pt x="188727" y="100013"/>
                  <a:pt x="177800" y="100013"/>
                </a:cubicBezTo>
                <a:cubicBezTo>
                  <a:pt x="166873" y="100013"/>
                  <a:pt x="158044" y="90081"/>
                  <a:pt x="158044" y="77788"/>
                </a:cubicBezTo>
                <a:lnTo>
                  <a:pt x="158044" y="68898"/>
                </a:lnTo>
                <a:cubicBezTo>
                  <a:pt x="119336" y="77718"/>
                  <a:pt x="88838" y="112028"/>
                  <a:pt x="80998" y="155575"/>
                </a:cubicBezTo>
                <a:lnTo>
                  <a:pt x="88900" y="155575"/>
                </a:lnTo>
                <a:cubicBezTo>
                  <a:pt x="99827" y="155575"/>
                  <a:pt x="108656" y="165507"/>
                  <a:pt x="108656" y="177800"/>
                </a:cubicBezTo>
                <a:cubicBezTo>
                  <a:pt x="108656" y="190093"/>
                  <a:pt x="99827" y="200025"/>
                  <a:pt x="88900" y="200025"/>
                </a:cubicBezTo>
                <a:lnTo>
                  <a:pt x="80998" y="200025"/>
                </a:lnTo>
                <a:close/>
                <a:moveTo>
                  <a:pt x="177800" y="144463"/>
                </a:moveTo>
                <a:cubicBezTo>
                  <a:pt x="194155" y="144463"/>
                  <a:pt x="207433" y="159401"/>
                  <a:pt x="207433" y="177800"/>
                </a:cubicBezTo>
                <a:cubicBezTo>
                  <a:pt x="207433" y="196199"/>
                  <a:pt x="194155" y="211138"/>
                  <a:pt x="177800" y="211138"/>
                </a:cubicBezTo>
                <a:cubicBezTo>
                  <a:pt x="161445" y="211138"/>
                  <a:pt x="148167" y="196199"/>
                  <a:pt x="148167" y="177800"/>
                </a:cubicBezTo>
                <a:cubicBezTo>
                  <a:pt x="148167" y="159401"/>
                  <a:pt x="161445" y="144463"/>
                  <a:pt x="177800" y="144463"/>
                </a:cubicBezTo>
                <a:close/>
              </a:path>
            </a:pathLst>
          </a:custGeom>
          <a:solidFill>
            <a:srgbClr val="F97316"/>
          </a:solidFill>
          <a:ln/>
        </p:spPr>
      </p:sp>
      <p:sp>
        <p:nvSpPr>
          <p:cNvPr id="19" name="Text 17"/>
          <p:cNvSpPr/>
          <p:nvPr/>
        </p:nvSpPr>
        <p:spPr>
          <a:xfrm>
            <a:off x="8953500" y="1778000"/>
            <a:ext cx="5080000" cy="406400"/>
          </a:xfrm>
          <a:prstGeom prst="rect">
            <a:avLst/>
          </a:prstGeom>
          <a:noFill/>
          <a:ln/>
        </p:spPr>
        <p:txBody>
          <a:bodyPr wrap="none" lIns="0" tIns="0" rIns="0" bIns="0" rtlCol="0" anchor="ctr"/>
          <a:lstStyle/>
          <a:p>
            <a:pPr algn="l">
              <a:lnSpc>
                <a:spcPct val="130000"/>
              </a:lnSpc>
            </a:pPr>
            <a:r>
              <a:rPr lang="en-US" sz="2000" b="1" dirty="0">
                <a:solidFill>
                  <a:srgbClr val="F97316"/>
                </a:solidFill>
                <a:latin typeface="Liter" pitchFamily="34" charset="0"/>
                <a:ea typeface="Liter" pitchFamily="34" charset="-122"/>
                <a:cs typeface="Liter" pitchFamily="34" charset="-120"/>
              </a:rPr>
              <a:t>Couches ciblées</a:t>
            </a:r>
            <a:endParaRPr lang="en-US" sz="2000" dirty="0"/>
          </a:p>
        </p:txBody>
      </p:sp>
      <p:sp>
        <p:nvSpPr>
          <p:cNvPr id="20" name="Text 18"/>
          <p:cNvSpPr/>
          <p:nvPr/>
        </p:nvSpPr>
        <p:spPr>
          <a:xfrm>
            <a:off x="8445500" y="2349500"/>
            <a:ext cx="6731000" cy="2540000"/>
          </a:xfrm>
          <a:prstGeom prst="rect">
            <a:avLst/>
          </a:prstGeom>
          <a:noFill/>
          <a:ln/>
        </p:spPr>
        <p:txBody>
          <a:bodyPr wrap="square" lIns="0" tIns="0" rIns="0" bIns="0" rtlCol="0" anchor="t"/>
          <a:lstStyle/>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Projections d'attention</a:t>
            </a:r>
            <a:r>
              <a:rPr lang="en-US" sz="1600" dirty="0">
                <a:solidFill>
                  <a:srgbClr val="F1F5F9"/>
                </a:solidFill>
                <a:latin typeface="Quattrocento Sans" pitchFamily="34" charset="0"/>
                <a:ea typeface="Quattrocento Sans" pitchFamily="34" charset="-122"/>
                <a:cs typeface="Quattrocento Sans" pitchFamily="34" charset="-120"/>
              </a:rPr>
              <a:t> (nn.Linear)</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Réseaux feed-forward</a:t>
            </a:r>
            <a:r>
              <a:rPr lang="en-US" sz="1600" dirty="0">
                <a:solidFill>
                  <a:srgbClr val="F1F5F9"/>
                </a:solidFill>
                <a:latin typeface="Quattrocento Sans" pitchFamily="34" charset="0"/>
                <a:ea typeface="Quattrocento Sans" pitchFamily="34" charset="-122"/>
                <a:cs typeface="Quattrocento Sans" pitchFamily="34" charset="-120"/>
              </a:rPr>
              <a:t> (nn.Linear)</a:t>
            </a:r>
            <a:endParaRPr lang="en-US" sz="1600" dirty="0"/>
          </a:p>
          <a:p>
            <a:pPr algn="l">
              <a:lnSpc>
                <a:spcPct val="170000"/>
              </a:lnSpc>
            </a:pPr>
            <a:r>
              <a:rPr lang="en-US" sz="1600" dirty="0">
                <a:solidFill>
                  <a:srgbClr val="F1F5F9"/>
                </a:solidFill>
                <a:latin typeface="Quattrocento Sans" pitchFamily="34" charset="0"/>
                <a:ea typeface="Quattrocento Sans" pitchFamily="34" charset="-122"/>
                <a:cs typeface="Quattrocento Sans" pitchFamily="34" charset="-120"/>
              </a:rPr>
              <a:t>• Constituent l'essentiel du coût computationnel</a:t>
            </a:r>
            <a:endParaRPr lang="en-US" sz="1600" dirty="0"/>
          </a:p>
          <a:p>
            <a:pPr algn="l">
              <a:lnSpc>
                <a:spcPct val="170000"/>
              </a:lnSpc>
              <a:spcBef>
                <a:spcPts val="1000"/>
              </a:spcBef>
            </a:pPr>
            <a:r>
              <a:rPr lang="en-US" sz="1600" dirty="0">
                <a:solidFill>
                  <a:srgbClr val="F1F5F9"/>
                </a:solidFill>
                <a:latin typeface="Quattrocento Sans" pitchFamily="34" charset="0"/>
                <a:ea typeface="Quattrocento Sans" pitchFamily="34" charset="-122"/>
                <a:cs typeface="Quattrocento Sans" pitchFamily="34" charset="-120"/>
              </a:rPr>
              <a:t>Modèle retenu : meilleur F1 du benchmark (</a:t>
            </a:r>
            <a:r>
              <a:rPr lang="en-US" sz="1600" b="1" dirty="0">
                <a:solidFill>
                  <a:srgbClr val="F1F5F9"/>
                </a:solidFill>
                <a:latin typeface="Quattrocento Sans" pitchFamily="34" charset="0"/>
                <a:ea typeface="Quattrocento Sans" pitchFamily="34" charset="-122"/>
                <a:cs typeface="Quattrocento Sans" pitchFamily="34" charset="-120"/>
              </a:rPr>
              <a:t>AdamW</a:t>
            </a:r>
            <a:r>
              <a:rPr lang="en-US" sz="1600" dirty="0">
                <a:solidFill>
                  <a:srgbClr val="F1F5F9"/>
                </a:solidFill>
                <a:latin typeface="Quattrocento Sans" pitchFamily="34" charset="0"/>
                <a:ea typeface="Quattrocento Sans" pitchFamily="34" charset="-122"/>
                <a:cs typeface="Quattrocento Sans" pitchFamily="34" charset="-120"/>
              </a:rPr>
              <a:t>)</a:t>
            </a:r>
            <a:endParaRPr lang="en-US" sz="1600" dirty="0"/>
          </a:p>
        </p:txBody>
      </p:sp>
      <p:sp>
        <p:nvSpPr>
          <p:cNvPr id="21" name="Shape 19"/>
          <p:cNvSpPr/>
          <p:nvPr/>
        </p:nvSpPr>
        <p:spPr>
          <a:xfrm>
            <a:off x="762000" y="5397500"/>
            <a:ext cx="14732000" cy="1270000"/>
          </a:xfrm>
          <a:prstGeom prst="roundRect">
            <a:avLst>
              <a:gd name="adj" fmla="val 6000"/>
            </a:avLst>
          </a:prstGeom>
          <a:solidFill>
            <a:srgbClr val="152D4D"/>
          </a:solidFill>
          <a:ln w="12700">
            <a:solidFill>
              <a:srgbClr val="14B8A6"/>
            </a:solidFill>
            <a:prstDash val="solid"/>
          </a:ln>
        </p:spPr>
      </p:sp>
      <p:sp>
        <p:nvSpPr>
          <p:cNvPr id="22" name="Shape 20"/>
          <p:cNvSpPr/>
          <p:nvPr/>
        </p:nvSpPr>
        <p:spPr>
          <a:xfrm>
            <a:off x="1079500" y="5715000"/>
            <a:ext cx="304800" cy="304800"/>
          </a:xfrm>
          <a:custGeom>
            <a:avLst/>
            <a:gdLst/>
            <a:ahLst/>
            <a:cxnLst/>
            <a:rect l="l" t="t" r="r" b="b"/>
            <a:pathLst>
              <a:path w="304800" h="304800">
                <a:moveTo>
                  <a:pt x="152400" y="304800"/>
                </a:moveTo>
                <a:cubicBezTo>
                  <a:pt x="236512" y="304800"/>
                  <a:pt x="304800" y="236512"/>
                  <a:pt x="304800" y="152400"/>
                </a:cubicBezTo>
                <a:cubicBezTo>
                  <a:pt x="304800" y="68288"/>
                  <a:pt x="236512" y="0"/>
                  <a:pt x="152400" y="0"/>
                </a:cubicBezTo>
                <a:cubicBezTo>
                  <a:pt x="68288" y="0"/>
                  <a:pt x="0" y="68288"/>
                  <a:pt x="0" y="152400"/>
                </a:cubicBezTo>
                <a:cubicBezTo>
                  <a:pt x="0" y="236512"/>
                  <a:pt x="68288" y="304800"/>
                  <a:pt x="152400" y="304800"/>
                </a:cubicBezTo>
                <a:close/>
                <a:moveTo>
                  <a:pt x="202644" y="126623"/>
                </a:moveTo>
                <a:lnTo>
                  <a:pt x="155019" y="202823"/>
                </a:lnTo>
                <a:cubicBezTo>
                  <a:pt x="152519" y="206812"/>
                  <a:pt x="148233" y="209312"/>
                  <a:pt x="143530" y="209550"/>
                </a:cubicBezTo>
                <a:cubicBezTo>
                  <a:pt x="138827" y="209788"/>
                  <a:pt x="134302" y="207645"/>
                  <a:pt x="131505" y="203835"/>
                </a:cubicBezTo>
                <a:lnTo>
                  <a:pt x="102930" y="165735"/>
                </a:lnTo>
                <a:cubicBezTo>
                  <a:pt x="98167" y="159425"/>
                  <a:pt x="99477" y="150495"/>
                  <a:pt x="105787" y="145733"/>
                </a:cubicBezTo>
                <a:cubicBezTo>
                  <a:pt x="112097" y="140970"/>
                  <a:pt x="121027" y="142280"/>
                  <a:pt x="125790" y="148590"/>
                </a:cubicBezTo>
                <a:lnTo>
                  <a:pt x="141863" y="170021"/>
                </a:lnTo>
                <a:lnTo>
                  <a:pt x="178415" y="111502"/>
                </a:lnTo>
                <a:cubicBezTo>
                  <a:pt x="182582" y="104835"/>
                  <a:pt x="191393" y="102751"/>
                  <a:pt x="198120" y="106978"/>
                </a:cubicBezTo>
                <a:cubicBezTo>
                  <a:pt x="204847" y="111204"/>
                  <a:pt x="206871" y="119955"/>
                  <a:pt x="202644" y="126683"/>
                </a:cubicBezTo>
                <a:close/>
              </a:path>
            </a:pathLst>
          </a:custGeom>
          <a:solidFill>
            <a:srgbClr val="14B8A6"/>
          </a:solidFill>
          <a:ln/>
        </p:spPr>
      </p:sp>
      <p:sp>
        <p:nvSpPr>
          <p:cNvPr id="23" name="Text 21"/>
          <p:cNvSpPr/>
          <p:nvPr/>
        </p:nvSpPr>
        <p:spPr>
          <a:xfrm>
            <a:off x="1524000" y="5651500"/>
            <a:ext cx="5080000" cy="406400"/>
          </a:xfrm>
          <a:prstGeom prst="rect">
            <a:avLst/>
          </a:prstGeom>
          <a:noFill/>
          <a:ln/>
        </p:spPr>
        <p:txBody>
          <a:bodyPr wrap="none" lIns="0" tIns="0" rIns="0" bIns="0" rtlCol="0" anchor="ctr"/>
          <a:lstStyle/>
          <a:p>
            <a:pPr algn="l">
              <a:lnSpc>
                <a:spcPct val="130000"/>
              </a:lnSpc>
            </a:pPr>
            <a:r>
              <a:rPr lang="en-US" sz="1600" b="1" dirty="0">
                <a:solidFill>
                  <a:srgbClr val="14B8A6"/>
                </a:solidFill>
                <a:latin typeface="Liter" pitchFamily="34" charset="0"/>
                <a:ea typeface="Liter" pitchFamily="34" charset="-122"/>
                <a:cs typeface="Liter" pitchFamily="34" charset="-120"/>
              </a:rPr>
              <a:t>Avantage clé</a:t>
            </a:r>
            <a:endParaRPr lang="en-US" sz="1600" dirty="0"/>
          </a:p>
        </p:txBody>
      </p:sp>
      <p:sp>
        <p:nvSpPr>
          <p:cNvPr id="24" name="Text 22"/>
          <p:cNvSpPr/>
          <p:nvPr/>
        </p:nvSpPr>
        <p:spPr>
          <a:xfrm>
            <a:off x="1079500" y="6096000"/>
            <a:ext cx="14097000" cy="406400"/>
          </a:xfrm>
          <a:prstGeom prst="rect">
            <a:avLst/>
          </a:prstGeom>
          <a:noFill/>
          <a:ln/>
        </p:spPr>
        <p:txBody>
          <a:bodyPr wrap="square" lIns="0" tIns="0" rIns="0" bIns="0" rtlCol="0" anchor="ctr"/>
          <a:lstStyle/>
          <a:p>
            <a:pPr algn="l">
              <a:lnSpc>
                <a:spcPct val="140000"/>
              </a:lnSpc>
            </a:pPr>
            <a:r>
              <a:rPr lang="en-US" sz="1500" dirty="0">
                <a:solidFill>
                  <a:srgbClr val="F1F5F9"/>
                </a:solidFill>
                <a:latin typeface="Quattrocento Sans" pitchFamily="34" charset="0"/>
                <a:ea typeface="Quattrocento Sans" pitchFamily="34" charset="-122"/>
                <a:cs typeface="Quattrocento Sans" pitchFamily="34" charset="-120"/>
              </a:rPr>
              <a:t>Simplicité de mise en œuvre idéale pour un contexte académique — pas de pipeline de calibration, pas de jeu de données représentatif nécessaire</a:t>
            </a:r>
            <a:endParaRPr lang="en-US" sz="1500" dirty="0"/>
          </a:p>
        </p:txBody>
      </p:sp>
      <p:sp>
        <p:nvSpPr>
          <p:cNvPr id="25" name="Text 23"/>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13</a:t>
            </a:r>
            <a:endParaRPr lang="en-US" sz="13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Text 3"/>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6" name="Shape 4"/>
          <p:cNvSpPr/>
          <p:nvPr/>
        </p:nvSpPr>
        <p:spPr>
          <a:xfrm>
            <a:off x="9753600" y="0"/>
            <a:ext cx="3251200" cy="457200"/>
          </a:xfrm>
          <a:prstGeom prst="rect">
            <a:avLst/>
          </a:prstGeom>
          <a:solidFill>
            <a:srgbClr val="14B8A6"/>
          </a:solidFill>
          <a:ln/>
        </p:spPr>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016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RÉSULTATS EDGE — FP32 VS INT8</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587500"/>
            <a:ext cx="3492500" cy="2540000"/>
          </a:xfrm>
          <a:prstGeom prst="roundRect">
            <a:avLst>
              <a:gd name="adj" fmla="val 8000"/>
            </a:avLst>
          </a:prstGeom>
          <a:solidFill>
            <a:srgbClr val="1E3A5F"/>
          </a:solidFill>
          <a:ln w="12700">
            <a:solidFill>
              <a:srgbClr val="2D5A8E"/>
            </a:solidFill>
            <a:prstDash val="solid"/>
          </a:ln>
        </p:spPr>
      </p:sp>
      <p:sp>
        <p:nvSpPr>
          <p:cNvPr id="12" name="Shape 10"/>
          <p:cNvSpPr/>
          <p:nvPr/>
        </p:nvSpPr>
        <p:spPr>
          <a:xfrm>
            <a:off x="1016000" y="1841500"/>
            <a:ext cx="355600" cy="355600"/>
          </a:xfrm>
          <a:custGeom>
            <a:avLst/>
            <a:gdLst/>
            <a:ahLst/>
            <a:cxnLst/>
            <a:rect l="l" t="t" r="r" b="b"/>
            <a:pathLst>
              <a:path w="355600" h="355600">
                <a:moveTo>
                  <a:pt x="50800" y="22225"/>
                </a:moveTo>
                <a:cubicBezTo>
                  <a:pt x="22781" y="22225"/>
                  <a:pt x="0" y="42158"/>
                  <a:pt x="0" y="66675"/>
                </a:cubicBezTo>
                <a:lnTo>
                  <a:pt x="0" y="180648"/>
                </a:lnTo>
                <a:cubicBezTo>
                  <a:pt x="14367" y="171827"/>
                  <a:pt x="31909" y="166688"/>
                  <a:pt x="50800" y="166688"/>
                </a:cubicBezTo>
                <a:lnTo>
                  <a:pt x="304800" y="166688"/>
                </a:lnTo>
                <a:cubicBezTo>
                  <a:pt x="323691" y="166688"/>
                  <a:pt x="341233" y="171827"/>
                  <a:pt x="355600" y="180648"/>
                </a:cubicBezTo>
                <a:lnTo>
                  <a:pt x="355600" y="66675"/>
                </a:lnTo>
                <a:cubicBezTo>
                  <a:pt x="355600" y="42158"/>
                  <a:pt x="332819" y="22225"/>
                  <a:pt x="304800" y="22225"/>
                </a:cubicBezTo>
                <a:lnTo>
                  <a:pt x="50800" y="22225"/>
                </a:lnTo>
                <a:close/>
                <a:moveTo>
                  <a:pt x="355600" y="244475"/>
                </a:moveTo>
                <a:cubicBezTo>
                  <a:pt x="355600" y="219958"/>
                  <a:pt x="332819" y="200025"/>
                  <a:pt x="304800" y="200025"/>
                </a:cubicBezTo>
                <a:lnTo>
                  <a:pt x="50800" y="200025"/>
                </a:lnTo>
                <a:cubicBezTo>
                  <a:pt x="22781" y="200025"/>
                  <a:pt x="0" y="219958"/>
                  <a:pt x="0" y="244475"/>
                </a:cubicBezTo>
                <a:lnTo>
                  <a:pt x="0" y="288925"/>
                </a:lnTo>
                <a:cubicBezTo>
                  <a:pt x="0" y="313442"/>
                  <a:pt x="22781" y="333375"/>
                  <a:pt x="50800" y="333375"/>
                </a:cubicBezTo>
                <a:lnTo>
                  <a:pt x="304800" y="333375"/>
                </a:lnTo>
                <a:cubicBezTo>
                  <a:pt x="332819" y="333375"/>
                  <a:pt x="355600" y="313442"/>
                  <a:pt x="355600" y="288925"/>
                </a:cubicBezTo>
                <a:lnTo>
                  <a:pt x="355600" y="244475"/>
                </a:lnTo>
                <a:close/>
                <a:moveTo>
                  <a:pt x="177800" y="266700"/>
                </a:moveTo>
                <a:cubicBezTo>
                  <a:pt x="177800" y="254434"/>
                  <a:pt x="189181" y="244475"/>
                  <a:pt x="203200" y="244475"/>
                </a:cubicBezTo>
                <a:cubicBezTo>
                  <a:pt x="217219" y="244475"/>
                  <a:pt x="228600" y="254434"/>
                  <a:pt x="228600" y="266700"/>
                </a:cubicBezTo>
                <a:cubicBezTo>
                  <a:pt x="228600" y="278966"/>
                  <a:pt x="217219" y="288925"/>
                  <a:pt x="203200" y="288925"/>
                </a:cubicBezTo>
                <a:cubicBezTo>
                  <a:pt x="189181" y="288925"/>
                  <a:pt x="177800" y="278966"/>
                  <a:pt x="177800" y="266700"/>
                </a:cubicBezTo>
                <a:close/>
                <a:moveTo>
                  <a:pt x="279400" y="244475"/>
                </a:moveTo>
                <a:cubicBezTo>
                  <a:pt x="293419" y="244475"/>
                  <a:pt x="304800" y="254434"/>
                  <a:pt x="304800" y="266700"/>
                </a:cubicBezTo>
                <a:cubicBezTo>
                  <a:pt x="304800" y="278966"/>
                  <a:pt x="293419" y="288925"/>
                  <a:pt x="279400" y="288925"/>
                </a:cubicBezTo>
                <a:cubicBezTo>
                  <a:pt x="265381" y="288925"/>
                  <a:pt x="254000" y="278966"/>
                  <a:pt x="254000" y="266700"/>
                </a:cubicBezTo>
                <a:cubicBezTo>
                  <a:pt x="254000" y="254434"/>
                  <a:pt x="265381" y="244475"/>
                  <a:pt x="279400" y="244475"/>
                </a:cubicBezTo>
                <a:close/>
              </a:path>
            </a:pathLst>
          </a:custGeom>
          <a:solidFill>
            <a:srgbClr val="14B8A6"/>
          </a:solidFill>
          <a:ln/>
        </p:spPr>
      </p:sp>
      <p:sp>
        <p:nvSpPr>
          <p:cNvPr id="13" name="Text 11"/>
          <p:cNvSpPr/>
          <p:nvPr/>
        </p:nvSpPr>
        <p:spPr>
          <a:xfrm>
            <a:off x="1498600" y="1841500"/>
            <a:ext cx="2540000" cy="355600"/>
          </a:xfrm>
          <a:prstGeom prst="rect">
            <a:avLst/>
          </a:prstGeom>
          <a:noFill/>
          <a:ln/>
        </p:spPr>
        <p:txBody>
          <a:bodyPr wrap="none" lIns="0" tIns="0" rIns="0" bIns="0" rtlCol="0" anchor="ctr"/>
          <a:lstStyle/>
          <a:p>
            <a:pPr algn="l">
              <a:lnSpc>
                <a:spcPct val="120000"/>
              </a:lnSpc>
            </a:pPr>
            <a:r>
              <a:rPr lang="en-US" sz="1400" dirty="0">
                <a:solidFill>
                  <a:srgbClr val="94A3B8"/>
                </a:solidFill>
                <a:latin typeface="Liter" pitchFamily="34" charset="0"/>
                <a:ea typeface="Liter" pitchFamily="34" charset="-122"/>
                <a:cs typeface="Liter" pitchFamily="34" charset="-120"/>
              </a:rPr>
              <a:t>TAILLE DISQUE</a:t>
            </a:r>
            <a:endParaRPr lang="en-US" sz="1400" dirty="0"/>
          </a:p>
        </p:txBody>
      </p:sp>
      <p:sp>
        <p:nvSpPr>
          <p:cNvPr id="14" name="Text 12"/>
          <p:cNvSpPr/>
          <p:nvPr/>
        </p:nvSpPr>
        <p:spPr>
          <a:xfrm>
            <a:off x="1016000" y="2349500"/>
            <a:ext cx="2984500" cy="381000"/>
          </a:xfrm>
          <a:prstGeom prst="rect">
            <a:avLst/>
          </a:prstGeom>
          <a:noFill/>
          <a:ln/>
        </p:spPr>
        <p:txBody>
          <a:bodyPr wrap="none" lIns="0" tIns="0" rIns="0" bIns="0" rtlCol="0" anchor="ctr"/>
          <a:lstStyle/>
          <a:p>
            <a:pPr algn="l">
              <a:lnSpc>
                <a:spcPct val="120000"/>
              </a:lnSpc>
            </a:pPr>
            <a:r>
              <a:rPr lang="en-US" sz="1600" dirty="0">
                <a:solidFill>
                  <a:srgbClr val="94A3B8"/>
                </a:solidFill>
                <a:latin typeface="Quattrocento Sans" pitchFamily="34" charset="0"/>
                <a:ea typeface="Quattrocento Sans" pitchFamily="34" charset="-122"/>
                <a:cs typeface="Quattrocento Sans" pitchFamily="34" charset="-120"/>
              </a:rPr>
              <a:t>FP32 : </a:t>
            </a:r>
            <a:r>
              <a:rPr lang="en-US" sz="1600" strike="sngStrike" dirty="0">
                <a:solidFill>
                  <a:srgbClr val="94A3B8"/>
                </a:solidFill>
                <a:latin typeface="Quattrocento Sans" pitchFamily="34" charset="0"/>
                <a:ea typeface="Quattrocento Sans" pitchFamily="34" charset="-122"/>
                <a:cs typeface="Quattrocento Sans" pitchFamily="34" charset="-120"/>
              </a:rPr>
              <a:t>127.29 Mo</a:t>
            </a:r>
            <a:endParaRPr lang="en-US" sz="1600" dirty="0"/>
          </a:p>
        </p:txBody>
      </p:sp>
      <p:sp>
        <p:nvSpPr>
          <p:cNvPr id="15" name="Text 13"/>
          <p:cNvSpPr/>
          <p:nvPr/>
        </p:nvSpPr>
        <p:spPr>
          <a:xfrm>
            <a:off x="1016000" y="2768600"/>
            <a:ext cx="2984500" cy="508000"/>
          </a:xfrm>
          <a:prstGeom prst="rect">
            <a:avLst/>
          </a:prstGeom>
          <a:noFill/>
          <a:ln/>
        </p:spPr>
        <p:txBody>
          <a:bodyPr wrap="none" lIns="0" tIns="0" rIns="0" bIns="0" rtlCol="0" anchor="ctr"/>
          <a:lstStyle/>
          <a:p>
            <a:pPr algn="l">
              <a:lnSpc>
                <a:spcPct val="120000"/>
              </a:lnSpc>
            </a:pPr>
            <a:r>
              <a:rPr lang="en-US" sz="2800" dirty="0">
                <a:solidFill>
                  <a:srgbClr val="14B8A6"/>
                </a:solidFill>
                <a:latin typeface="Liter" pitchFamily="34" charset="0"/>
                <a:ea typeface="Liter" pitchFamily="34" charset="-122"/>
                <a:cs typeface="Liter" pitchFamily="34" charset="-120"/>
              </a:rPr>
              <a:t>66.90 Mo</a:t>
            </a:r>
            <a:endParaRPr lang="en-US" sz="2800" dirty="0"/>
          </a:p>
        </p:txBody>
      </p:sp>
      <p:sp>
        <p:nvSpPr>
          <p:cNvPr id="16" name="Text 14"/>
          <p:cNvSpPr/>
          <p:nvPr/>
        </p:nvSpPr>
        <p:spPr>
          <a:xfrm>
            <a:off x="1016000" y="3365500"/>
            <a:ext cx="2984500" cy="508000"/>
          </a:xfrm>
          <a:prstGeom prst="rect">
            <a:avLst/>
          </a:prstGeom>
          <a:noFill/>
          <a:ln/>
        </p:spPr>
        <p:txBody>
          <a:bodyPr wrap="none" lIns="0" tIns="0" rIns="0" bIns="0" rtlCol="0" anchor="ctr"/>
          <a:lstStyle/>
          <a:p>
            <a:pPr algn="l">
              <a:lnSpc>
                <a:spcPct val="100000"/>
              </a:lnSpc>
            </a:pPr>
            <a:r>
              <a:rPr lang="en-US" sz="3200" dirty="0">
                <a:solidFill>
                  <a:srgbClr val="F97316"/>
                </a:solidFill>
                <a:latin typeface="Liter" pitchFamily="34" charset="0"/>
                <a:ea typeface="Liter" pitchFamily="34" charset="-122"/>
                <a:cs typeface="Liter" pitchFamily="34" charset="-120"/>
              </a:rPr>
              <a:t>1.90×</a:t>
            </a:r>
            <a:endParaRPr lang="en-US" sz="3200" dirty="0"/>
          </a:p>
        </p:txBody>
      </p:sp>
      <p:sp>
        <p:nvSpPr>
          <p:cNvPr id="17" name="Shape 15"/>
          <p:cNvSpPr/>
          <p:nvPr/>
        </p:nvSpPr>
        <p:spPr>
          <a:xfrm>
            <a:off x="4508500" y="1587500"/>
            <a:ext cx="3492500" cy="2540000"/>
          </a:xfrm>
          <a:prstGeom prst="roundRect">
            <a:avLst>
              <a:gd name="adj" fmla="val 8000"/>
            </a:avLst>
          </a:prstGeom>
          <a:solidFill>
            <a:srgbClr val="1E3A5F"/>
          </a:solidFill>
          <a:ln w="12700">
            <a:solidFill>
              <a:srgbClr val="2D5A8E"/>
            </a:solidFill>
            <a:prstDash val="solid"/>
          </a:ln>
        </p:spPr>
      </p:sp>
      <p:sp>
        <p:nvSpPr>
          <p:cNvPr id="18" name="Shape 16"/>
          <p:cNvSpPr/>
          <p:nvPr/>
        </p:nvSpPr>
        <p:spPr>
          <a:xfrm>
            <a:off x="4762500" y="1841500"/>
            <a:ext cx="355600" cy="355600"/>
          </a:xfrm>
          <a:custGeom>
            <a:avLst/>
            <a:gdLst/>
            <a:ahLst/>
            <a:cxnLst/>
            <a:rect l="l" t="t" r="r" b="b"/>
            <a:pathLst>
              <a:path w="355600" h="355600">
                <a:moveTo>
                  <a:pt x="44450" y="44450"/>
                </a:moveTo>
                <a:cubicBezTo>
                  <a:pt x="19933" y="44450"/>
                  <a:pt x="0" y="64383"/>
                  <a:pt x="0" y="88900"/>
                </a:cubicBezTo>
                <a:lnTo>
                  <a:pt x="0" y="94040"/>
                </a:lnTo>
                <a:cubicBezTo>
                  <a:pt x="0" y="98762"/>
                  <a:pt x="3056" y="102791"/>
                  <a:pt x="7015" y="105360"/>
                </a:cubicBezTo>
                <a:cubicBezTo>
                  <a:pt x="16183" y="111333"/>
                  <a:pt x="22225" y="121612"/>
                  <a:pt x="22225" y="133350"/>
                </a:cubicBezTo>
                <a:cubicBezTo>
                  <a:pt x="22225" y="145088"/>
                  <a:pt x="16183" y="155367"/>
                  <a:pt x="7015" y="161340"/>
                </a:cubicBezTo>
                <a:cubicBezTo>
                  <a:pt x="3056" y="163909"/>
                  <a:pt x="0" y="167938"/>
                  <a:pt x="0" y="172660"/>
                </a:cubicBezTo>
                <a:lnTo>
                  <a:pt x="0" y="211138"/>
                </a:lnTo>
                <a:lnTo>
                  <a:pt x="355600" y="211138"/>
                </a:lnTo>
                <a:lnTo>
                  <a:pt x="355600" y="172660"/>
                </a:lnTo>
                <a:cubicBezTo>
                  <a:pt x="355600" y="167938"/>
                  <a:pt x="352544" y="163909"/>
                  <a:pt x="348585" y="161340"/>
                </a:cubicBezTo>
                <a:cubicBezTo>
                  <a:pt x="339417" y="155367"/>
                  <a:pt x="333375" y="145088"/>
                  <a:pt x="333375" y="133350"/>
                </a:cubicBezTo>
                <a:cubicBezTo>
                  <a:pt x="333375" y="121612"/>
                  <a:pt x="339417" y="111333"/>
                  <a:pt x="348585" y="105360"/>
                </a:cubicBezTo>
                <a:cubicBezTo>
                  <a:pt x="352544" y="102791"/>
                  <a:pt x="355600" y="98762"/>
                  <a:pt x="355600" y="94040"/>
                </a:cubicBezTo>
                <a:lnTo>
                  <a:pt x="355600" y="88900"/>
                </a:lnTo>
                <a:cubicBezTo>
                  <a:pt x="355600" y="64383"/>
                  <a:pt x="335667" y="44450"/>
                  <a:pt x="311150" y="44450"/>
                </a:cubicBezTo>
                <a:lnTo>
                  <a:pt x="44450" y="44450"/>
                </a:lnTo>
                <a:close/>
                <a:moveTo>
                  <a:pt x="355600" y="288925"/>
                </a:moveTo>
                <a:lnTo>
                  <a:pt x="355600" y="244475"/>
                </a:lnTo>
                <a:lnTo>
                  <a:pt x="0" y="244475"/>
                </a:lnTo>
                <a:lnTo>
                  <a:pt x="0" y="288925"/>
                </a:lnTo>
                <a:cubicBezTo>
                  <a:pt x="0" y="301218"/>
                  <a:pt x="9932" y="311150"/>
                  <a:pt x="22225" y="311150"/>
                </a:cubicBezTo>
                <a:lnTo>
                  <a:pt x="66675" y="311150"/>
                </a:lnTo>
                <a:lnTo>
                  <a:pt x="66675" y="294481"/>
                </a:lnTo>
                <a:cubicBezTo>
                  <a:pt x="66675" y="285244"/>
                  <a:pt x="74106" y="277813"/>
                  <a:pt x="83344" y="277813"/>
                </a:cubicBezTo>
                <a:cubicBezTo>
                  <a:pt x="92581" y="277813"/>
                  <a:pt x="100013" y="285244"/>
                  <a:pt x="100013" y="294481"/>
                </a:cubicBezTo>
                <a:lnTo>
                  <a:pt x="100013" y="311150"/>
                </a:lnTo>
                <a:lnTo>
                  <a:pt x="161131" y="311150"/>
                </a:lnTo>
                <a:lnTo>
                  <a:pt x="161131" y="294481"/>
                </a:lnTo>
                <a:cubicBezTo>
                  <a:pt x="161131" y="285244"/>
                  <a:pt x="168563" y="277813"/>
                  <a:pt x="177800" y="277813"/>
                </a:cubicBezTo>
                <a:cubicBezTo>
                  <a:pt x="187037" y="277813"/>
                  <a:pt x="194469" y="285244"/>
                  <a:pt x="194469" y="294481"/>
                </a:cubicBezTo>
                <a:lnTo>
                  <a:pt x="194469" y="311150"/>
                </a:lnTo>
                <a:lnTo>
                  <a:pt x="255587" y="311150"/>
                </a:lnTo>
                <a:lnTo>
                  <a:pt x="255587" y="294481"/>
                </a:lnTo>
                <a:cubicBezTo>
                  <a:pt x="255587" y="285244"/>
                  <a:pt x="263019" y="277813"/>
                  <a:pt x="272256" y="277813"/>
                </a:cubicBezTo>
                <a:cubicBezTo>
                  <a:pt x="281494" y="277813"/>
                  <a:pt x="288925" y="285244"/>
                  <a:pt x="288925" y="294481"/>
                </a:cubicBezTo>
                <a:lnTo>
                  <a:pt x="288925" y="311150"/>
                </a:lnTo>
                <a:lnTo>
                  <a:pt x="333375" y="311150"/>
                </a:lnTo>
                <a:cubicBezTo>
                  <a:pt x="345668" y="311150"/>
                  <a:pt x="355600" y="301218"/>
                  <a:pt x="355600" y="288925"/>
                </a:cubicBezTo>
                <a:close/>
                <a:moveTo>
                  <a:pt x="111125" y="111125"/>
                </a:moveTo>
                <a:lnTo>
                  <a:pt x="111125" y="155575"/>
                </a:lnTo>
                <a:cubicBezTo>
                  <a:pt x="111125" y="167868"/>
                  <a:pt x="101193" y="177800"/>
                  <a:pt x="88900" y="177800"/>
                </a:cubicBezTo>
                <a:cubicBezTo>
                  <a:pt x="76607" y="177800"/>
                  <a:pt x="66675" y="167868"/>
                  <a:pt x="66675" y="155575"/>
                </a:cubicBezTo>
                <a:lnTo>
                  <a:pt x="66675" y="111125"/>
                </a:lnTo>
                <a:cubicBezTo>
                  <a:pt x="66675" y="98832"/>
                  <a:pt x="76607" y="88900"/>
                  <a:pt x="88900" y="88900"/>
                </a:cubicBezTo>
                <a:cubicBezTo>
                  <a:pt x="101193" y="88900"/>
                  <a:pt x="111125" y="98832"/>
                  <a:pt x="111125" y="111125"/>
                </a:cubicBezTo>
                <a:close/>
                <a:moveTo>
                  <a:pt x="200025" y="111125"/>
                </a:moveTo>
                <a:lnTo>
                  <a:pt x="200025" y="155575"/>
                </a:lnTo>
                <a:cubicBezTo>
                  <a:pt x="200025" y="167868"/>
                  <a:pt x="190093" y="177800"/>
                  <a:pt x="177800" y="177800"/>
                </a:cubicBezTo>
                <a:cubicBezTo>
                  <a:pt x="165507" y="177800"/>
                  <a:pt x="155575" y="167868"/>
                  <a:pt x="155575" y="155575"/>
                </a:cubicBezTo>
                <a:lnTo>
                  <a:pt x="155575" y="111125"/>
                </a:lnTo>
                <a:cubicBezTo>
                  <a:pt x="155575" y="98832"/>
                  <a:pt x="165507" y="88900"/>
                  <a:pt x="177800" y="88900"/>
                </a:cubicBezTo>
                <a:cubicBezTo>
                  <a:pt x="190093" y="88900"/>
                  <a:pt x="200025" y="98832"/>
                  <a:pt x="200025" y="111125"/>
                </a:cubicBezTo>
                <a:close/>
                <a:moveTo>
                  <a:pt x="288925" y="111125"/>
                </a:moveTo>
                <a:lnTo>
                  <a:pt x="288925" y="155575"/>
                </a:lnTo>
                <a:cubicBezTo>
                  <a:pt x="288925" y="167868"/>
                  <a:pt x="278993" y="177800"/>
                  <a:pt x="266700" y="177800"/>
                </a:cubicBezTo>
                <a:cubicBezTo>
                  <a:pt x="254407" y="177800"/>
                  <a:pt x="244475" y="167868"/>
                  <a:pt x="244475" y="155575"/>
                </a:cubicBezTo>
                <a:lnTo>
                  <a:pt x="244475" y="111125"/>
                </a:lnTo>
                <a:cubicBezTo>
                  <a:pt x="244475" y="98832"/>
                  <a:pt x="254407" y="88900"/>
                  <a:pt x="266700" y="88900"/>
                </a:cubicBezTo>
                <a:cubicBezTo>
                  <a:pt x="278993" y="88900"/>
                  <a:pt x="288925" y="98832"/>
                  <a:pt x="288925" y="111125"/>
                </a:cubicBezTo>
                <a:close/>
              </a:path>
            </a:pathLst>
          </a:custGeom>
          <a:solidFill>
            <a:srgbClr val="F97316"/>
          </a:solidFill>
          <a:ln/>
        </p:spPr>
      </p:sp>
      <p:sp>
        <p:nvSpPr>
          <p:cNvPr id="19" name="Text 17"/>
          <p:cNvSpPr/>
          <p:nvPr/>
        </p:nvSpPr>
        <p:spPr>
          <a:xfrm>
            <a:off x="5245100" y="1841500"/>
            <a:ext cx="2540000" cy="355600"/>
          </a:xfrm>
          <a:prstGeom prst="rect">
            <a:avLst/>
          </a:prstGeom>
          <a:noFill/>
          <a:ln/>
        </p:spPr>
        <p:txBody>
          <a:bodyPr wrap="none" lIns="0" tIns="0" rIns="0" bIns="0" rtlCol="0" anchor="ctr"/>
          <a:lstStyle/>
          <a:p>
            <a:pPr algn="l">
              <a:lnSpc>
                <a:spcPct val="120000"/>
              </a:lnSpc>
            </a:pPr>
            <a:r>
              <a:rPr lang="en-US" sz="1400" dirty="0">
                <a:solidFill>
                  <a:srgbClr val="94A3B8"/>
                </a:solidFill>
                <a:latin typeface="Liter" pitchFamily="34" charset="0"/>
                <a:ea typeface="Liter" pitchFamily="34" charset="-122"/>
                <a:cs typeface="Liter" pitchFamily="34" charset="-120"/>
              </a:rPr>
              <a:t>TAILLE MÉMOIRE</a:t>
            </a:r>
            <a:endParaRPr lang="en-US" sz="1400" dirty="0"/>
          </a:p>
        </p:txBody>
      </p:sp>
      <p:sp>
        <p:nvSpPr>
          <p:cNvPr id="20" name="Text 18"/>
          <p:cNvSpPr/>
          <p:nvPr/>
        </p:nvSpPr>
        <p:spPr>
          <a:xfrm>
            <a:off x="4762500" y="2349500"/>
            <a:ext cx="2984500" cy="381000"/>
          </a:xfrm>
          <a:prstGeom prst="rect">
            <a:avLst/>
          </a:prstGeom>
          <a:noFill/>
          <a:ln/>
        </p:spPr>
        <p:txBody>
          <a:bodyPr wrap="none" lIns="0" tIns="0" rIns="0" bIns="0" rtlCol="0" anchor="ctr"/>
          <a:lstStyle/>
          <a:p>
            <a:pPr algn="l">
              <a:lnSpc>
                <a:spcPct val="120000"/>
              </a:lnSpc>
            </a:pPr>
            <a:r>
              <a:rPr lang="en-US" sz="1600" dirty="0">
                <a:solidFill>
                  <a:srgbClr val="94A3B8"/>
                </a:solidFill>
                <a:latin typeface="Quattrocento Sans" pitchFamily="34" charset="0"/>
                <a:ea typeface="Quattrocento Sans" pitchFamily="34" charset="-122"/>
                <a:cs typeface="Quattrocento Sans" pitchFamily="34" charset="-120"/>
              </a:rPr>
              <a:t>FP32 : </a:t>
            </a:r>
            <a:r>
              <a:rPr lang="en-US" sz="1600" strike="sngStrike" dirty="0">
                <a:solidFill>
                  <a:srgbClr val="94A3B8"/>
                </a:solidFill>
                <a:latin typeface="Quattrocento Sans" pitchFamily="34" charset="0"/>
                <a:ea typeface="Quattrocento Sans" pitchFamily="34" charset="-122"/>
                <a:cs typeface="Quattrocento Sans" pitchFamily="34" charset="-120"/>
              </a:rPr>
              <a:t>127.27 Mo</a:t>
            </a:r>
            <a:endParaRPr lang="en-US" sz="1600" dirty="0"/>
          </a:p>
        </p:txBody>
      </p:sp>
      <p:sp>
        <p:nvSpPr>
          <p:cNvPr id="21" name="Text 19"/>
          <p:cNvSpPr/>
          <p:nvPr/>
        </p:nvSpPr>
        <p:spPr>
          <a:xfrm>
            <a:off x="4762500" y="2768600"/>
            <a:ext cx="2984500" cy="508000"/>
          </a:xfrm>
          <a:prstGeom prst="rect">
            <a:avLst/>
          </a:prstGeom>
          <a:noFill/>
          <a:ln/>
        </p:spPr>
        <p:txBody>
          <a:bodyPr wrap="none" lIns="0" tIns="0" rIns="0" bIns="0" rtlCol="0" anchor="ctr"/>
          <a:lstStyle/>
          <a:p>
            <a:pPr algn="l">
              <a:lnSpc>
                <a:spcPct val="120000"/>
              </a:lnSpc>
            </a:pPr>
            <a:r>
              <a:rPr lang="en-US" sz="2800" dirty="0">
                <a:solidFill>
                  <a:srgbClr val="F97316"/>
                </a:solidFill>
                <a:latin typeface="Liter" pitchFamily="34" charset="0"/>
                <a:ea typeface="Liter" pitchFamily="34" charset="-122"/>
                <a:cs typeface="Liter" pitchFamily="34" charset="-120"/>
              </a:rPr>
              <a:t>45.54 Mo</a:t>
            </a:r>
            <a:endParaRPr lang="en-US" sz="2800" dirty="0"/>
          </a:p>
        </p:txBody>
      </p:sp>
      <p:sp>
        <p:nvSpPr>
          <p:cNvPr id="22" name="Text 20"/>
          <p:cNvSpPr/>
          <p:nvPr/>
        </p:nvSpPr>
        <p:spPr>
          <a:xfrm>
            <a:off x="4762500" y="3365500"/>
            <a:ext cx="2984500" cy="508000"/>
          </a:xfrm>
          <a:prstGeom prst="rect">
            <a:avLst/>
          </a:prstGeom>
          <a:noFill/>
          <a:ln/>
        </p:spPr>
        <p:txBody>
          <a:bodyPr wrap="none" lIns="0" tIns="0" rIns="0" bIns="0" rtlCol="0" anchor="ctr"/>
          <a:lstStyle/>
          <a:p>
            <a:pPr algn="l">
              <a:lnSpc>
                <a:spcPct val="100000"/>
              </a:lnSpc>
            </a:pPr>
            <a:r>
              <a:rPr lang="en-US" sz="3200" dirty="0">
                <a:solidFill>
                  <a:srgbClr val="F97316"/>
                </a:solidFill>
                <a:latin typeface="Liter" pitchFamily="34" charset="0"/>
                <a:ea typeface="Liter" pitchFamily="34" charset="-122"/>
                <a:cs typeface="Liter" pitchFamily="34" charset="-120"/>
              </a:rPr>
              <a:t>2.79×</a:t>
            </a:r>
            <a:endParaRPr lang="en-US" sz="3200" dirty="0"/>
          </a:p>
        </p:txBody>
      </p:sp>
      <p:sp>
        <p:nvSpPr>
          <p:cNvPr id="23" name="Shape 21"/>
          <p:cNvSpPr/>
          <p:nvPr/>
        </p:nvSpPr>
        <p:spPr>
          <a:xfrm>
            <a:off x="8255000" y="1587500"/>
            <a:ext cx="3492500" cy="2540000"/>
          </a:xfrm>
          <a:prstGeom prst="roundRect">
            <a:avLst>
              <a:gd name="adj" fmla="val 8000"/>
            </a:avLst>
          </a:prstGeom>
          <a:solidFill>
            <a:srgbClr val="1E3A5F"/>
          </a:solidFill>
          <a:ln w="12700">
            <a:solidFill>
              <a:srgbClr val="2D5A8E"/>
            </a:solidFill>
            <a:prstDash val="solid"/>
          </a:ln>
        </p:spPr>
      </p:sp>
      <p:sp>
        <p:nvSpPr>
          <p:cNvPr id="24" name="Shape 22"/>
          <p:cNvSpPr/>
          <p:nvPr/>
        </p:nvSpPr>
        <p:spPr>
          <a:xfrm>
            <a:off x="8509000" y="1841500"/>
            <a:ext cx="355600" cy="355600"/>
          </a:xfrm>
          <a:custGeom>
            <a:avLst/>
            <a:gdLst/>
            <a:ahLst/>
            <a:cxnLst/>
            <a:rect l="l" t="t" r="r" b="b"/>
            <a:pathLst>
              <a:path w="355600" h="355600">
                <a:moveTo>
                  <a:pt x="268923" y="-6876"/>
                </a:moveTo>
                <a:cubicBezTo>
                  <a:pt x="278368" y="-903"/>
                  <a:pt x="281861" y="9932"/>
                  <a:pt x="277574" y="19377"/>
                </a:cubicBezTo>
                <a:lnTo>
                  <a:pt x="215344" y="155575"/>
                </a:lnTo>
                <a:lnTo>
                  <a:pt x="330200" y="155575"/>
                </a:lnTo>
                <a:cubicBezTo>
                  <a:pt x="340916" y="155575"/>
                  <a:pt x="350441" y="161409"/>
                  <a:pt x="354092" y="170230"/>
                </a:cubicBezTo>
                <a:cubicBezTo>
                  <a:pt x="357743" y="179050"/>
                  <a:pt x="354648" y="188913"/>
                  <a:pt x="346472" y="194885"/>
                </a:cubicBezTo>
                <a:lnTo>
                  <a:pt x="117872" y="361573"/>
                </a:lnTo>
                <a:cubicBezTo>
                  <a:pt x="108903" y="368102"/>
                  <a:pt x="96123" y="368449"/>
                  <a:pt x="86678" y="362476"/>
                </a:cubicBezTo>
                <a:cubicBezTo>
                  <a:pt x="77232" y="356503"/>
                  <a:pt x="73739" y="345668"/>
                  <a:pt x="78026" y="336223"/>
                </a:cubicBezTo>
                <a:lnTo>
                  <a:pt x="140256" y="200025"/>
                </a:lnTo>
                <a:lnTo>
                  <a:pt x="25400" y="200025"/>
                </a:lnTo>
                <a:cubicBezTo>
                  <a:pt x="14684" y="200025"/>
                  <a:pt x="5159" y="194191"/>
                  <a:pt x="1508" y="185370"/>
                </a:cubicBezTo>
                <a:cubicBezTo>
                  <a:pt x="-2143" y="176550"/>
                  <a:pt x="952" y="166688"/>
                  <a:pt x="9128" y="160715"/>
                </a:cubicBezTo>
                <a:lnTo>
                  <a:pt x="237728" y="-5973"/>
                </a:lnTo>
                <a:cubicBezTo>
                  <a:pt x="246698" y="-12502"/>
                  <a:pt x="259477" y="-12849"/>
                  <a:pt x="268923" y="-6876"/>
                </a:cubicBezTo>
                <a:close/>
              </a:path>
            </a:pathLst>
          </a:custGeom>
          <a:solidFill>
            <a:srgbClr val="14B8A6"/>
          </a:solidFill>
          <a:ln/>
        </p:spPr>
      </p:sp>
      <p:sp>
        <p:nvSpPr>
          <p:cNvPr id="25" name="Text 23"/>
          <p:cNvSpPr/>
          <p:nvPr/>
        </p:nvSpPr>
        <p:spPr>
          <a:xfrm>
            <a:off x="8991600" y="1841500"/>
            <a:ext cx="2540000" cy="355600"/>
          </a:xfrm>
          <a:prstGeom prst="rect">
            <a:avLst/>
          </a:prstGeom>
          <a:noFill/>
          <a:ln/>
        </p:spPr>
        <p:txBody>
          <a:bodyPr wrap="none" lIns="0" tIns="0" rIns="0" bIns="0" rtlCol="0" anchor="ctr"/>
          <a:lstStyle/>
          <a:p>
            <a:pPr algn="l">
              <a:lnSpc>
                <a:spcPct val="120000"/>
              </a:lnSpc>
            </a:pPr>
            <a:r>
              <a:rPr lang="en-US" sz="1400" dirty="0">
                <a:solidFill>
                  <a:srgbClr val="94A3B8"/>
                </a:solidFill>
                <a:latin typeface="Liter" pitchFamily="34" charset="0"/>
                <a:ea typeface="Liter" pitchFamily="34" charset="-122"/>
                <a:cs typeface="Liter" pitchFamily="34" charset="-120"/>
              </a:rPr>
              <a:t>LATENCE MOYENNE</a:t>
            </a:r>
            <a:endParaRPr lang="en-US" sz="1400" dirty="0"/>
          </a:p>
        </p:txBody>
      </p:sp>
      <p:sp>
        <p:nvSpPr>
          <p:cNvPr id="26" name="Text 24"/>
          <p:cNvSpPr/>
          <p:nvPr/>
        </p:nvSpPr>
        <p:spPr>
          <a:xfrm>
            <a:off x="8509000" y="2349500"/>
            <a:ext cx="2984500" cy="381000"/>
          </a:xfrm>
          <a:prstGeom prst="rect">
            <a:avLst/>
          </a:prstGeom>
          <a:noFill/>
          <a:ln/>
        </p:spPr>
        <p:txBody>
          <a:bodyPr wrap="none" lIns="0" tIns="0" rIns="0" bIns="0" rtlCol="0" anchor="ctr"/>
          <a:lstStyle/>
          <a:p>
            <a:pPr algn="l">
              <a:lnSpc>
                <a:spcPct val="120000"/>
              </a:lnSpc>
            </a:pPr>
            <a:r>
              <a:rPr lang="en-US" sz="1600" dirty="0">
                <a:solidFill>
                  <a:srgbClr val="94A3B8"/>
                </a:solidFill>
                <a:latin typeface="Quattrocento Sans" pitchFamily="34" charset="0"/>
                <a:ea typeface="Quattrocento Sans" pitchFamily="34" charset="-122"/>
                <a:cs typeface="Quattrocento Sans" pitchFamily="34" charset="-120"/>
              </a:rPr>
              <a:t>FP32 : </a:t>
            </a:r>
            <a:r>
              <a:rPr lang="en-US" sz="1600" strike="sngStrike" dirty="0">
                <a:solidFill>
                  <a:srgbClr val="94A3B8"/>
                </a:solidFill>
                <a:latin typeface="Quattrocento Sans" pitchFamily="34" charset="0"/>
                <a:ea typeface="Quattrocento Sans" pitchFamily="34" charset="-122"/>
                <a:cs typeface="Quattrocento Sans" pitchFamily="34" charset="-120"/>
              </a:rPr>
              <a:t>26.60 ms</a:t>
            </a:r>
            <a:endParaRPr lang="en-US" sz="1600" dirty="0"/>
          </a:p>
        </p:txBody>
      </p:sp>
      <p:sp>
        <p:nvSpPr>
          <p:cNvPr id="27" name="Text 25"/>
          <p:cNvSpPr/>
          <p:nvPr/>
        </p:nvSpPr>
        <p:spPr>
          <a:xfrm>
            <a:off x="8509000" y="2768600"/>
            <a:ext cx="2984500" cy="508000"/>
          </a:xfrm>
          <a:prstGeom prst="rect">
            <a:avLst/>
          </a:prstGeom>
          <a:noFill/>
          <a:ln/>
        </p:spPr>
        <p:txBody>
          <a:bodyPr wrap="none" lIns="0" tIns="0" rIns="0" bIns="0" rtlCol="0" anchor="ctr"/>
          <a:lstStyle/>
          <a:p>
            <a:pPr algn="l">
              <a:lnSpc>
                <a:spcPct val="120000"/>
              </a:lnSpc>
            </a:pPr>
            <a:r>
              <a:rPr lang="en-US" sz="2800" dirty="0">
                <a:solidFill>
                  <a:srgbClr val="14B8A6"/>
                </a:solidFill>
                <a:latin typeface="Liter" pitchFamily="34" charset="0"/>
                <a:ea typeface="Liter" pitchFamily="34" charset="-122"/>
                <a:cs typeface="Liter" pitchFamily="34" charset="-120"/>
              </a:rPr>
              <a:t>16.80 ms</a:t>
            </a:r>
            <a:endParaRPr lang="en-US" sz="2800" dirty="0"/>
          </a:p>
        </p:txBody>
      </p:sp>
      <p:sp>
        <p:nvSpPr>
          <p:cNvPr id="28" name="Text 26"/>
          <p:cNvSpPr/>
          <p:nvPr/>
        </p:nvSpPr>
        <p:spPr>
          <a:xfrm>
            <a:off x="8509000" y="3365500"/>
            <a:ext cx="2984500" cy="508000"/>
          </a:xfrm>
          <a:prstGeom prst="rect">
            <a:avLst/>
          </a:prstGeom>
          <a:noFill/>
          <a:ln/>
        </p:spPr>
        <p:txBody>
          <a:bodyPr wrap="none" lIns="0" tIns="0" rIns="0" bIns="0" rtlCol="0" anchor="ctr"/>
          <a:lstStyle/>
          <a:p>
            <a:pPr algn="l">
              <a:lnSpc>
                <a:spcPct val="100000"/>
              </a:lnSpc>
            </a:pPr>
            <a:r>
              <a:rPr lang="en-US" sz="3200" dirty="0">
                <a:solidFill>
                  <a:srgbClr val="F97316"/>
                </a:solidFill>
                <a:latin typeface="Liter" pitchFamily="34" charset="0"/>
                <a:ea typeface="Liter" pitchFamily="34" charset="-122"/>
                <a:cs typeface="Liter" pitchFamily="34" charset="-120"/>
              </a:rPr>
              <a:t>1.58×</a:t>
            </a:r>
            <a:endParaRPr lang="en-US" sz="3200" dirty="0"/>
          </a:p>
        </p:txBody>
      </p:sp>
      <p:sp>
        <p:nvSpPr>
          <p:cNvPr id="29" name="Shape 27"/>
          <p:cNvSpPr/>
          <p:nvPr/>
        </p:nvSpPr>
        <p:spPr>
          <a:xfrm>
            <a:off x="12001500" y="1587500"/>
            <a:ext cx="3492500" cy="2540000"/>
          </a:xfrm>
          <a:prstGeom prst="roundRect">
            <a:avLst>
              <a:gd name="adj" fmla="val 8000"/>
            </a:avLst>
          </a:prstGeom>
          <a:solidFill>
            <a:srgbClr val="1E3A5F"/>
          </a:solidFill>
          <a:ln w="12700">
            <a:solidFill>
              <a:srgbClr val="2D5A8E"/>
            </a:solidFill>
            <a:prstDash val="solid"/>
          </a:ln>
        </p:spPr>
      </p:sp>
      <p:sp>
        <p:nvSpPr>
          <p:cNvPr id="30" name="Shape 28"/>
          <p:cNvSpPr/>
          <p:nvPr/>
        </p:nvSpPr>
        <p:spPr>
          <a:xfrm>
            <a:off x="12255500" y="1841500"/>
            <a:ext cx="355600" cy="355600"/>
          </a:xfrm>
          <a:custGeom>
            <a:avLst/>
            <a:gdLst/>
            <a:ahLst/>
            <a:cxnLst/>
            <a:rect l="l" t="t" r="r" b="b"/>
            <a:pathLst>
              <a:path w="355600" h="355600">
                <a:moveTo>
                  <a:pt x="311150" y="177800"/>
                </a:moveTo>
                <a:cubicBezTo>
                  <a:pt x="311150" y="104202"/>
                  <a:pt x="251398" y="44450"/>
                  <a:pt x="177800" y="44450"/>
                </a:cubicBezTo>
                <a:cubicBezTo>
                  <a:pt x="104202" y="44450"/>
                  <a:pt x="44450" y="104202"/>
                  <a:pt x="44450" y="177800"/>
                </a:cubicBezTo>
                <a:cubicBezTo>
                  <a:pt x="44450" y="251398"/>
                  <a:pt x="104202" y="311150"/>
                  <a:pt x="177800" y="311150"/>
                </a:cubicBezTo>
                <a:cubicBezTo>
                  <a:pt x="251398" y="311150"/>
                  <a:pt x="311150" y="251398"/>
                  <a:pt x="311150" y="177800"/>
                </a:cubicBezTo>
                <a:close/>
                <a:moveTo>
                  <a:pt x="0" y="177800"/>
                </a:moveTo>
                <a:cubicBezTo>
                  <a:pt x="0" y="79670"/>
                  <a:pt x="79670" y="0"/>
                  <a:pt x="177800" y="0"/>
                </a:cubicBezTo>
                <a:cubicBezTo>
                  <a:pt x="275930" y="0"/>
                  <a:pt x="355600" y="79670"/>
                  <a:pt x="355600" y="177800"/>
                </a:cubicBezTo>
                <a:cubicBezTo>
                  <a:pt x="355600" y="275930"/>
                  <a:pt x="275930" y="355600"/>
                  <a:pt x="177800" y="355600"/>
                </a:cubicBezTo>
                <a:cubicBezTo>
                  <a:pt x="79670" y="355600"/>
                  <a:pt x="0" y="275930"/>
                  <a:pt x="0" y="177800"/>
                </a:cubicBezTo>
                <a:close/>
                <a:moveTo>
                  <a:pt x="177800" y="233363"/>
                </a:moveTo>
                <a:cubicBezTo>
                  <a:pt x="208466" y="233363"/>
                  <a:pt x="233363" y="208466"/>
                  <a:pt x="233363" y="177800"/>
                </a:cubicBezTo>
                <a:cubicBezTo>
                  <a:pt x="233363" y="147134"/>
                  <a:pt x="208466" y="122238"/>
                  <a:pt x="177800" y="122238"/>
                </a:cubicBezTo>
                <a:cubicBezTo>
                  <a:pt x="147134" y="122238"/>
                  <a:pt x="122238" y="147134"/>
                  <a:pt x="122238" y="177800"/>
                </a:cubicBezTo>
                <a:cubicBezTo>
                  <a:pt x="122238" y="208466"/>
                  <a:pt x="147134" y="233363"/>
                  <a:pt x="177800" y="233363"/>
                </a:cubicBezTo>
                <a:close/>
                <a:moveTo>
                  <a:pt x="177800" y="77788"/>
                </a:moveTo>
                <a:cubicBezTo>
                  <a:pt x="232998" y="77788"/>
                  <a:pt x="277813" y="122602"/>
                  <a:pt x="277813" y="177800"/>
                </a:cubicBezTo>
                <a:cubicBezTo>
                  <a:pt x="277813" y="232998"/>
                  <a:pt x="232998" y="277813"/>
                  <a:pt x="177800" y="277813"/>
                </a:cubicBezTo>
                <a:cubicBezTo>
                  <a:pt x="122602" y="277813"/>
                  <a:pt x="77788" y="232998"/>
                  <a:pt x="77788" y="177800"/>
                </a:cubicBezTo>
                <a:cubicBezTo>
                  <a:pt x="77788" y="122602"/>
                  <a:pt x="122602" y="77788"/>
                  <a:pt x="177800" y="77788"/>
                </a:cubicBezTo>
                <a:close/>
                <a:moveTo>
                  <a:pt x="155575" y="177800"/>
                </a:moveTo>
                <a:cubicBezTo>
                  <a:pt x="155575" y="165534"/>
                  <a:pt x="165534" y="155575"/>
                  <a:pt x="177800" y="155575"/>
                </a:cubicBezTo>
                <a:cubicBezTo>
                  <a:pt x="190066" y="155575"/>
                  <a:pt x="200025" y="165534"/>
                  <a:pt x="200025" y="177800"/>
                </a:cubicBezTo>
                <a:cubicBezTo>
                  <a:pt x="200025" y="190066"/>
                  <a:pt x="190066" y="200025"/>
                  <a:pt x="177800" y="200025"/>
                </a:cubicBezTo>
                <a:cubicBezTo>
                  <a:pt x="165534" y="200025"/>
                  <a:pt x="155575" y="190066"/>
                  <a:pt x="155575" y="177800"/>
                </a:cubicBezTo>
                <a:close/>
              </a:path>
            </a:pathLst>
          </a:custGeom>
          <a:solidFill>
            <a:srgbClr val="F97316"/>
          </a:solidFill>
          <a:ln/>
        </p:spPr>
      </p:sp>
      <p:sp>
        <p:nvSpPr>
          <p:cNvPr id="31" name="Text 29"/>
          <p:cNvSpPr/>
          <p:nvPr/>
        </p:nvSpPr>
        <p:spPr>
          <a:xfrm>
            <a:off x="12738100" y="1841500"/>
            <a:ext cx="2540000" cy="355600"/>
          </a:xfrm>
          <a:prstGeom prst="rect">
            <a:avLst/>
          </a:prstGeom>
          <a:noFill/>
          <a:ln/>
        </p:spPr>
        <p:txBody>
          <a:bodyPr wrap="none" lIns="0" tIns="0" rIns="0" bIns="0" rtlCol="0" anchor="ctr"/>
          <a:lstStyle/>
          <a:p>
            <a:pPr algn="l">
              <a:lnSpc>
                <a:spcPct val="120000"/>
              </a:lnSpc>
            </a:pPr>
            <a:r>
              <a:rPr lang="en-US" sz="1400" dirty="0">
                <a:solidFill>
                  <a:srgbClr val="94A3B8"/>
                </a:solidFill>
                <a:latin typeface="Liter" pitchFamily="34" charset="0"/>
                <a:ea typeface="Liter" pitchFamily="34" charset="-122"/>
                <a:cs typeface="Liter" pitchFamily="34" charset="-120"/>
              </a:rPr>
              <a:t>QUALITÉ PRÉDICTIVE</a:t>
            </a:r>
            <a:endParaRPr lang="en-US" sz="1400" dirty="0"/>
          </a:p>
        </p:txBody>
      </p:sp>
      <p:sp>
        <p:nvSpPr>
          <p:cNvPr id="32" name="Text 30"/>
          <p:cNvSpPr/>
          <p:nvPr/>
        </p:nvSpPr>
        <p:spPr>
          <a:xfrm>
            <a:off x="12255500" y="2349500"/>
            <a:ext cx="2984500" cy="381000"/>
          </a:xfrm>
          <a:prstGeom prst="rect">
            <a:avLst/>
          </a:prstGeom>
          <a:noFill/>
          <a:ln/>
        </p:spPr>
        <p:txBody>
          <a:bodyPr wrap="none" lIns="0" tIns="0" rIns="0" bIns="0" rtlCol="0" anchor="ctr"/>
          <a:lstStyle/>
          <a:p>
            <a:pPr algn="l">
              <a:lnSpc>
                <a:spcPct val="120000"/>
              </a:lnSpc>
            </a:pPr>
            <a:r>
              <a:rPr lang="en-US" sz="1600" dirty="0">
                <a:solidFill>
                  <a:srgbClr val="94A3B8"/>
                </a:solidFill>
                <a:latin typeface="Quattrocento Sans" pitchFamily="34" charset="0"/>
                <a:ea typeface="Quattrocento Sans" pitchFamily="34" charset="-122"/>
                <a:cs typeface="Quattrocento Sans" pitchFamily="34" charset="-120"/>
              </a:rPr>
              <a:t>FP32 : 0.884 / 0.8849</a:t>
            </a:r>
            <a:endParaRPr lang="en-US" sz="1600" dirty="0"/>
          </a:p>
        </p:txBody>
      </p:sp>
      <p:sp>
        <p:nvSpPr>
          <p:cNvPr id="33" name="Text 31"/>
          <p:cNvSpPr/>
          <p:nvPr/>
        </p:nvSpPr>
        <p:spPr>
          <a:xfrm>
            <a:off x="12255500" y="2768600"/>
            <a:ext cx="2984500" cy="508000"/>
          </a:xfrm>
          <a:prstGeom prst="rect">
            <a:avLst/>
          </a:prstGeom>
          <a:noFill/>
          <a:ln/>
        </p:spPr>
        <p:txBody>
          <a:bodyPr wrap="none" lIns="0" tIns="0" rIns="0" bIns="0" rtlCol="0" anchor="ctr"/>
          <a:lstStyle/>
          <a:p>
            <a:pPr algn="l">
              <a:lnSpc>
                <a:spcPct val="120000"/>
              </a:lnSpc>
            </a:pPr>
            <a:r>
              <a:rPr lang="en-US" sz="2800" dirty="0">
                <a:solidFill>
                  <a:srgbClr val="F97316"/>
                </a:solidFill>
                <a:latin typeface="Liter" pitchFamily="34" charset="0"/>
                <a:ea typeface="Liter" pitchFamily="34" charset="-122"/>
                <a:cs typeface="Liter" pitchFamily="34" charset="-120"/>
              </a:rPr>
              <a:t>0.874</a:t>
            </a:r>
            <a:endParaRPr lang="en-US" sz="2800" dirty="0"/>
          </a:p>
        </p:txBody>
      </p:sp>
      <p:sp>
        <p:nvSpPr>
          <p:cNvPr id="34" name="Text 32"/>
          <p:cNvSpPr/>
          <p:nvPr/>
        </p:nvSpPr>
        <p:spPr>
          <a:xfrm>
            <a:off x="12255500" y="3365500"/>
            <a:ext cx="2984500" cy="508000"/>
          </a:xfrm>
          <a:prstGeom prst="rect">
            <a:avLst/>
          </a:prstGeom>
          <a:noFill/>
          <a:ln/>
        </p:spPr>
        <p:txBody>
          <a:bodyPr wrap="none" lIns="0" tIns="0" rIns="0" bIns="0" rtlCol="0" anchor="ctr"/>
          <a:lstStyle/>
          <a:p>
            <a:pPr algn="l">
              <a:lnSpc>
                <a:spcPct val="120000"/>
              </a:lnSpc>
            </a:pPr>
            <a:r>
              <a:rPr lang="en-US" sz="2000" dirty="0">
                <a:solidFill>
                  <a:srgbClr val="F1F5F9"/>
                </a:solidFill>
                <a:latin typeface="Liter" pitchFamily="34" charset="0"/>
                <a:ea typeface="Liter" pitchFamily="34" charset="-122"/>
                <a:cs typeface="Liter" pitchFamily="34" charset="-120"/>
              </a:rPr>
              <a:t>F1 : 0.8748</a:t>
            </a:r>
            <a:endParaRPr lang="en-US" sz="2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62000" y="4445000"/>
          <a:ext cx="14732000" cy="2540000"/>
        </p:xfrm>
        <a:graphic>
          <a:graphicData uri="http://schemas.openxmlformats.org/drawingml/2006/table">
            <a:tbl>
              <a:tblPr/>
              <a:tblGrid>
                <a:gridCol w="4419600">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gridCol w="5156200">
                  <a:extLst>
                    <a:ext uri="{9D8B030D-6E8A-4147-A177-3AD203B41FA5}">
                      <a16:colId xmlns:a16="http://schemas.microsoft.com/office/drawing/2014/main" val="20002"/>
                    </a:ext>
                  </a:extLst>
                </a:gridCol>
              </a:tblGrid>
              <a:tr h="406400">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Métrique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FP32 (référence)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INT8 (quantifié)</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4B8A6"/>
                    </a:solidFill>
                  </a:tcPr>
                </a:tc>
                <a:extLst>
                  <a:ext uri="{0D108BD9-81ED-4DB2-BD59-A6C34878D82A}">
                    <a16:rowId xmlns:a16="http://schemas.microsoft.com/office/drawing/2014/main" val="10000"/>
                  </a:ext>
                </a:extLst>
              </a:tr>
              <a:tr h="355600">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Taille sur disque (Mo)</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127.29</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66.90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extLst>
                  <a:ext uri="{0D108BD9-81ED-4DB2-BD59-A6C34878D82A}">
                    <a16:rowId xmlns:a16="http://schemas.microsoft.com/office/drawing/2014/main" val="10001"/>
                  </a:ext>
                </a:extLst>
              </a:tr>
              <a:tr h="355600">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Taille en mémoire (Mo)</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127.27</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45.54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extLst>
                  <a:ext uri="{0D108BD9-81ED-4DB2-BD59-A6C34878D82A}">
                    <a16:rowId xmlns:a16="http://schemas.microsoft.com/office/drawing/2014/main" val="10002"/>
                  </a:ext>
                </a:extLst>
              </a:tr>
              <a:tr h="355600">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Latence moyenne (ms)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26.60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16.80</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extLst>
                  <a:ext uri="{0D108BD9-81ED-4DB2-BD59-A6C34878D82A}">
                    <a16:rowId xmlns:a16="http://schemas.microsoft.com/office/drawing/2014/main" val="10003"/>
                  </a:ext>
                </a:extLst>
              </a:tr>
              <a:tr h="355600">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Latence écart-type (ms)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6.85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1.74</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extLst>
                  <a:ext uri="{0D108BD9-81ED-4DB2-BD59-A6C34878D82A}">
                    <a16:rowId xmlns:a16="http://schemas.microsoft.com/office/drawing/2014/main" val="10004"/>
                  </a:ext>
                </a:extLst>
              </a:tr>
              <a:tr h="355600">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Latence P95 (ms)</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36.35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20.21</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E3A5F"/>
                    </a:solidFill>
                  </a:tcPr>
                </a:tc>
                <a:extLst>
                  <a:ext uri="{0D108BD9-81ED-4DB2-BD59-A6C34878D82A}">
                    <a16:rowId xmlns:a16="http://schemas.microsoft.com/office/drawing/2014/main" val="10005"/>
                  </a:ext>
                </a:extLst>
              </a:tr>
              <a:tr h="355600">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Exactitude / F1 macro</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dirty="0">
                          <a:solidFill>
                            <a:srgbClr val="F1F5F9"/>
                          </a:solidFill>
                          <a:latin typeface="Quattrocento Sans" pitchFamily="34" charset="0"/>
                          <a:ea typeface="Quattrocento Sans" pitchFamily="34" charset="-122"/>
                          <a:cs typeface="Quattrocento Sans" pitchFamily="34" charset="-120"/>
                        </a:rPr>
                        <a:t>0.884 / 0.8849</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tc>
                  <a:txBody>
                    <a:bodyPr/>
                    <a:lstStyle/>
                    <a:p>
                      <a:pPr algn="ctr"/>
                      <a:r>
                        <a:rPr lang="en-US" sz="1400" b="1" dirty="0">
                          <a:solidFill>
                            <a:srgbClr val="F1F5F9"/>
                          </a:solidFill>
                          <a:latin typeface="Quattrocento Sans" pitchFamily="34" charset="0"/>
                          <a:ea typeface="Quattrocento Sans" pitchFamily="34" charset="-122"/>
                          <a:cs typeface="Quattrocento Sans" pitchFamily="34" charset="-120"/>
                        </a:rPr>
                        <a:t>0.874 / 0.8748</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2D5A8E"/>
                      </a:solidFill>
                      <a:prstDash val="solid"/>
                      <a:round/>
                      <a:headEnd type="none" w="med" len="med"/>
                      <a:tailEnd type="none" w="med" len="med"/>
                    </a:lnL>
                    <a:lnR w="12700" cap="flat" cmpd="sng" algn="ctr">
                      <a:solidFill>
                        <a:srgbClr val="2D5A8E"/>
                      </a:solidFill>
                      <a:prstDash val="solid"/>
                      <a:round/>
                      <a:headEnd type="none" w="med" len="med"/>
                      <a:tailEnd type="none" w="med" len="med"/>
                    </a:lnR>
                    <a:lnT w="12700" cap="flat" cmpd="sng" algn="ctr">
                      <a:solidFill>
                        <a:srgbClr val="2D5A8E"/>
                      </a:solidFill>
                      <a:prstDash val="solid"/>
                      <a:round/>
                      <a:headEnd type="none" w="med" len="med"/>
                      <a:tailEnd type="none" w="med" len="med"/>
                    </a:lnT>
                    <a:lnB w="12700" cap="flat" cmpd="sng" algn="ctr">
                      <a:solidFill>
                        <a:srgbClr val="2D5A8E"/>
                      </a:solidFill>
                      <a:prstDash val="solid"/>
                      <a:round/>
                      <a:headEnd type="none" w="med" len="med"/>
                      <a:tailEnd type="none" w="med" len="med"/>
                    </a:lnB>
                    <a:solidFill>
                      <a:srgbClr val="152D4D"/>
                    </a:solidFill>
                  </a:tcPr>
                </a:tc>
                <a:extLst>
                  <a:ext uri="{0D108BD9-81ED-4DB2-BD59-A6C34878D82A}">
                    <a16:rowId xmlns:a16="http://schemas.microsoft.com/office/drawing/2014/main" val="10006"/>
                  </a:ext>
                </a:extLst>
              </a:tr>
            </a:tbl>
          </a:graphicData>
        </a:graphic>
      </p:graphicFrame>
      <p:sp>
        <p:nvSpPr>
          <p:cNvPr id="36" name="Text 33"/>
          <p:cNvSpPr/>
          <p:nvPr/>
        </p:nvSpPr>
        <p:spPr>
          <a:xfrm>
            <a:off x="762000" y="7175500"/>
            <a:ext cx="14732000" cy="635000"/>
          </a:xfrm>
          <a:prstGeom prst="rect">
            <a:avLst/>
          </a:prstGeom>
          <a:noFill/>
          <a:ln/>
        </p:spPr>
        <p:txBody>
          <a:bodyPr wrap="square" lIns="0" tIns="0" rIns="0" bIns="0" rtlCol="0" anchor="t"/>
          <a:lstStyle/>
          <a:p>
            <a:pPr algn="l">
              <a:lnSpc>
                <a:spcPct val="140000"/>
              </a:lnSpc>
            </a:pPr>
            <a:r>
              <a:rPr lang="en-US" sz="1300" i="1" dirty="0">
                <a:solidFill>
                  <a:srgbClr val="94A3B8"/>
                </a:solidFill>
                <a:latin typeface="Quattrocento Sans" pitchFamily="34" charset="0"/>
                <a:ea typeface="Quattrocento Sans" pitchFamily="34" charset="-122"/>
                <a:cs typeface="Quattrocento Sans" pitchFamily="34" charset="-120"/>
              </a:rPr>
              <a:t>Protocole : 20 itérations d'échauffement + 200 itérations chronométrées, batch size 1, évaluation uniquement sur CPU. L'exactitude FP32 diffère légèrement du benchmark (0.884 vs 0.9005) car évaluée sur un sous-échantillon de 500 exemples distinct.</a:t>
            </a:r>
            <a:endParaRPr lang="en-US" sz="1300" dirty="0"/>
          </a:p>
        </p:txBody>
      </p:sp>
      <p:sp>
        <p:nvSpPr>
          <p:cNvPr id="37" name="Text 34"/>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14</a:t>
            </a:r>
            <a:endParaRPr lang="en-US" sz="13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Text 3"/>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6" name="Shape 4"/>
          <p:cNvSpPr/>
          <p:nvPr/>
        </p:nvSpPr>
        <p:spPr>
          <a:xfrm>
            <a:off x="9753600" y="0"/>
            <a:ext cx="3251200" cy="457200"/>
          </a:xfrm>
          <a:prstGeom prst="rect">
            <a:avLst/>
          </a:prstGeom>
          <a:solidFill>
            <a:srgbClr val="14B8A6"/>
          </a:solidFill>
          <a:ln/>
        </p:spPr>
      </p:sp>
      <p:sp>
        <p:nvSpPr>
          <p:cNvPr id="7" name="Text 5"/>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04 Compression</a:t>
            </a:r>
            <a:endParaRPr lang="en-US" sz="1200" dirty="0"/>
          </a:p>
        </p:txBody>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016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DISCUSSION DU COMPROMIS</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587500"/>
            <a:ext cx="14732000" cy="1143000"/>
          </a:xfrm>
          <a:prstGeom prst="roundRect">
            <a:avLst>
              <a:gd name="adj" fmla="val 6000"/>
            </a:avLst>
          </a:prstGeom>
          <a:solidFill>
            <a:srgbClr val="152D4D"/>
          </a:solidFill>
          <a:ln w="12700">
            <a:solidFill>
              <a:srgbClr val="14B8A6"/>
            </a:solidFill>
            <a:prstDash val="solid"/>
          </a:ln>
        </p:spPr>
      </p:sp>
      <p:sp>
        <p:nvSpPr>
          <p:cNvPr id="12" name="Shape 10"/>
          <p:cNvSpPr/>
          <p:nvPr/>
        </p:nvSpPr>
        <p:spPr>
          <a:xfrm>
            <a:off x="1079500" y="18796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270193" y="168831"/>
                </a:moveTo>
                <a:lnTo>
                  <a:pt x="206692" y="270431"/>
                </a:lnTo>
                <a:cubicBezTo>
                  <a:pt x="203359" y="275749"/>
                  <a:pt x="197644" y="279083"/>
                  <a:pt x="191373" y="279400"/>
                </a:cubicBezTo>
                <a:cubicBezTo>
                  <a:pt x="185102" y="279718"/>
                  <a:pt x="179070" y="276860"/>
                  <a:pt x="175339" y="271780"/>
                </a:cubicBezTo>
                <a:lnTo>
                  <a:pt x="137239" y="220980"/>
                </a:lnTo>
                <a:cubicBezTo>
                  <a:pt x="130889" y="212566"/>
                  <a:pt x="132636" y="200660"/>
                  <a:pt x="141049" y="194310"/>
                </a:cubicBezTo>
                <a:cubicBezTo>
                  <a:pt x="149463" y="187960"/>
                  <a:pt x="161369" y="189706"/>
                  <a:pt x="167719" y="198120"/>
                </a:cubicBezTo>
                <a:lnTo>
                  <a:pt x="189151" y="226695"/>
                </a:lnTo>
                <a:lnTo>
                  <a:pt x="237887" y="148669"/>
                </a:lnTo>
                <a:cubicBezTo>
                  <a:pt x="243443" y="139779"/>
                  <a:pt x="255191" y="137001"/>
                  <a:pt x="264160" y="142637"/>
                </a:cubicBezTo>
                <a:cubicBezTo>
                  <a:pt x="273129" y="148273"/>
                  <a:pt x="275828" y="159941"/>
                  <a:pt x="270193" y="168910"/>
                </a:cubicBezTo>
                <a:close/>
              </a:path>
            </a:pathLst>
          </a:custGeom>
          <a:solidFill>
            <a:srgbClr val="14B8A6"/>
          </a:solidFill>
          <a:ln/>
        </p:spPr>
      </p:sp>
      <p:sp>
        <p:nvSpPr>
          <p:cNvPr id="13" name="Text 11"/>
          <p:cNvSpPr/>
          <p:nvPr/>
        </p:nvSpPr>
        <p:spPr>
          <a:xfrm>
            <a:off x="1651000" y="1714500"/>
            <a:ext cx="13589000" cy="889000"/>
          </a:xfrm>
          <a:prstGeom prst="rect">
            <a:avLst/>
          </a:prstGeom>
          <a:noFill/>
          <a:ln/>
        </p:spPr>
        <p:txBody>
          <a:bodyPr wrap="square" lIns="0" tIns="0" rIns="0" bIns="0" rtlCol="0" anchor="ctr"/>
          <a:lstStyle/>
          <a:p>
            <a:pPr algn="l">
              <a:lnSpc>
                <a:spcPct val="150000"/>
              </a:lnSpc>
            </a:pPr>
            <a:r>
              <a:rPr lang="en-US" sz="2000" dirty="0">
                <a:solidFill>
                  <a:srgbClr val="F1F5F9"/>
                </a:solidFill>
                <a:latin typeface="Quattrocento Sans" pitchFamily="34" charset="0"/>
                <a:ea typeface="Quattrocento Sans" pitchFamily="34" charset="-122"/>
                <a:cs typeface="Quattrocento Sans" pitchFamily="34" charset="-120"/>
              </a:rPr>
              <a:t>Le compromis est </a:t>
            </a:r>
            <a:r>
              <a:rPr lang="en-US" sz="2000" b="1" dirty="0">
                <a:solidFill>
                  <a:srgbClr val="F1F5F9"/>
                </a:solidFill>
                <a:latin typeface="Quattrocento Sans" pitchFamily="34" charset="0"/>
                <a:ea typeface="Quattrocento Sans" pitchFamily="34" charset="-122"/>
                <a:cs typeface="Quattrocento Sans" pitchFamily="34" charset="-120"/>
              </a:rPr>
              <a:t>nettement favorable</a:t>
            </a:r>
            <a:r>
              <a:rPr lang="en-US" sz="2000" dirty="0">
                <a:solidFill>
                  <a:srgbClr val="F1F5F9"/>
                </a:solidFill>
                <a:latin typeface="Quattrocento Sans" pitchFamily="34" charset="0"/>
                <a:ea typeface="Quattrocento Sans" pitchFamily="34" charset="-122"/>
                <a:cs typeface="Quattrocento Sans" pitchFamily="34" charset="-120"/>
              </a:rPr>
              <a:t> : ~1 point d'exactitude perdu pour des gains majeurs en taille, vitesse et mémoire</a:t>
            </a:r>
            <a:endParaRPr lang="en-US" sz="2000" dirty="0"/>
          </a:p>
        </p:txBody>
      </p:sp>
      <p:sp>
        <p:nvSpPr>
          <p:cNvPr id="14" name="Shape 12"/>
          <p:cNvSpPr/>
          <p:nvPr/>
        </p:nvSpPr>
        <p:spPr>
          <a:xfrm>
            <a:off x="762000" y="3048000"/>
            <a:ext cx="4699000" cy="2286000"/>
          </a:xfrm>
          <a:prstGeom prst="roundRect">
            <a:avLst>
              <a:gd name="adj" fmla="val 8000"/>
            </a:avLst>
          </a:prstGeom>
          <a:solidFill>
            <a:srgbClr val="1E3A5F"/>
          </a:solidFill>
          <a:ln w="12700">
            <a:solidFill>
              <a:srgbClr val="2D5A8E"/>
            </a:solidFill>
            <a:prstDash val="solid"/>
          </a:ln>
        </p:spPr>
      </p:sp>
      <p:sp>
        <p:nvSpPr>
          <p:cNvPr id="15" name="Shape 13"/>
          <p:cNvSpPr/>
          <p:nvPr/>
        </p:nvSpPr>
        <p:spPr>
          <a:xfrm>
            <a:off x="1079500" y="3302000"/>
            <a:ext cx="355600" cy="355600"/>
          </a:xfrm>
          <a:custGeom>
            <a:avLst/>
            <a:gdLst/>
            <a:ahLst/>
            <a:cxnLst/>
            <a:rect l="l" t="t" r="r" b="b"/>
            <a:pathLst>
              <a:path w="355600" h="355600">
                <a:moveTo>
                  <a:pt x="0" y="177800"/>
                </a:moveTo>
                <a:cubicBezTo>
                  <a:pt x="0" y="79670"/>
                  <a:pt x="79670" y="0"/>
                  <a:pt x="177800" y="0"/>
                </a:cubicBezTo>
                <a:cubicBezTo>
                  <a:pt x="275930" y="0"/>
                  <a:pt x="355600" y="79670"/>
                  <a:pt x="355600" y="177800"/>
                </a:cubicBezTo>
                <a:cubicBezTo>
                  <a:pt x="355600" y="275930"/>
                  <a:pt x="275930" y="355600"/>
                  <a:pt x="177800" y="355600"/>
                </a:cubicBezTo>
                <a:cubicBezTo>
                  <a:pt x="79670" y="355600"/>
                  <a:pt x="0" y="275930"/>
                  <a:pt x="0" y="177800"/>
                </a:cubicBezTo>
                <a:close/>
                <a:moveTo>
                  <a:pt x="200025" y="66675"/>
                </a:moveTo>
                <a:cubicBezTo>
                  <a:pt x="200025" y="54409"/>
                  <a:pt x="190066" y="44450"/>
                  <a:pt x="177800" y="44450"/>
                </a:cubicBezTo>
                <a:cubicBezTo>
                  <a:pt x="165534" y="44450"/>
                  <a:pt x="155575" y="54409"/>
                  <a:pt x="155575" y="66675"/>
                </a:cubicBezTo>
                <a:cubicBezTo>
                  <a:pt x="155575" y="78941"/>
                  <a:pt x="165534" y="88900"/>
                  <a:pt x="177800" y="88900"/>
                </a:cubicBezTo>
                <a:cubicBezTo>
                  <a:pt x="190066" y="88900"/>
                  <a:pt x="200025" y="78941"/>
                  <a:pt x="200025" y="66675"/>
                </a:cubicBezTo>
                <a:close/>
                <a:moveTo>
                  <a:pt x="177800" y="288925"/>
                </a:moveTo>
                <a:cubicBezTo>
                  <a:pt x="202317" y="288925"/>
                  <a:pt x="222250" y="268992"/>
                  <a:pt x="222250" y="244475"/>
                </a:cubicBezTo>
                <a:cubicBezTo>
                  <a:pt x="222250" y="233224"/>
                  <a:pt x="218083" y="222875"/>
                  <a:pt x="211138" y="215096"/>
                </a:cubicBezTo>
                <a:lnTo>
                  <a:pt x="259407" y="118626"/>
                </a:lnTo>
                <a:cubicBezTo>
                  <a:pt x="263505" y="110361"/>
                  <a:pt x="260171" y="100360"/>
                  <a:pt x="251976" y="96262"/>
                </a:cubicBezTo>
                <a:cubicBezTo>
                  <a:pt x="243780" y="92164"/>
                  <a:pt x="233710" y="95498"/>
                  <a:pt x="229612" y="103694"/>
                </a:cubicBezTo>
                <a:lnTo>
                  <a:pt x="181342" y="200164"/>
                </a:lnTo>
                <a:cubicBezTo>
                  <a:pt x="180161" y="200094"/>
                  <a:pt x="178981" y="200025"/>
                  <a:pt x="177800" y="200025"/>
                </a:cubicBezTo>
                <a:cubicBezTo>
                  <a:pt x="153283" y="200025"/>
                  <a:pt x="133350" y="219958"/>
                  <a:pt x="133350" y="244475"/>
                </a:cubicBezTo>
                <a:cubicBezTo>
                  <a:pt x="133350" y="268992"/>
                  <a:pt x="153283" y="288925"/>
                  <a:pt x="177800" y="288925"/>
                </a:cubicBezTo>
                <a:close/>
                <a:moveTo>
                  <a:pt x="122238" y="100013"/>
                </a:moveTo>
                <a:cubicBezTo>
                  <a:pt x="122238" y="87746"/>
                  <a:pt x="112279" y="77788"/>
                  <a:pt x="100013" y="77788"/>
                </a:cubicBezTo>
                <a:cubicBezTo>
                  <a:pt x="87746" y="77788"/>
                  <a:pt x="77788" y="87746"/>
                  <a:pt x="77788" y="100013"/>
                </a:cubicBezTo>
                <a:cubicBezTo>
                  <a:pt x="77788" y="112279"/>
                  <a:pt x="87746" y="122238"/>
                  <a:pt x="100013" y="122238"/>
                </a:cubicBezTo>
                <a:cubicBezTo>
                  <a:pt x="112279" y="122238"/>
                  <a:pt x="122238" y="112279"/>
                  <a:pt x="122238" y="100013"/>
                </a:cubicBezTo>
                <a:close/>
                <a:moveTo>
                  <a:pt x="66675" y="200025"/>
                </a:moveTo>
                <a:cubicBezTo>
                  <a:pt x="78941" y="200025"/>
                  <a:pt x="88900" y="190066"/>
                  <a:pt x="88900" y="177800"/>
                </a:cubicBezTo>
                <a:cubicBezTo>
                  <a:pt x="88900" y="165534"/>
                  <a:pt x="78941" y="155575"/>
                  <a:pt x="66675" y="155575"/>
                </a:cubicBezTo>
                <a:cubicBezTo>
                  <a:pt x="54409" y="155575"/>
                  <a:pt x="44450" y="165534"/>
                  <a:pt x="44450" y="177800"/>
                </a:cubicBezTo>
                <a:cubicBezTo>
                  <a:pt x="44450" y="190066"/>
                  <a:pt x="54409" y="200025"/>
                  <a:pt x="66675" y="200025"/>
                </a:cubicBezTo>
                <a:close/>
                <a:moveTo>
                  <a:pt x="311150" y="177800"/>
                </a:moveTo>
                <a:cubicBezTo>
                  <a:pt x="311150" y="165534"/>
                  <a:pt x="301191" y="155575"/>
                  <a:pt x="288925" y="155575"/>
                </a:cubicBezTo>
                <a:cubicBezTo>
                  <a:pt x="276659" y="155575"/>
                  <a:pt x="266700" y="165534"/>
                  <a:pt x="266700" y="177800"/>
                </a:cubicBezTo>
                <a:cubicBezTo>
                  <a:pt x="266700" y="190066"/>
                  <a:pt x="276659" y="200025"/>
                  <a:pt x="288925" y="200025"/>
                </a:cubicBezTo>
                <a:cubicBezTo>
                  <a:pt x="301191" y="200025"/>
                  <a:pt x="311150" y="190066"/>
                  <a:pt x="311150" y="177800"/>
                </a:cubicBezTo>
                <a:close/>
              </a:path>
            </a:pathLst>
          </a:custGeom>
          <a:solidFill>
            <a:srgbClr val="F97316"/>
          </a:solidFill>
          <a:ln/>
        </p:spPr>
      </p:sp>
      <p:sp>
        <p:nvSpPr>
          <p:cNvPr id="16" name="Text 14"/>
          <p:cNvSpPr/>
          <p:nvPr/>
        </p:nvSpPr>
        <p:spPr>
          <a:xfrm>
            <a:off x="1587500" y="3276600"/>
            <a:ext cx="3556000" cy="406400"/>
          </a:xfrm>
          <a:prstGeom prst="rect">
            <a:avLst/>
          </a:prstGeom>
          <a:noFill/>
          <a:ln/>
        </p:spPr>
        <p:txBody>
          <a:bodyPr wrap="none" lIns="0" tIns="0" rIns="0" bIns="0" rtlCol="0" anchor="ctr"/>
          <a:lstStyle/>
          <a:p>
            <a:pPr algn="l">
              <a:lnSpc>
                <a:spcPct val="120000"/>
              </a:lnSpc>
            </a:pPr>
            <a:r>
              <a:rPr lang="en-US" sz="1600" b="1" dirty="0">
                <a:solidFill>
                  <a:srgbClr val="F1F5F9"/>
                </a:solidFill>
                <a:latin typeface="Liter" pitchFamily="34" charset="0"/>
                <a:ea typeface="Liter" pitchFamily="34" charset="-122"/>
                <a:cs typeface="Liter" pitchFamily="34" charset="-120"/>
              </a:rPr>
              <a:t>Performance honorable</a:t>
            </a:r>
            <a:endParaRPr lang="en-US" sz="1600" dirty="0"/>
          </a:p>
        </p:txBody>
      </p:sp>
      <p:sp>
        <p:nvSpPr>
          <p:cNvPr id="17" name="Text 15"/>
          <p:cNvSpPr/>
          <p:nvPr/>
        </p:nvSpPr>
        <p:spPr>
          <a:xfrm>
            <a:off x="1079500" y="3810000"/>
            <a:ext cx="4064000" cy="1524000"/>
          </a:xfrm>
          <a:prstGeom prst="rect">
            <a:avLst/>
          </a:prstGeom>
          <a:noFill/>
          <a:ln/>
        </p:spPr>
        <p:txBody>
          <a:bodyPr wrap="square" lIns="0" tIns="0" rIns="0" bIns="0" rtlCol="0" anchor="t"/>
          <a:lstStyle/>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Une exactitude de </a:t>
            </a:r>
            <a:r>
              <a:rPr lang="en-US" sz="1500" b="1" dirty="0">
                <a:solidFill>
                  <a:srgbClr val="F1F5F9"/>
                </a:solidFill>
                <a:latin typeface="Quattrocento Sans" pitchFamily="34" charset="0"/>
                <a:ea typeface="Quattrocento Sans" pitchFamily="34" charset="-122"/>
                <a:cs typeface="Quattrocento Sans" pitchFamily="34" charset="-120"/>
              </a:rPr>
              <a:t>0.874</a:t>
            </a:r>
            <a:r>
              <a:rPr lang="en-US" sz="1500" dirty="0">
                <a:solidFill>
                  <a:srgbClr val="F1F5F9"/>
                </a:solidFill>
                <a:latin typeface="Quattrocento Sans" pitchFamily="34" charset="0"/>
                <a:ea typeface="Quattrocento Sans" pitchFamily="34" charset="-122"/>
                <a:cs typeface="Quattrocento Sans" pitchFamily="34" charset="-120"/>
              </a:rPr>
              <a:t> sur AG News reste tout à fait acceptable pour un modèle de moins de 67 Mo fonctionnant sur CPU sans accélérateur.</a:t>
            </a:r>
            <a:endParaRPr lang="en-US" sz="1500" dirty="0"/>
          </a:p>
        </p:txBody>
      </p:sp>
      <p:sp>
        <p:nvSpPr>
          <p:cNvPr id="18" name="Shape 16"/>
          <p:cNvSpPr/>
          <p:nvPr/>
        </p:nvSpPr>
        <p:spPr>
          <a:xfrm>
            <a:off x="5715000" y="3048000"/>
            <a:ext cx="4699000" cy="2286000"/>
          </a:xfrm>
          <a:prstGeom prst="roundRect">
            <a:avLst>
              <a:gd name="adj" fmla="val 8000"/>
            </a:avLst>
          </a:prstGeom>
          <a:solidFill>
            <a:srgbClr val="1E3A5F"/>
          </a:solidFill>
          <a:ln w="12700">
            <a:solidFill>
              <a:srgbClr val="2D5A8E"/>
            </a:solidFill>
            <a:prstDash val="solid"/>
          </a:ln>
        </p:spPr>
      </p:sp>
      <p:sp>
        <p:nvSpPr>
          <p:cNvPr id="19" name="Shape 17"/>
          <p:cNvSpPr/>
          <p:nvPr/>
        </p:nvSpPr>
        <p:spPr>
          <a:xfrm>
            <a:off x="6032500" y="3302000"/>
            <a:ext cx="355600" cy="355600"/>
          </a:xfrm>
          <a:custGeom>
            <a:avLst/>
            <a:gdLst/>
            <a:ahLst/>
            <a:cxnLst/>
            <a:rect l="l" t="t" r="r" b="b"/>
            <a:pathLst>
              <a:path w="355600" h="355600">
                <a:moveTo>
                  <a:pt x="44450" y="66675"/>
                </a:moveTo>
                <a:cubicBezTo>
                  <a:pt x="44450" y="54382"/>
                  <a:pt x="54382" y="44450"/>
                  <a:pt x="66675" y="44450"/>
                </a:cubicBezTo>
                <a:lnTo>
                  <a:pt x="177800" y="44450"/>
                </a:lnTo>
                <a:cubicBezTo>
                  <a:pt x="190093" y="44450"/>
                  <a:pt x="200025" y="54382"/>
                  <a:pt x="200025" y="66675"/>
                </a:cubicBezTo>
                <a:lnTo>
                  <a:pt x="200025" y="266700"/>
                </a:lnTo>
                <a:lnTo>
                  <a:pt x="266700" y="266700"/>
                </a:lnTo>
                <a:lnTo>
                  <a:pt x="266700" y="177800"/>
                </a:lnTo>
                <a:cubicBezTo>
                  <a:pt x="266700" y="165507"/>
                  <a:pt x="276632" y="155575"/>
                  <a:pt x="288925" y="155575"/>
                </a:cubicBezTo>
                <a:lnTo>
                  <a:pt x="333375" y="155575"/>
                </a:lnTo>
                <a:cubicBezTo>
                  <a:pt x="345668" y="155575"/>
                  <a:pt x="355600" y="165507"/>
                  <a:pt x="355600" y="177800"/>
                </a:cubicBezTo>
                <a:cubicBezTo>
                  <a:pt x="355600" y="190093"/>
                  <a:pt x="345668" y="200025"/>
                  <a:pt x="333375" y="200025"/>
                </a:cubicBezTo>
                <a:lnTo>
                  <a:pt x="311150" y="200025"/>
                </a:lnTo>
                <a:lnTo>
                  <a:pt x="311150" y="288925"/>
                </a:lnTo>
                <a:cubicBezTo>
                  <a:pt x="311150" y="301218"/>
                  <a:pt x="301218" y="311150"/>
                  <a:pt x="288925" y="311150"/>
                </a:cubicBezTo>
                <a:lnTo>
                  <a:pt x="177800" y="311150"/>
                </a:lnTo>
                <a:cubicBezTo>
                  <a:pt x="165507" y="311150"/>
                  <a:pt x="155575" y="301218"/>
                  <a:pt x="155575" y="288925"/>
                </a:cubicBezTo>
                <a:lnTo>
                  <a:pt x="155575" y="88900"/>
                </a:lnTo>
                <a:lnTo>
                  <a:pt x="88900" y="88900"/>
                </a:lnTo>
                <a:lnTo>
                  <a:pt x="88900" y="177800"/>
                </a:lnTo>
                <a:cubicBezTo>
                  <a:pt x="88900" y="190093"/>
                  <a:pt x="78968" y="200025"/>
                  <a:pt x="66675" y="200025"/>
                </a:cubicBezTo>
                <a:lnTo>
                  <a:pt x="22225" y="200025"/>
                </a:lnTo>
                <a:cubicBezTo>
                  <a:pt x="9932" y="200025"/>
                  <a:pt x="0" y="190093"/>
                  <a:pt x="0" y="177800"/>
                </a:cubicBezTo>
                <a:cubicBezTo>
                  <a:pt x="0" y="165507"/>
                  <a:pt x="9932" y="155575"/>
                  <a:pt x="22225" y="155575"/>
                </a:cubicBezTo>
                <a:lnTo>
                  <a:pt x="44450" y="155575"/>
                </a:lnTo>
                <a:lnTo>
                  <a:pt x="44450" y="66675"/>
                </a:lnTo>
                <a:close/>
              </a:path>
            </a:pathLst>
          </a:custGeom>
          <a:solidFill>
            <a:srgbClr val="14B8A6"/>
          </a:solidFill>
          <a:ln/>
        </p:spPr>
      </p:sp>
      <p:sp>
        <p:nvSpPr>
          <p:cNvPr id="20" name="Text 18"/>
          <p:cNvSpPr/>
          <p:nvPr/>
        </p:nvSpPr>
        <p:spPr>
          <a:xfrm>
            <a:off x="6540500" y="3276600"/>
            <a:ext cx="3556000" cy="406400"/>
          </a:xfrm>
          <a:prstGeom prst="rect">
            <a:avLst/>
          </a:prstGeom>
          <a:noFill/>
          <a:ln/>
        </p:spPr>
        <p:txBody>
          <a:bodyPr wrap="none" lIns="0" tIns="0" rIns="0" bIns="0" rtlCol="0" anchor="ctr"/>
          <a:lstStyle/>
          <a:p>
            <a:pPr algn="l">
              <a:lnSpc>
                <a:spcPct val="120000"/>
              </a:lnSpc>
            </a:pPr>
            <a:r>
              <a:rPr lang="en-US" sz="1600" b="1" dirty="0">
                <a:solidFill>
                  <a:srgbClr val="F1F5F9"/>
                </a:solidFill>
                <a:latin typeface="Liter" pitchFamily="34" charset="0"/>
                <a:ea typeface="Liter" pitchFamily="34" charset="-122"/>
                <a:cs typeface="Liter" pitchFamily="34" charset="-120"/>
              </a:rPr>
              <a:t>Latence stable</a:t>
            </a:r>
            <a:endParaRPr lang="en-US" sz="1600" dirty="0"/>
          </a:p>
        </p:txBody>
      </p:sp>
      <p:sp>
        <p:nvSpPr>
          <p:cNvPr id="21" name="Text 19"/>
          <p:cNvSpPr/>
          <p:nvPr/>
        </p:nvSpPr>
        <p:spPr>
          <a:xfrm>
            <a:off x="6032500" y="3810000"/>
            <a:ext cx="4064000" cy="1524000"/>
          </a:xfrm>
          <a:prstGeom prst="rect">
            <a:avLst/>
          </a:prstGeom>
          <a:noFill/>
          <a:ln/>
        </p:spPr>
        <p:txBody>
          <a:bodyPr wrap="square" lIns="0" tIns="0" rIns="0" bIns="0" rtlCol="0" anchor="t"/>
          <a:lstStyle/>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La variabilité de la latence (écart-type </a:t>
            </a:r>
            <a:r>
              <a:rPr lang="en-US" sz="1500" b="1" dirty="0">
                <a:solidFill>
                  <a:srgbClr val="F1F5F9"/>
                </a:solidFill>
                <a:latin typeface="Quattrocento Sans" pitchFamily="34" charset="0"/>
                <a:ea typeface="Quattrocento Sans" pitchFamily="34" charset="-122"/>
                <a:cs typeface="Quattrocento Sans" pitchFamily="34" charset="-120"/>
              </a:rPr>
              <a:t>6.85→1.74</a:t>
            </a:r>
            <a:r>
              <a:rPr lang="en-US" sz="1500" dirty="0">
                <a:solidFill>
                  <a:srgbClr val="F1F5F9"/>
                </a:solidFill>
                <a:latin typeface="Quattrocento Sans" pitchFamily="34" charset="0"/>
                <a:ea typeface="Quattrocento Sans" pitchFamily="34" charset="-122"/>
                <a:cs typeface="Quattrocento Sans" pitchFamily="34" charset="-120"/>
              </a:rPr>
              <a:t> ms, P95 </a:t>
            </a:r>
            <a:r>
              <a:rPr lang="en-US" sz="1500" b="1" dirty="0">
                <a:solidFill>
                  <a:srgbClr val="F1F5F9"/>
                </a:solidFill>
                <a:latin typeface="Quattrocento Sans" pitchFamily="34" charset="0"/>
                <a:ea typeface="Quattrocento Sans" pitchFamily="34" charset="-122"/>
                <a:cs typeface="Quattrocento Sans" pitchFamily="34" charset="-120"/>
              </a:rPr>
              <a:t>36.35→20.21</a:t>
            </a:r>
            <a:r>
              <a:rPr lang="en-US" sz="1500" dirty="0">
                <a:solidFill>
                  <a:srgbClr val="F1F5F9"/>
                </a:solidFill>
                <a:latin typeface="Quattrocento Sans" pitchFamily="34" charset="0"/>
                <a:ea typeface="Quattrocento Sans" pitchFamily="34" charset="-122"/>
                <a:cs typeface="Quattrocento Sans" pitchFamily="34" charset="-120"/>
              </a:rPr>
              <a:t> ms) est notablement réduite — avantage opérationnel pour les systèmes interactifs.</a:t>
            </a:r>
            <a:endParaRPr lang="en-US" sz="1500" dirty="0"/>
          </a:p>
        </p:txBody>
      </p:sp>
      <p:sp>
        <p:nvSpPr>
          <p:cNvPr id="22" name="Shape 20"/>
          <p:cNvSpPr/>
          <p:nvPr/>
        </p:nvSpPr>
        <p:spPr>
          <a:xfrm>
            <a:off x="10668000" y="3048000"/>
            <a:ext cx="4826000" cy="2286000"/>
          </a:xfrm>
          <a:prstGeom prst="roundRect">
            <a:avLst>
              <a:gd name="adj" fmla="val 8000"/>
            </a:avLst>
          </a:prstGeom>
          <a:solidFill>
            <a:srgbClr val="1E3A5F"/>
          </a:solidFill>
          <a:ln w="12700">
            <a:solidFill>
              <a:srgbClr val="2D5A8E"/>
            </a:solidFill>
            <a:prstDash val="solid"/>
          </a:ln>
        </p:spPr>
      </p:sp>
      <p:sp>
        <p:nvSpPr>
          <p:cNvPr id="23" name="Shape 21"/>
          <p:cNvSpPr/>
          <p:nvPr/>
        </p:nvSpPr>
        <p:spPr>
          <a:xfrm>
            <a:off x="10985500" y="3302000"/>
            <a:ext cx="355600" cy="355600"/>
          </a:xfrm>
          <a:custGeom>
            <a:avLst/>
            <a:gdLst/>
            <a:ahLst/>
            <a:cxnLst/>
            <a:rect l="l" t="t" r="r" b="b"/>
            <a:pathLst>
              <a:path w="355600" h="355600">
                <a:moveTo>
                  <a:pt x="162613" y="-18752"/>
                </a:moveTo>
                <a:lnTo>
                  <a:pt x="171750" y="6806"/>
                </a:lnTo>
                <a:lnTo>
                  <a:pt x="194469" y="17085"/>
                </a:lnTo>
                <a:cubicBezTo>
                  <a:pt x="196321" y="17919"/>
                  <a:pt x="197556" y="20003"/>
                  <a:pt x="197556" y="22225"/>
                </a:cubicBezTo>
                <a:cubicBezTo>
                  <a:pt x="197556" y="24448"/>
                  <a:pt x="196321" y="26531"/>
                  <a:pt x="194469" y="27365"/>
                </a:cubicBezTo>
                <a:lnTo>
                  <a:pt x="171750" y="37644"/>
                </a:lnTo>
                <a:lnTo>
                  <a:pt x="162613" y="63202"/>
                </a:lnTo>
                <a:cubicBezTo>
                  <a:pt x="161872" y="65286"/>
                  <a:pt x="160020" y="66675"/>
                  <a:pt x="158044" y="66675"/>
                </a:cubicBezTo>
                <a:cubicBezTo>
                  <a:pt x="156069" y="66675"/>
                  <a:pt x="154217" y="65286"/>
                  <a:pt x="153476" y="63202"/>
                </a:cubicBezTo>
                <a:lnTo>
                  <a:pt x="144339" y="37644"/>
                </a:lnTo>
                <a:lnTo>
                  <a:pt x="121620" y="27365"/>
                </a:lnTo>
                <a:cubicBezTo>
                  <a:pt x="119768" y="26531"/>
                  <a:pt x="118533" y="24447"/>
                  <a:pt x="118533" y="22225"/>
                </a:cubicBezTo>
                <a:cubicBezTo>
                  <a:pt x="118533" y="20003"/>
                  <a:pt x="119768" y="17919"/>
                  <a:pt x="121620" y="17085"/>
                </a:cubicBezTo>
                <a:lnTo>
                  <a:pt x="144339" y="6806"/>
                </a:lnTo>
                <a:lnTo>
                  <a:pt x="153476" y="-18752"/>
                </a:lnTo>
                <a:cubicBezTo>
                  <a:pt x="154217" y="-20836"/>
                  <a:pt x="156069" y="-22225"/>
                  <a:pt x="158044" y="-22225"/>
                </a:cubicBezTo>
                <a:cubicBezTo>
                  <a:pt x="160020" y="-22225"/>
                  <a:pt x="161872" y="-20836"/>
                  <a:pt x="162613" y="-18752"/>
                </a:cubicBezTo>
                <a:close/>
                <a:moveTo>
                  <a:pt x="68342" y="28962"/>
                </a:moveTo>
                <a:lnTo>
                  <a:pt x="81615" y="63758"/>
                </a:lnTo>
                <a:lnTo>
                  <a:pt x="112545" y="78690"/>
                </a:lnTo>
                <a:cubicBezTo>
                  <a:pt x="116187" y="80427"/>
                  <a:pt x="118533" y="84455"/>
                  <a:pt x="118533" y="88900"/>
                </a:cubicBezTo>
                <a:cubicBezTo>
                  <a:pt x="118533" y="93345"/>
                  <a:pt x="116187" y="97373"/>
                  <a:pt x="112545" y="99110"/>
                </a:cubicBezTo>
                <a:lnTo>
                  <a:pt x="81615" y="114042"/>
                </a:lnTo>
                <a:lnTo>
                  <a:pt x="68342" y="148838"/>
                </a:lnTo>
                <a:cubicBezTo>
                  <a:pt x="66798" y="152936"/>
                  <a:pt x="63218" y="155575"/>
                  <a:pt x="59267" y="155575"/>
                </a:cubicBezTo>
                <a:cubicBezTo>
                  <a:pt x="55316" y="155575"/>
                  <a:pt x="51735" y="152936"/>
                  <a:pt x="50191" y="148838"/>
                </a:cubicBezTo>
                <a:lnTo>
                  <a:pt x="36918" y="114042"/>
                </a:lnTo>
                <a:lnTo>
                  <a:pt x="5988" y="99110"/>
                </a:lnTo>
                <a:cubicBezTo>
                  <a:pt x="2346" y="97373"/>
                  <a:pt x="0" y="93345"/>
                  <a:pt x="0" y="88900"/>
                </a:cubicBezTo>
                <a:cubicBezTo>
                  <a:pt x="0" y="84455"/>
                  <a:pt x="2346" y="80427"/>
                  <a:pt x="5988" y="78690"/>
                </a:cubicBezTo>
                <a:lnTo>
                  <a:pt x="36918" y="63758"/>
                </a:lnTo>
                <a:lnTo>
                  <a:pt x="50191" y="28962"/>
                </a:lnTo>
                <a:cubicBezTo>
                  <a:pt x="51735" y="24864"/>
                  <a:pt x="55316" y="22225"/>
                  <a:pt x="59267" y="22225"/>
                </a:cubicBezTo>
                <a:cubicBezTo>
                  <a:pt x="63218" y="22225"/>
                  <a:pt x="66798" y="24864"/>
                  <a:pt x="68342" y="28962"/>
                </a:cubicBezTo>
                <a:close/>
                <a:moveTo>
                  <a:pt x="286456" y="211138"/>
                </a:moveTo>
                <a:cubicBezTo>
                  <a:pt x="290407" y="211138"/>
                  <a:pt x="293987" y="213777"/>
                  <a:pt x="295531" y="217874"/>
                </a:cubicBezTo>
                <a:lnTo>
                  <a:pt x="308804" y="252670"/>
                </a:lnTo>
                <a:lnTo>
                  <a:pt x="339734" y="267603"/>
                </a:lnTo>
                <a:cubicBezTo>
                  <a:pt x="343376" y="269339"/>
                  <a:pt x="345722" y="273368"/>
                  <a:pt x="345722" y="277813"/>
                </a:cubicBezTo>
                <a:cubicBezTo>
                  <a:pt x="345722" y="282257"/>
                  <a:pt x="343376" y="286286"/>
                  <a:pt x="339734" y="288022"/>
                </a:cubicBezTo>
                <a:lnTo>
                  <a:pt x="308804" y="302955"/>
                </a:lnTo>
                <a:lnTo>
                  <a:pt x="295531" y="337751"/>
                </a:lnTo>
                <a:cubicBezTo>
                  <a:pt x="293987" y="341848"/>
                  <a:pt x="290407" y="344488"/>
                  <a:pt x="286456" y="344488"/>
                </a:cubicBezTo>
                <a:cubicBezTo>
                  <a:pt x="282504" y="344488"/>
                  <a:pt x="278924" y="341848"/>
                  <a:pt x="277380" y="337751"/>
                </a:cubicBezTo>
                <a:lnTo>
                  <a:pt x="264107" y="302955"/>
                </a:lnTo>
                <a:lnTo>
                  <a:pt x="233177" y="288022"/>
                </a:lnTo>
                <a:cubicBezTo>
                  <a:pt x="229535" y="286286"/>
                  <a:pt x="227189" y="282257"/>
                  <a:pt x="227189" y="277813"/>
                </a:cubicBezTo>
                <a:cubicBezTo>
                  <a:pt x="227189" y="273368"/>
                  <a:pt x="229535" y="269339"/>
                  <a:pt x="233177" y="267603"/>
                </a:cubicBezTo>
                <a:lnTo>
                  <a:pt x="264107" y="252670"/>
                </a:lnTo>
                <a:lnTo>
                  <a:pt x="277380" y="217874"/>
                </a:lnTo>
                <a:cubicBezTo>
                  <a:pt x="278924" y="213777"/>
                  <a:pt x="282504" y="211138"/>
                  <a:pt x="286456" y="211138"/>
                </a:cubicBezTo>
                <a:close/>
                <a:moveTo>
                  <a:pt x="283986" y="0"/>
                </a:moveTo>
                <a:cubicBezTo>
                  <a:pt x="290777" y="0"/>
                  <a:pt x="297321" y="3056"/>
                  <a:pt x="302198" y="8473"/>
                </a:cubicBezTo>
                <a:lnTo>
                  <a:pt x="328313" y="37852"/>
                </a:lnTo>
                <a:cubicBezTo>
                  <a:pt x="333128" y="43339"/>
                  <a:pt x="335844" y="50701"/>
                  <a:pt x="335844" y="58341"/>
                </a:cubicBezTo>
                <a:cubicBezTo>
                  <a:pt x="335844" y="65980"/>
                  <a:pt x="333128" y="73343"/>
                  <a:pt x="328313" y="78829"/>
                </a:cubicBezTo>
                <a:lnTo>
                  <a:pt x="273861" y="140087"/>
                </a:lnTo>
                <a:lnTo>
                  <a:pt x="211323" y="69731"/>
                </a:lnTo>
                <a:lnTo>
                  <a:pt x="265774" y="8473"/>
                </a:lnTo>
                <a:cubicBezTo>
                  <a:pt x="270651" y="3056"/>
                  <a:pt x="277195" y="0"/>
                  <a:pt x="283986" y="0"/>
                </a:cubicBezTo>
                <a:close/>
                <a:moveTo>
                  <a:pt x="27287" y="276771"/>
                </a:moveTo>
                <a:lnTo>
                  <a:pt x="190394" y="93276"/>
                </a:lnTo>
                <a:lnTo>
                  <a:pt x="252933" y="163632"/>
                </a:lnTo>
                <a:lnTo>
                  <a:pt x="89826" y="347127"/>
                </a:lnTo>
                <a:cubicBezTo>
                  <a:pt x="84949" y="352544"/>
                  <a:pt x="78405" y="355600"/>
                  <a:pt x="71614" y="355600"/>
                </a:cubicBezTo>
                <a:cubicBezTo>
                  <a:pt x="64823" y="355600"/>
                  <a:pt x="58279" y="352544"/>
                  <a:pt x="53402" y="347127"/>
                </a:cubicBezTo>
                <a:lnTo>
                  <a:pt x="27287" y="317748"/>
                </a:lnTo>
                <a:cubicBezTo>
                  <a:pt x="22472" y="312261"/>
                  <a:pt x="19756" y="304899"/>
                  <a:pt x="19756" y="297259"/>
                </a:cubicBezTo>
                <a:cubicBezTo>
                  <a:pt x="19756" y="289620"/>
                  <a:pt x="22472" y="282257"/>
                  <a:pt x="27287" y="276771"/>
                </a:cubicBezTo>
                <a:close/>
              </a:path>
            </a:pathLst>
          </a:custGeom>
          <a:solidFill>
            <a:srgbClr val="F97316"/>
          </a:solidFill>
          <a:ln/>
        </p:spPr>
      </p:sp>
      <p:sp>
        <p:nvSpPr>
          <p:cNvPr id="24" name="Text 22"/>
          <p:cNvSpPr/>
          <p:nvPr/>
        </p:nvSpPr>
        <p:spPr>
          <a:xfrm>
            <a:off x="11493500" y="3276600"/>
            <a:ext cx="3683000" cy="406400"/>
          </a:xfrm>
          <a:prstGeom prst="rect">
            <a:avLst/>
          </a:prstGeom>
          <a:noFill/>
          <a:ln/>
        </p:spPr>
        <p:txBody>
          <a:bodyPr wrap="none" lIns="0" tIns="0" rIns="0" bIns="0" rtlCol="0" anchor="ctr"/>
          <a:lstStyle/>
          <a:p>
            <a:pPr algn="l">
              <a:lnSpc>
                <a:spcPct val="120000"/>
              </a:lnSpc>
            </a:pPr>
            <a:r>
              <a:rPr lang="en-US" sz="1600" b="1" dirty="0">
                <a:solidFill>
                  <a:srgbClr val="F1F5F9"/>
                </a:solidFill>
                <a:latin typeface="Liter" pitchFamily="34" charset="0"/>
                <a:ea typeface="Liter" pitchFamily="34" charset="-122"/>
                <a:cs typeface="Liter" pitchFamily="34" charset="-120"/>
              </a:rPr>
              <a:t>Sans calibration</a:t>
            </a:r>
            <a:endParaRPr lang="en-US" sz="1600" dirty="0"/>
          </a:p>
        </p:txBody>
      </p:sp>
      <p:sp>
        <p:nvSpPr>
          <p:cNvPr id="25" name="Text 23"/>
          <p:cNvSpPr/>
          <p:nvPr/>
        </p:nvSpPr>
        <p:spPr>
          <a:xfrm>
            <a:off x="10985500" y="3810000"/>
            <a:ext cx="4191000" cy="1270000"/>
          </a:xfrm>
          <a:prstGeom prst="rect">
            <a:avLst/>
          </a:prstGeom>
          <a:noFill/>
          <a:ln/>
        </p:spPr>
        <p:txBody>
          <a:bodyPr wrap="square" lIns="0" tIns="0" rIns="0" bIns="0" rtlCol="0" anchor="t"/>
          <a:lstStyle/>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L'absence de nécessité de données de calibration renforce l'intérêt pratique de cette méthode — mise en œuvre simple et directe.</a:t>
            </a:r>
            <a:endParaRPr lang="en-US" sz="1500" dirty="0"/>
          </a:p>
        </p:txBody>
      </p:sp>
      <p:sp>
        <p:nvSpPr>
          <p:cNvPr id="26" name="Shape 24"/>
          <p:cNvSpPr/>
          <p:nvPr/>
        </p:nvSpPr>
        <p:spPr>
          <a:xfrm>
            <a:off x="762000" y="5715000"/>
            <a:ext cx="14732000" cy="1524000"/>
          </a:xfrm>
          <a:prstGeom prst="roundRect">
            <a:avLst>
              <a:gd name="adj" fmla="val 6000"/>
            </a:avLst>
          </a:prstGeom>
          <a:solidFill>
            <a:srgbClr val="1E3A5F"/>
          </a:solidFill>
          <a:ln w="12700">
            <a:solidFill>
              <a:srgbClr val="F97316"/>
            </a:solidFill>
            <a:prstDash val="solid"/>
          </a:ln>
        </p:spPr>
      </p:sp>
      <p:sp>
        <p:nvSpPr>
          <p:cNvPr id="27" name="Text 25"/>
          <p:cNvSpPr/>
          <p:nvPr/>
        </p:nvSpPr>
        <p:spPr>
          <a:xfrm>
            <a:off x="1079500" y="5842000"/>
            <a:ext cx="5080000" cy="381000"/>
          </a:xfrm>
          <a:prstGeom prst="rect">
            <a:avLst/>
          </a:prstGeom>
          <a:noFill/>
          <a:ln/>
        </p:spPr>
        <p:txBody>
          <a:bodyPr wrap="none" lIns="0" tIns="0" rIns="0" bIns="0" rtlCol="0" anchor="ctr"/>
          <a:lstStyle/>
          <a:p>
            <a:pPr algn="l">
              <a:lnSpc>
                <a:spcPct val="120000"/>
              </a:lnSpc>
            </a:pPr>
            <a:r>
              <a:rPr lang="en-US" sz="1600" kern="0" spc="200" dirty="0">
                <a:solidFill>
                  <a:srgbClr val="F97316"/>
                </a:solidFill>
                <a:latin typeface="Liter" pitchFamily="34" charset="0"/>
                <a:ea typeface="Liter" pitchFamily="34" charset="-122"/>
                <a:cs typeface="Liter" pitchFamily="34" charset="-120"/>
              </a:rPr>
              <a:t>BILAN DU COMPROMIS</a:t>
            </a:r>
            <a:endParaRPr lang="en-US" sz="1600" dirty="0"/>
          </a:p>
        </p:txBody>
      </p:sp>
      <p:sp>
        <p:nvSpPr>
          <p:cNvPr id="28" name="Text 26"/>
          <p:cNvSpPr/>
          <p:nvPr/>
        </p:nvSpPr>
        <p:spPr>
          <a:xfrm>
            <a:off x="1079500" y="6286500"/>
            <a:ext cx="14097000" cy="762000"/>
          </a:xfrm>
          <a:prstGeom prst="rect">
            <a:avLst/>
          </a:prstGeom>
          <a:noFill/>
          <a:ln/>
        </p:spPr>
        <p:txBody>
          <a:bodyPr wrap="square" lIns="0" tIns="0" rIns="0" bIns="0" rtlCol="0" anchor="ctr"/>
          <a:lstStyle/>
          <a:p>
            <a:pPr algn="l">
              <a:lnSpc>
                <a:spcPct val="150000"/>
              </a:lnSpc>
            </a:pPr>
            <a:r>
              <a:rPr lang="en-US" sz="1600" dirty="0">
                <a:solidFill>
                  <a:srgbClr val="F1F5F9"/>
                </a:solidFill>
                <a:latin typeface="Quattrocento Sans" pitchFamily="34" charset="0"/>
                <a:ea typeface="Quattrocento Sans" pitchFamily="34" charset="-122"/>
                <a:cs typeface="Quattrocento Sans" pitchFamily="34" charset="-120"/>
              </a:rPr>
              <a:t>✓ </a:t>
            </a:r>
            <a:r>
              <a:rPr lang="en-US" sz="1600" b="1" dirty="0">
                <a:solidFill>
                  <a:srgbClr val="F1F5F9"/>
                </a:solidFill>
                <a:latin typeface="Quattrocento Sans" pitchFamily="34" charset="0"/>
                <a:ea typeface="Quattrocento Sans" pitchFamily="34" charset="-122"/>
                <a:cs typeface="Quattrocento Sans" pitchFamily="34" charset="-120"/>
              </a:rPr>
              <a:t>-47%</a:t>
            </a:r>
            <a:r>
              <a:rPr lang="en-US" sz="1600" dirty="0">
                <a:solidFill>
                  <a:srgbClr val="F1F5F9"/>
                </a:solidFill>
                <a:latin typeface="Quattrocento Sans" pitchFamily="34" charset="0"/>
                <a:ea typeface="Quattrocento Sans" pitchFamily="34" charset="-122"/>
                <a:cs typeface="Quattrocento Sans" pitchFamily="34" charset="-120"/>
              </a:rPr>
              <a:t> taille disque  |  ✓ </a:t>
            </a:r>
            <a:r>
              <a:rPr lang="en-US" sz="1600" b="1" dirty="0">
                <a:solidFill>
                  <a:srgbClr val="F1F5F9"/>
                </a:solidFill>
                <a:latin typeface="Quattrocento Sans" pitchFamily="34" charset="0"/>
                <a:ea typeface="Quattrocento Sans" pitchFamily="34" charset="-122"/>
                <a:cs typeface="Quattrocento Sans" pitchFamily="34" charset="-120"/>
              </a:rPr>
              <a:t>-64%</a:t>
            </a:r>
            <a:r>
              <a:rPr lang="en-US" sz="1600" dirty="0">
                <a:solidFill>
                  <a:srgbClr val="F1F5F9"/>
                </a:solidFill>
                <a:latin typeface="Quattrocento Sans" pitchFamily="34" charset="0"/>
                <a:ea typeface="Quattrocento Sans" pitchFamily="34" charset="-122"/>
                <a:cs typeface="Quattrocento Sans" pitchFamily="34" charset="-120"/>
              </a:rPr>
              <a:t> empreinte mémoire  |  ✓ </a:t>
            </a:r>
            <a:r>
              <a:rPr lang="en-US" sz="1600" b="1" dirty="0">
                <a:solidFill>
                  <a:srgbClr val="F1F5F9"/>
                </a:solidFill>
                <a:latin typeface="Quattrocento Sans" pitchFamily="34" charset="0"/>
                <a:ea typeface="Quattrocento Sans" pitchFamily="34" charset="-122"/>
                <a:cs typeface="Quattrocento Sans" pitchFamily="34" charset="-120"/>
              </a:rPr>
              <a:t>-37%</a:t>
            </a:r>
            <a:r>
              <a:rPr lang="en-US" sz="1600" dirty="0">
                <a:solidFill>
                  <a:srgbClr val="F1F5F9"/>
                </a:solidFill>
                <a:latin typeface="Quattrocento Sans" pitchFamily="34" charset="0"/>
                <a:ea typeface="Quattrocento Sans" pitchFamily="34" charset="-122"/>
                <a:cs typeface="Quattrocento Sans" pitchFamily="34" charset="-120"/>
              </a:rPr>
              <a:t> latence moyenne  |  ✗ </a:t>
            </a:r>
            <a:r>
              <a:rPr lang="en-US" sz="1600" b="1" dirty="0">
                <a:solidFill>
                  <a:srgbClr val="F1F5F9"/>
                </a:solidFill>
                <a:latin typeface="Quattrocento Sans" pitchFamily="34" charset="0"/>
                <a:ea typeface="Quattrocento Sans" pitchFamily="34" charset="-122"/>
                <a:cs typeface="Quattrocento Sans" pitchFamily="34" charset="-120"/>
              </a:rPr>
              <a:t>-1.1%</a:t>
            </a:r>
            <a:r>
              <a:rPr lang="en-US" sz="1600" dirty="0">
                <a:solidFill>
                  <a:srgbClr val="F1F5F9"/>
                </a:solidFill>
                <a:latin typeface="Quattrocento Sans" pitchFamily="34" charset="0"/>
                <a:ea typeface="Quattrocento Sans" pitchFamily="34" charset="-122"/>
                <a:cs typeface="Quattrocento Sans" pitchFamily="34" charset="-120"/>
              </a:rPr>
              <a:t> exactitude</a:t>
            </a:r>
            <a:endParaRPr lang="en-US" sz="1600" dirty="0"/>
          </a:p>
        </p:txBody>
      </p:sp>
      <p:sp>
        <p:nvSpPr>
          <p:cNvPr id="29" name="Text 27"/>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15</a:t>
            </a:r>
            <a:endParaRPr lang="en-US" sz="13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Text 3"/>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6" name="Text 4"/>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7" name="Shape 5"/>
          <p:cNvSpPr/>
          <p:nvPr/>
        </p:nvSpPr>
        <p:spPr>
          <a:xfrm>
            <a:off x="13004800" y="0"/>
            <a:ext cx="3251200" cy="457200"/>
          </a:xfrm>
          <a:prstGeom prst="rect">
            <a:avLst/>
          </a:prstGeom>
          <a:solidFill>
            <a:srgbClr val="14B8A6"/>
          </a:solidFill>
          <a:ln/>
        </p:spPr>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016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LIMITES DE L'ÉTUDE</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587500"/>
            <a:ext cx="4699000" cy="3556000"/>
          </a:xfrm>
          <a:prstGeom prst="roundRect">
            <a:avLst>
              <a:gd name="adj" fmla="val 8000"/>
            </a:avLst>
          </a:prstGeom>
          <a:solidFill>
            <a:srgbClr val="1E3A5F"/>
          </a:solidFill>
          <a:ln w="12700">
            <a:solidFill>
              <a:srgbClr val="2D5A8E"/>
            </a:solidFill>
            <a:prstDash val="solid"/>
          </a:ln>
        </p:spPr>
      </p:sp>
      <p:sp>
        <p:nvSpPr>
          <p:cNvPr id="12" name="Shape 10"/>
          <p:cNvSpPr/>
          <p:nvPr/>
        </p:nvSpPr>
        <p:spPr>
          <a:xfrm>
            <a:off x="762000" y="1587500"/>
            <a:ext cx="4699000" cy="63500"/>
          </a:xfrm>
          <a:prstGeom prst="rect">
            <a:avLst/>
          </a:prstGeom>
          <a:solidFill>
            <a:srgbClr val="F97316"/>
          </a:solidFill>
          <a:ln/>
        </p:spPr>
      </p:sp>
      <p:sp>
        <p:nvSpPr>
          <p:cNvPr id="13" name="Text 11"/>
          <p:cNvSpPr/>
          <p:nvPr/>
        </p:nvSpPr>
        <p:spPr>
          <a:xfrm>
            <a:off x="1016000" y="1841500"/>
            <a:ext cx="762000" cy="508000"/>
          </a:xfrm>
          <a:prstGeom prst="rect">
            <a:avLst/>
          </a:prstGeom>
          <a:noFill/>
          <a:ln/>
        </p:spPr>
        <p:txBody>
          <a:bodyPr wrap="none" lIns="0" tIns="0" rIns="0" bIns="0" rtlCol="0" anchor="ctr"/>
          <a:lstStyle/>
          <a:p>
            <a:pPr algn="ctr">
              <a:lnSpc>
                <a:spcPct val="120000"/>
              </a:lnSpc>
            </a:pPr>
            <a:r>
              <a:rPr lang="en-US" sz="3200" dirty="0">
                <a:solidFill>
                  <a:srgbClr val="F97316"/>
                </a:solidFill>
                <a:latin typeface="Liter" pitchFamily="34" charset="0"/>
                <a:ea typeface="Liter" pitchFamily="34" charset="-122"/>
                <a:cs typeface="Liter" pitchFamily="34" charset="-120"/>
              </a:rPr>
              <a:t>1</a:t>
            </a:r>
            <a:endParaRPr lang="en-US" sz="3200" dirty="0"/>
          </a:p>
        </p:txBody>
      </p:sp>
      <p:sp>
        <p:nvSpPr>
          <p:cNvPr id="14" name="Text 12"/>
          <p:cNvSpPr/>
          <p:nvPr/>
        </p:nvSpPr>
        <p:spPr>
          <a:xfrm>
            <a:off x="1778000" y="1879600"/>
            <a:ext cx="3429000" cy="406400"/>
          </a:xfrm>
          <a:prstGeom prst="rect">
            <a:avLst/>
          </a:prstGeom>
          <a:noFill/>
          <a:ln/>
        </p:spPr>
        <p:txBody>
          <a:bodyPr wrap="none" lIns="0" tIns="0" rIns="0" bIns="0" rtlCol="0" anchor="ctr"/>
          <a:lstStyle/>
          <a:p>
            <a:pPr algn="l">
              <a:lnSpc>
                <a:spcPct val="120000"/>
              </a:lnSpc>
            </a:pPr>
            <a:r>
              <a:rPr lang="en-US" sz="1800" b="1" dirty="0">
                <a:solidFill>
                  <a:srgbClr val="F1F5F9"/>
                </a:solidFill>
                <a:latin typeface="Liter" pitchFamily="34" charset="0"/>
                <a:ea typeface="Liter" pitchFamily="34" charset="-122"/>
                <a:cs typeface="Liter" pitchFamily="34" charset="-120"/>
              </a:rPr>
              <a:t>Sous-échantillonnage</a:t>
            </a:r>
            <a:endParaRPr lang="en-US" sz="1800" dirty="0"/>
          </a:p>
        </p:txBody>
      </p:sp>
      <p:sp>
        <p:nvSpPr>
          <p:cNvPr id="15" name="Text 13"/>
          <p:cNvSpPr/>
          <p:nvPr/>
        </p:nvSpPr>
        <p:spPr>
          <a:xfrm>
            <a:off x="1016000" y="2476500"/>
            <a:ext cx="4191000" cy="2413000"/>
          </a:xfrm>
          <a:prstGeom prst="rect">
            <a:avLst/>
          </a:prstGeom>
          <a:noFill/>
          <a:ln/>
        </p:spPr>
        <p:txBody>
          <a:bodyPr wrap="square" lIns="0" tIns="0" rIns="0" bIns="0" rtlCol="0" anchor="t"/>
          <a:lstStyle/>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Seulement </a:t>
            </a:r>
            <a:r>
              <a:rPr lang="en-US" sz="1500" b="1" dirty="0">
                <a:solidFill>
                  <a:srgbClr val="F1F5F9"/>
                </a:solidFill>
                <a:latin typeface="Quattrocento Sans" pitchFamily="34" charset="0"/>
                <a:ea typeface="Quattrocento Sans" pitchFamily="34" charset="-122"/>
                <a:cs typeface="Quattrocento Sans" pitchFamily="34" charset="-120"/>
              </a:rPr>
              <a:t>10 000 exemples</a:t>
            </a:r>
            <a:r>
              <a:rPr lang="en-US" sz="1500" dirty="0">
                <a:solidFill>
                  <a:srgbClr val="F1F5F9"/>
                </a:solidFill>
                <a:latin typeface="Quattrocento Sans" pitchFamily="34" charset="0"/>
                <a:ea typeface="Quattrocento Sans" pitchFamily="34" charset="-122"/>
                <a:cs typeface="Quattrocento Sans" pitchFamily="34" charset="-120"/>
              </a:rPr>
              <a:t> d'entraînement sur 120 000 disponibles. Favorise les optimiseurs à convergence rapide et pénalise ceux nécessitant plus de données. Lion pourrait réduire l'écart avec AdamW sur le jeu complet.</a:t>
            </a:r>
            <a:endParaRPr lang="en-US" sz="1500" dirty="0"/>
          </a:p>
        </p:txBody>
      </p:sp>
      <p:sp>
        <p:nvSpPr>
          <p:cNvPr id="16" name="Shape 14"/>
          <p:cNvSpPr/>
          <p:nvPr/>
        </p:nvSpPr>
        <p:spPr>
          <a:xfrm>
            <a:off x="5715000" y="1587500"/>
            <a:ext cx="4699000" cy="3556000"/>
          </a:xfrm>
          <a:prstGeom prst="roundRect">
            <a:avLst>
              <a:gd name="adj" fmla="val 8000"/>
            </a:avLst>
          </a:prstGeom>
          <a:solidFill>
            <a:srgbClr val="1E3A5F"/>
          </a:solidFill>
          <a:ln w="12700">
            <a:solidFill>
              <a:srgbClr val="2D5A8E"/>
            </a:solidFill>
            <a:prstDash val="solid"/>
          </a:ln>
        </p:spPr>
      </p:sp>
      <p:sp>
        <p:nvSpPr>
          <p:cNvPr id="17" name="Shape 15"/>
          <p:cNvSpPr/>
          <p:nvPr/>
        </p:nvSpPr>
        <p:spPr>
          <a:xfrm>
            <a:off x="5715000" y="1587500"/>
            <a:ext cx="4699000" cy="63500"/>
          </a:xfrm>
          <a:prstGeom prst="rect">
            <a:avLst/>
          </a:prstGeom>
          <a:solidFill>
            <a:srgbClr val="14B8A6"/>
          </a:solidFill>
          <a:ln/>
        </p:spPr>
      </p:sp>
      <p:sp>
        <p:nvSpPr>
          <p:cNvPr id="18" name="Text 16"/>
          <p:cNvSpPr/>
          <p:nvPr/>
        </p:nvSpPr>
        <p:spPr>
          <a:xfrm>
            <a:off x="5969000" y="1841500"/>
            <a:ext cx="762000" cy="508000"/>
          </a:xfrm>
          <a:prstGeom prst="rect">
            <a:avLst/>
          </a:prstGeom>
          <a:noFill/>
          <a:ln/>
        </p:spPr>
        <p:txBody>
          <a:bodyPr wrap="none" lIns="0" tIns="0" rIns="0" bIns="0" rtlCol="0" anchor="ctr"/>
          <a:lstStyle/>
          <a:p>
            <a:pPr algn="ctr">
              <a:lnSpc>
                <a:spcPct val="120000"/>
              </a:lnSpc>
            </a:pPr>
            <a:r>
              <a:rPr lang="en-US" sz="3200" dirty="0">
                <a:solidFill>
                  <a:srgbClr val="14B8A6"/>
                </a:solidFill>
                <a:latin typeface="Liter" pitchFamily="34" charset="0"/>
                <a:ea typeface="Liter" pitchFamily="34" charset="-122"/>
                <a:cs typeface="Liter" pitchFamily="34" charset="-120"/>
              </a:rPr>
              <a:t>2</a:t>
            </a:r>
            <a:endParaRPr lang="en-US" sz="3200" dirty="0"/>
          </a:p>
        </p:txBody>
      </p:sp>
      <p:sp>
        <p:nvSpPr>
          <p:cNvPr id="19" name="Text 17"/>
          <p:cNvSpPr/>
          <p:nvPr/>
        </p:nvSpPr>
        <p:spPr>
          <a:xfrm>
            <a:off x="6731000" y="1879600"/>
            <a:ext cx="3429000" cy="406400"/>
          </a:xfrm>
          <a:prstGeom prst="rect">
            <a:avLst/>
          </a:prstGeom>
          <a:noFill/>
          <a:ln/>
        </p:spPr>
        <p:txBody>
          <a:bodyPr wrap="none" lIns="0" tIns="0" rIns="0" bIns="0" rtlCol="0" anchor="ctr"/>
          <a:lstStyle/>
          <a:p>
            <a:pPr algn="l">
              <a:lnSpc>
                <a:spcPct val="120000"/>
              </a:lnSpc>
            </a:pPr>
            <a:r>
              <a:rPr lang="en-US" sz="1800" b="1" dirty="0">
                <a:solidFill>
                  <a:srgbClr val="F1F5F9"/>
                </a:solidFill>
                <a:latin typeface="Liter" pitchFamily="34" charset="0"/>
                <a:ea typeface="Liter" pitchFamily="34" charset="-122"/>
                <a:cs typeface="Liter" pitchFamily="34" charset="-120"/>
              </a:rPr>
              <a:t>3 époques fixes</a:t>
            </a:r>
            <a:endParaRPr lang="en-US" sz="1800" dirty="0"/>
          </a:p>
        </p:txBody>
      </p:sp>
      <p:sp>
        <p:nvSpPr>
          <p:cNvPr id="20" name="Text 18"/>
          <p:cNvSpPr/>
          <p:nvPr/>
        </p:nvSpPr>
        <p:spPr>
          <a:xfrm>
            <a:off x="5969000" y="2476500"/>
            <a:ext cx="4191000" cy="2413000"/>
          </a:xfrm>
          <a:prstGeom prst="rect">
            <a:avLst/>
          </a:prstGeom>
          <a:noFill/>
          <a:ln/>
        </p:spPr>
        <p:txBody>
          <a:bodyPr wrap="square" lIns="0" tIns="0" rIns="0" bIns="0" rtlCol="0" anchor="t"/>
          <a:lstStyle/>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Trois époques n'est pas équitable pour tous. AdamW a pleinement profité de ces 3 passes, tandis que Lion aurait gagné à en effectuer davantage. Un </a:t>
            </a:r>
            <a:r>
              <a:rPr lang="en-US" sz="1500" b="1" dirty="0">
                <a:solidFill>
                  <a:srgbClr val="F1F5F9"/>
                </a:solidFill>
                <a:latin typeface="Quattrocento Sans" pitchFamily="34" charset="0"/>
                <a:ea typeface="Quattrocento Sans" pitchFamily="34" charset="-122"/>
                <a:cs typeface="Quattrocento Sans" pitchFamily="34" charset="-120"/>
              </a:rPr>
              <a:t>protocole avec arrêt précoce</a:t>
            </a:r>
            <a:r>
              <a:rPr lang="en-US" sz="1500" dirty="0">
                <a:solidFill>
                  <a:srgbClr val="F1F5F9"/>
                </a:solidFill>
                <a:latin typeface="Quattrocento Sans" pitchFamily="34" charset="0"/>
                <a:ea typeface="Quattrocento Sans" pitchFamily="34" charset="-122"/>
                <a:cs typeface="Quattrocento Sans" pitchFamily="34" charset="-120"/>
              </a:rPr>
              <a:t> aurait été plus juste.</a:t>
            </a:r>
            <a:endParaRPr lang="en-US" sz="1500" dirty="0"/>
          </a:p>
        </p:txBody>
      </p:sp>
      <p:sp>
        <p:nvSpPr>
          <p:cNvPr id="21" name="Shape 19"/>
          <p:cNvSpPr/>
          <p:nvPr/>
        </p:nvSpPr>
        <p:spPr>
          <a:xfrm>
            <a:off x="10668000" y="1587500"/>
            <a:ext cx="4826000" cy="3556000"/>
          </a:xfrm>
          <a:prstGeom prst="roundRect">
            <a:avLst>
              <a:gd name="adj" fmla="val 8000"/>
            </a:avLst>
          </a:prstGeom>
          <a:solidFill>
            <a:srgbClr val="1E3A5F"/>
          </a:solidFill>
          <a:ln w="12700">
            <a:solidFill>
              <a:srgbClr val="2D5A8E"/>
            </a:solidFill>
            <a:prstDash val="solid"/>
          </a:ln>
        </p:spPr>
      </p:sp>
      <p:sp>
        <p:nvSpPr>
          <p:cNvPr id="22" name="Shape 20"/>
          <p:cNvSpPr/>
          <p:nvPr/>
        </p:nvSpPr>
        <p:spPr>
          <a:xfrm>
            <a:off x="10668000" y="1587500"/>
            <a:ext cx="4826000" cy="63500"/>
          </a:xfrm>
          <a:prstGeom prst="rect">
            <a:avLst/>
          </a:prstGeom>
          <a:solidFill>
            <a:srgbClr val="EF4444"/>
          </a:solidFill>
          <a:ln/>
        </p:spPr>
      </p:sp>
      <p:sp>
        <p:nvSpPr>
          <p:cNvPr id="23" name="Text 21"/>
          <p:cNvSpPr/>
          <p:nvPr/>
        </p:nvSpPr>
        <p:spPr>
          <a:xfrm>
            <a:off x="10922000" y="1841500"/>
            <a:ext cx="762000" cy="508000"/>
          </a:xfrm>
          <a:prstGeom prst="rect">
            <a:avLst/>
          </a:prstGeom>
          <a:noFill/>
          <a:ln/>
        </p:spPr>
        <p:txBody>
          <a:bodyPr wrap="none" lIns="0" tIns="0" rIns="0" bIns="0" rtlCol="0" anchor="ctr"/>
          <a:lstStyle/>
          <a:p>
            <a:pPr algn="ctr">
              <a:lnSpc>
                <a:spcPct val="120000"/>
              </a:lnSpc>
            </a:pPr>
            <a:r>
              <a:rPr lang="en-US" sz="3200" dirty="0">
                <a:solidFill>
                  <a:srgbClr val="EF4444"/>
                </a:solidFill>
                <a:latin typeface="Liter" pitchFamily="34" charset="0"/>
                <a:ea typeface="Liter" pitchFamily="34" charset="-122"/>
                <a:cs typeface="Liter" pitchFamily="34" charset="-120"/>
              </a:rPr>
              <a:t>3</a:t>
            </a:r>
            <a:endParaRPr lang="en-US" sz="3200" dirty="0"/>
          </a:p>
        </p:txBody>
      </p:sp>
      <p:sp>
        <p:nvSpPr>
          <p:cNvPr id="24" name="Text 22"/>
          <p:cNvSpPr/>
          <p:nvPr/>
        </p:nvSpPr>
        <p:spPr>
          <a:xfrm>
            <a:off x="11684000" y="1879600"/>
            <a:ext cx="3556000" cy="406400"/>
          </a:xfrm>
          <a:prstGeom prst="rect">
            <a:avLst/>
          </a:prstGeom>
          <a:noFill/>
          <a:ln/>
        </p:spPr>
        <p:txBody>
          <a:bodyPr wrap="none" lIns="0" tIns="0" rIns="0" bIns="0" rtlCol="0" anchor="ctr"/>
          <a:lstStyle/>
          <a:p>
            <a:pPr algn="l">
              <a:lnSpc>
                <a:spcPct val="120000"/>
              </a:lnSpc>
            </a:pPr>
            <a:r>
              <a:rPr lang="en-US" sz="1800" b="1" dirty="0">
                <a:solidFill>
                  <a:srgbClr val="F1F5F9"/>
                </a:solidFill>
                <a:latin typeface="Liter" pitchFamily="34" charset="0"/>
                <a:ea typeface="Liter" pitchFamily="34" charset="-122"/>
                <a:cs typeface="Liter" pitchFamily="34" charset="-120"/>
              </a:rPr>
              <a:t>Hyperparamètres uniques</a:t>
            </a:r>
            <a:endParaRPr lang="en-US" sz="1800" dirty="0"/>
          </a:p>
        </p:txBody>
      </p:sp>
      <p:sp>
        <p:nvSpPr>
          <p:cNvPr id="25" name="Text 23"/>
          <p:cNvSpPr/>
          <p:nvPr/>
        </p:nvSpPr>
        <p:spPr>
          <a:xfrm>
            <a:off x="10922000" y="2476500"/>
            <a:ext cx="4318000" cy="2413000"/>
          </a:xfrm>
          <a:prstGeom prst="rect">
            <a:avLst/>
          </a:prstGeom>
          <a:noFill/>
          <a:ln/>
        </p:spPr>
        <p:txBody>
          <a:bodyPr wrap="square" lIns="0" tIns="0" rIns="0" bIns="0" rtlCol="0" anchor="t"/>
          <a:lstStyle/>
          <a:p>
            <a:pPr algn="l">
              <a:lnSpc>
                <a:spcPct val="160000"/>
              </a:lnSpc>
            </a:pPr>
            <a:r>
              <a:rPr lang="en-US" sz="1500" dirty="0">
                <a:solidFill>
                  <a:srgbClr val="F1F5F9"/>
                </a:solidFill>
                <a:latin typeface="Quattrocento Sans" pitchFamily="34" charset="0"/>
                <a:ea typeface="Quattrocento Sans" pitchFamily="34" charset="-122"/>
                <a:cs typeface="Quattrocento Sans" pitchFamily="34" charset="-120"/>
              </a:rPr>
              <a:t>Un seul jeu d'hyperparamètres par optimiseur. Le LR </a:t>
            </a:r>
            <a:r>
              <a:rPr lang="en-US" sz="1500" b="1" dirty="0">
                <a:solidFill>
                  <a:srgbClr val="F1F5F9"/>
                </a:solidFill>
                <a:latin typeface="Quattrocento Sans" pitchFamily="34" charset="0"/>
                <a:ea typeface="Quattrocento Sans" pitchFamily="34" charset="-122"/>
                <a:cs typeface="Quattrocento Sans" pitchFamily="34" charset="-120"/>
              </a:rPr>
              <a:t>2e-5</a:t>
            </a:r>
            <a:r>
              <a:rPr lang="en-US" sz="1500" dirty="0">
                <a:solidFill>
                  <a:srgbClr val="F1F5F9"/>
                </a:solidFill>
                <a:latin typeface="Quattrocento Sans" pitchFamily="34" charset="0"/>
                <a:ea typeface="Quattrocento Sans" pitchFamily="34" charset="-122"/>
                <a:cs typeface="Quattrocento Sans" pitchFamily="34" charset="-120"/>
              </a:rPr>
              <a:t> est optimal pour AdamW mais clairement inadapté à SGD et LAMB. Notre benchmark compare des </a:t>
            </a:r>
            <a:r>
              <a:rPr lang="en-US" sz="1500" b="1" dirty="0">
                <a:solidFill>
                  <a:srgbClr val="F1F5F9"/>
                </a:solidFill>
                <a:latin typeface="Quattrocento Sans" pitchFamily="34" charset="0"/>
                <a:ea typeface="Quattrocento Sans" pitchFamily="34" charset="-122"/>
                <a:cs typeface="Quattrocento Sans" pitchFamily="34" charset="-120"/>
              </a:rPr>
              <a:t>configurations</a:t>
            </a:r>
            <a:r>
              <a:rPr lang="en-US" sz="1500" dirty="0">
                <a:solidFill>
                  <a:srgbClr val="F1F5F9"/>
                </a:solidFill>
                <a:latin typeface="Quattrocento Sans" pitchFamily="34" charset="0"/>
                <a:ea typeface="Quattrocento Sans" pitchFamily="34" charset="-122"/>
                <a:cs typeface="Quattrocento Sans" pitchFamily="34" charset="-120"/>
              </a:rPr>
              <a:t>, pas des algorithmes dans l'absolu.</a:t>
            </a:r>
            <a:endParaRPr lang="en-US" sz="1500" dirty="0"/>
          </a:p>
        </p:txBody>
      </p:sp>
      <p:sp>
        <p:nvSpPr>
          <p:cNvPr id="26" name="Shape 24"/>
          <p:cNvSpPr/>
          <p:nvPr/>
        </p:nvSpPr>
        <p:spPr>
          <a:xfrm>
            <a:off x="762000" y="5461000"/>
            <a:ext cx="14732000" cy="1270000"/>
          </a:xfrm>
          <a:prstGeom prst="roundRect">
            <a:avLst>
              <a:gd name="adj" fmla="val 6000"/>
            </a:avLst>
          </a:prstGeom>
          <a:solidFill>
            <a:srgbClr val="152D4D"/>
          </a:solidFill>
          <a:ln w="12700">
            <a:solidFill>
              <a:srgbClr val="14B8A6"/>
            </a:solidFill>
            <a:prstDash val="solid"/>
          </a:ln>
        </p:spPr>
      </p:sp>
      <p:sp>
        <p:nvSpPr>
          <p:cNvPr id="27" name="Shape 25"/>
          <p:cNvSpPr/>
          <p:nvPr/>
        </p:nvSpPr>
        <p:spPr>
          <a:xfrm>
            <a:off x="1079500" y="5778500"/>
            <a:ext cx="355600" cy="355600"/>
          </a:xfrm>
          <a:custGeom>
            <a:avLst/>
            <a:gdLst/>
            <a:ahLst/>
            <a:cxnLst/>
            <a:rect l="l" t="t" r="r" b="b"/>
            <a:pathLst>
              <a:path w="355600" h="355600">
                <a:moveTo>
                  <a:pt x="228600" y="0"/>
                </a:moveTo>
                <a:lnTo>
                  <a:pt x="101600" y="0"/>
                </a:lnTo>
                <a:cubicBezTo>
                  <a:pt x="87551" y="0"/>
                  <a:pt x="76200" y="9932"/>
                  <a:pt x="76200" y="22225"/>
                </a:cubicBezTo>
                <a:cubicBezTo>
                  <a:pt x="76200" y="34518"/>
                  <a:pt x="87551" y="44450"/>
                  <a:pt x="101600" y="44450"/>
                </a:cubicBezTo>
                <a:lnTo>
                  <a:pt x="101600" y="149671"/>
                </a:lnTo>
                <a:lnTo>
                  <a:pt x="5953" y="296079"/>
                </a:lnTo>
                <a:cubicBezTo>
                  <a:pt x="2064" y="302121"/>
                  <a:pt x="0" y="308858"/>
                  <a:pt x="0" y="315803"/>
                </a:cubicBezTo>
                <a:cubicBezTo>
                  <a:pt x="0" y="337820"/>
                  <a:pt x="20320" y="355600"/>
                  <a:pt x="45482" y="355600"/>
                </a:cubicBezTo>
                <a:lnTo>
                  <a:pt x="310118" y="355600"/>
                </a:lnTo>
                <a:cubicBezTo>
                  <a:pt x="335201" y="355600"/>
                  <a:pt x="355600" y="337820"/>
                  <a:pt x="355600" y="315803"/>
                </a:cubicBezTo>
                <a:cubicBezTo>
                  <a:pt x="355600" y="308858"/>
                  <a:pt x="353536" y="302052"/>
                  <a:pt x="349647" y="296079"/>
                </a:cubicBezTo>
                <a:lnTo>
                  <a:pt x="254000" y="149671"/>
                </a:lnTo>
                <a:lnTo>
                  <a:pt x="254000" y="44450"/>
                </a:lnTo>
                <a:cubicBezTo>
                  <a:pt x="268049" y="44450"/>
                  <a:pt x="279400" y="34518"/>
                  <a:pt x="279400" y="22225"/>
                </a:cubicBezTo>
                <a:cubicBezTo>
                  <a:pt x="279400" y="9932"/>
                  <a:pt x="268049" y="0"/>
                  <a:pt x="254000" y="0"/>
                </a:cubicBezTo>
                <a:lnTo>
                  <a:pt x="228600" y="0"/>
                </a:lnTo>
                <a:close/>
                <a:moveTo>
                  <a:pt x="152400" y="149671"/>
                </a:moveTo>
                <a:lnTo>
                  <a:pt x="152400" y="44450"/>
                </a:lnTo>
                <a:lnTo>
                  <a:pt x="203200" y="44450"/>
                </a:lnTo>
                <a:lnTo>
                  <a:pt x="203200" y="149671"/>
                </a:lnTo>
                <a:cubicBezTo>
                  <a:pt x="203200" y="157381"/>
                  <a:pt x="205502" y="165021"/>
                  <a:pt x="209868" y="171758"/>
                </a:cubicBezTo>
                <a:lnTo>
                  <a:pt x="242888" y="222250"/>
                </a:lnTo>
                <a:lnTo>
                  <a:pt x="112713" y="222250"/>
                </a:lnTo>
                <a:lnTo>
                  <a:pt x="145733" y="171758"/>
                </a:lnTo>
                <a:cubicBezTo>
                  <a:pt x="150098" y="165021"/>
                  <a:pt x="152400" y="157450"/>
                  <a:pt x="152400" y="149671"/>
                </a:cubicBezTo>
                <a:close/>
              </a:path>
            </a:pathLst>
          </a:custGeom>
          <a:solidFill>
            <a:srgbClr val="14B8A6"/>
          </a:solidFill>
          <a:ln/>
        </p:spPr>
      </p:sp>
      <p:sp>
        <p:nvSpPr>
          <p:cNvPr id="28" name="Text 26"/>
          <p:cNvSpPr/>
          <p:nvPr/>
        </p:nvSpPr>
        <p:spPr>
          <a:xfrm>
            <a:off x="1587500" y="5588000"/>
            <a:ext cx="13589000" cy="1016000"/>
          </a:xfrm>
          <a:prstGeom prst="rect">
            <a:avLst/>
          </a:prstGeom>
          <a:noFill/>
          <a:ln/>
        </p:spPr>
        <p:txBody>
          <a:bodyPr wrap="square" lIns="0" tIns="0" rIns="0" bIns="0" rtlCol="0" anchor="ctr"/>
          <a:lstStyle/>
          <a:p>
            <a:pPr algn="l">
              <a:lnSpc>
                <a:spcPct val="160000"/>
              </a:lnSpc>
            </a:pPr>
            <a:r>
              <a:rPr lang="en-US" sz="1700" dirty="0">
                <a:solidFill>
                  <a:srgbClr val="F1F5F9"/>
                </a:solidFill>
                <a:latin typeface="Quattrocento Sans" pitchFamily="34" charset="0"/>
                <a:ea typeface="Quattrocento Sans" pitchFamily="34" charset="-122"/>
                <a:cs typeface="Quattrocento Sans" pitchFamily="34" charset="-120"/>
              </a:rPr>
              <a:t>Ces limites ne diminuent pas la valeur de notre travail — elles en renforcent la </a:t>
            </a:r>
            <a:r>
              <a:rPr lang="en-US" sz="1700" b="1" dirty="0">
                <a:solidFill>
                  <a:srgbClr val="F1F5F9"/>
                </a:solidFill>
                <a:latin typeface="Quattrocento Sans" pitchFamily="34" charset="0"/>
                <a:ea typeface="Quattrocento Sans" pitchFamily="34" charset="-122"/>
                <a:cs typeface="Quattrocento Sans" pitchFamily="34" charset="-120"/>
              </a:rPr>
              <a:t>crédibilité scientifique</a:t>
            </a:r>
            <a:r>
              <a:rPr lang="en-US" sz="1700" dirty="0">
                <a:solidFill>
                  <a:srgbClr val="F1F5F9"/>
                </a:solidFill>
                <a:latin typeface="Quattrocento Sans" pitchFamily="34" charset="0"/>
                <a:ea typeface="Quattrocento Sans" pitchFamily="34" charset="-122"/>
                <a:cs typeface="Quattrocento Sans" pitchFamily="34" charset="-120"/>
              </a:rPr>
              <a:t>. Reconnaître les biais méthodologiques est un signe de maturité académique et ouvre des pistes concrètes d'amélioration.</a:t>
            </a:r>
            <a:endParaRPr lang="en-US" sz="1700" dirty="0"/>
          </a:p>
        </p:txBody>
      </p:sp>
      <p:sp>
        <p:nvSpPr>
          <p:cNvPr id="29" name="Text 27"/>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16</a:t>
            </a:r>
            <a:endParaRPr lang="en-US" sz="13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Text 3"/>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6" name="Text 4"/>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7" name="Shape 5"/>
          <p:cNvSpPr/>
          <p:nvPr/>
        </p:nvSpPr>
        <p:spPr>
          <a:xfrm>
            <a:off x="13004800" y="0"/>
            <a:ext cx="3251200" cy="457200"/>
          </a:xfrm>
          <a:prstGeom prst="rect">
            <a:avLst/>
          </a:prstGeom>
          <a:solidFill>
            <a:srgbClr val="14B8A6"/>
          </a:solidFill>
          <a:ln/>
        </p:spPr>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016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PERSPECTIVES D'AMÉLIORATION</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587500"/>
            <a:ext cx="4699000" cy="4318000"/>
          </a:xfrm>
          <a:prstGeom prst="roundRect">
            <a:avLst>
              <a:gd name="adj" fmla="val 8000"/>
            </a:avLst>
          </a:prstGeom>
          <a:solidFill>
            <a:srgbClr val="1E3A5F"/>
          </a:solidFill>
          <a:ln w="12700">
            <a:solidFill>
              <a:srgbClr val="F97316"/>
            </a:solidFill>
            <a:prstDash val="solid"/>
          </a:ln>
        </p:spPr>
      </p:sp>
      <p:sp>
        <p:nvSpPr>
          <p:cNvPr id="12" name="Shape 10"/>
          <p:cNvSpPr/>
          <p:nvPr/>
        </p:nvSpPr>
        <p:spPr>
          <a:xfrm>
            <a:off x="762000" y="1587500"/>
            <a:ext cx="63500" cy="4318000"/>
          </a:xfrm>
          <a:prstGeom prst="rect">
            <a:avLst/>
          </a:prstGeom>
          <a:solidFill>
            <a:srgbClr val="F97316"/>
          </a:solidFill>
          <a:ln/>
        </p:spPr>
      </p:sp>
      <p:sp>
        <p:nvSpPr>
          <p:cNvPr id="13" name="Shape 11"/>
          <p:cNvSpPr/>
          <p:nvPr/>
        </p:nvSpPr>
        <p:spPr>
          <a:xfrm>
            <a:off x="1079500" y="1841500"/>
            <a:ext cx="355600" cy="355600"/>
          </a:xfrm>
          <a:custGeom>
            <a:avLst/>
            <a:gdLst/>
            <a:ahLst/>
            <a:cxnLst/>
            <a:rect l="l" t="t" r="r" b="b"/>
            <a:pathLst>
              <a:path w="355600" h="355600">
                <a:moveTo>
                  <a:pt x="288925" y="144463"/>
                </a:moveTo>
                <a:cubicBezTo>
                  <a:pt x="288925" y="176341"/>
                  <a:pt x="278576" y="205790"/>
                  <a:pt x="261144" y="229681"/>
                </a:cubicBezTo>
                <a:lnTo>
                  <a:pt x="349071" y="317679"/>
                </a:lnTo>
                <a:cubicBezTo>
                  <a:pt x="357753" y="326360"/>
                  <a:pt x="357753" y="340459"/>
                  <a:pt x="349071" y="349141"/>
                </a:cubicBezTo>
                <a:cubicBezTo>
                  <a:pt x="340390" y="357823"/>
                  <a:pt x="326291" y="357823"/>
                  <a:pt x="317609" y="349141"/>
                </a:cubicBezTo>
                <a:lnTo>
                  <a:pt x="229681" y="261144"/>
                </a:lnTo>
                <a:cubicBezTo>
                  <a:pt x="205790" y="278576"/>
                  <a:pt x="176341" y="288925"/>
                  <a:pt x="144463" y="288925"/>
                </a:cubicBezTo>
                <a:cubicBezTo>
                  <a:pt x="64661" y="288925"/>
                  <a:pt x="0" y="224264"/>
                  <a:pt x="0" y="144463"/>
                </a:cubicBezTo>
                <a:cubicBezTo>
                  <a:pt x="0" y="64661"/>
                  <a:pt x="64661" y="0"/>
                  <a:pt x="144463" y="0"/>
                </a:cubicBezTo>
                <a:cubicBezTo>
                  <a:pt x="224264" y="0"/>
                  <a:pt x="288925" y="64661"/>
                  <a:pt x="288925" y="144463"/>
                </a:cubicBezTo>
                <a:close/>
                <a:moveTo>
                  <a:pt x="72231" y="150019"/>
                </a:moveTo>
                <a:lnTo>
                  <a:pt x="72231" y="194469"/>
                </a:lnTo>
                <a:cubicBezTo>
                  <a:pt x="72231" y="203706"/>
                  <a:pt x="79663" y="211138"/>
                  <a:pt x="88900" y="211138"/>
                </a:cubicBezTo>
                <a:cubicBezTo>
                  <a:pt x="98137" y="211138"/>
                  <a:pt x="105569" y="203706"/>
                  <a:pt x="105569" y="194469"/>
                </a:cubicBezTo>
                <a:lnTo>
                  <a:pt x="105569" y="150019"/>
                </a:lnTo>
                <a:cubicBezTo>
                  <a:pt x="105569" y="140781"/>
                  <a:pt x="98137" y="133350"/>
                  <a:pt x="88900" y="133350"/>
                </a:cubicBezTo>
                <a:cubicBezTo>
                  <a:pt x="79663" y="133350"/>
                  <a:pt x="72231" y="140781"/>
                  <a:pt x="72231" y="150019"/>
                </a:cubicBezTo>
                <a:close/>
                <a:moveTo>
                  <a:pt x="127794" y="83344"/>
                </a:moveTo>
                <a:lnTo>
                  <a:pt x="127794" y="194469"/>
                </a:lnTo>
                <a:cubicBezTo>
                  <a:pt x="127794" y="203706"/>
                  <a:pt x="135225" y="211138"/>
                  <a:pt x="144463" y="211138"/>
                </a:cubicBezTo>
                <a:cubicBezTo>
                  <a:pt x="153700" y="211138"/>
                  <a:pt x="161131" y="203706"/>
                  <a:pt x="161131" y="194469"/>
                </a:cubicBezTo>
                <a:lnTo>
                  <a:pt x="161131" y="83344"/>
                </a:lnTo>
                <a:cubicBezTo>
                  <a:pt x="161131" y="74106"/>
                  <a:pt x="153700" y="66675"/>
                  <a:pt x="144463" y="66675"/>
                </a:cubicBezTo>
                <a:cubicBezTo>
                  <a:pt x="135225" y="66675"/>
                  <a:pt x="127794" y="74106"/>
                  <a:pt x="127794" y="83344"/>
                </a:cubicBezTo>
                <a:close/>
                <a:moveTo>
                  <a:pt x="183356" y="127794"/>
                </a:moveTo>
                <a:lnTo>
                  <a:pt x="183356" y="194469"/>
                </a:lnTo>
                <a:cubicBezTo>
                  <a:pt x="183356" y="203706"/>
                  <a:pt x="190788" y="211138"/>
                  <a:pt x="200025" y="211138"/>
                </a:cubicBezTo>
                <a:cubicBezTo>
                  <a:pt x="209262" y="211138"/>
                  <a:pt x="216694" y="203706"/>
                  <a:pt x="216694" y="194469"/>
                </a:cubicBezTo>
                <a:lnTo>
                  <a:pt x="216694" y="127794"/>
                </a:lnTo>
                <a:cubicBezTo>
                  <a:pt x="216694" y="118556"/>
                  <a:pt x="209262" y="111125"/>
                  <a:pt x="200025" y="111125"/>
                </a:cubicBezTo>
                <a:cubicBezTo>
                  <a:pt x="190788" y="111125"/>
                  <a:pt x="183356" y="118556"/>
                  <a:pt x="183356" y="127794"/>
                </a:cubicBezTo>
                <a:close/>
              </a:path>
            </a:pathLst>
          </a:custGeom>
          <a:solidFill>
            <a:srgbClr val="F97316"/>
          </a:solidFill>
          <a:ln/>
        </p:spPr>
      </p:sp>
      <p:sp>
        <p:nvSpPr>
          <p:cNvPr id="14" name="Text 12"/>
          <p:cNvSpPr/>
          <p:nvPr/>
        </p:nvSpPr>
        <p:spPr>
          <a:xfrm>
            <a:off x="1587500" y="1816100"/>
            <a:ext cx="3556000" cy="406400"/>
          </a:xfrm>
          <a:prstGeom prst="rect">
            <a:avLst/>
          </a:prstGeom>
          <a:noFill/>
          <a:ln/>
        </p:spPr>
        <p:txBody>
          <a:bodyPr wrap="none" lIns="0" tIns="0" rIns="0" bIns="0" rtlCol="0" anchor="ctr"/>
          <a:lstStyle/>
          <a:p>
            <a:pPr algn="l">
              <a:lnSpc>
                <a:spcPct val="120000"/>
              </a:lnSpc>
            </a:pPr>
            <a:r>
              <a:rPr lang="en-US" sz="1800" b="1" dirty="0">
                <a:solidFill>
                  <a:srgbClr val="F97316"/>
                </a:solidFill>
                <a:latin typeface="Liter" pitchFamily="34" charset="0"/>
                <a:ea typeface="Liter" pitchFamily="34" charset="-122"/>
                <a:cs typeface="Liter" pitchFamily="34" charset="-120"/>
              </a:rPr>
              <a:t>Optimiseurs</a:t>
            </a:r>
            <a:endParaRPr lang="en-US" sz="1800" dirty="0"/>
          </a:p>
        </p:txBody>
      </p:sp>
      <p:sp>
        <p:nvSpPr>
          <p:cNvPr id="15" name="Text 13"/>
          <p:cNvSpPr/>
          <p:nvPr/>
        </p:nvSpPr>
        <p:spPr>
          <a:xfrm>
            <a:off x="1079500" y="2413000"/>
            <a:ext cx="4064000" cy="3238500"/>
          </a:xfrm>
          <a:prstGeom prst="rect">
            <a:avLst/>
          </a:prstGeom>
          <a:noFill/>
          <a:ln/>
        </p:spPr>
        <p:txBody>
          <a:bodyPr wrap="square" lIns="0" tIns="0" rIns="0" bIns="0" rtlCol="0" anchor="t"/>
          <a:lstStyle/>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Recherche d'hyperparamètres par optimiseur</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Grid search ou optimisation bayésienne</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Comparaison plus équitable et représentative</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Tester de nouveaux optimiseurs récents (Shampoo, Sophie)</a:t>
            </a:r>
            <a:endParaRPr lang="en-US" sz="1500" dirty="0"/>
          </a:p>
        </p:txBody>
      </p:sp>
      <p:sp>
        <p:nvSpPr>
          <p:cNvPr id="16" name="Shape 14"/>
          <p:cNvSpPr/>
          <p:nvPr/>
        </p:nvSpPr>
        <p:spPr>
          <a:xfrm>
            <a:off x="5715000" y="1587500"/>
            <a:ext cx="4699000" cy="4318000"/>
          </a:xfrm>
          <a:prstGeom prst="roundRect">
            <a:avLst>
              <a:gd name="adj" fmla="val 8000"/>
            </a:avLst>
          </a:prstGeom>
          <a:solidFill>
            <a:srgbClr val="1E3A5F"/>
          </a:solidFill>
          <a:ln w="12700">
            <a:solidFill>
              <a:srgbClr val="14B8A6"/>
            </a:solidFill>
            <a:prstDash val="solid"/>
          </a:ln>
        </p:spPr>
      </p:sp>
      <p:sp>
        <p:nvSpPr>
          <p:cNvPr id="17" name="Shape 15"/>
          <p:cNvSpPr/>
          <p:nvPr/>
        </p:nvSpPr>
        <p:spPr>
          <a:xfrm>
            <a:off x="5715000" y="1587500"/>
            <a:ext cx="63500" cy="4318000"/>
          </a:xfrm>
          <a:prstGeom prst="rect">
            <a:avLst/>
          </a:prstGeom>
          <a:solidFill>
            <a:srgbClr val="14B8A6"/>
          </a:solidFill>
          <a:ln/>
        </p:spPr>
      </p:sp>
      <p:sp>
        <p:nvSpPr>
          <p:cNvPr id="18" name="Shape 16"/>
          <p:cNvSpPr/>
          <p:nvPr/>
        </p:nvSpPr>
        <p:spPr>
          <a:xfrm>
            <a:off x="6032500" y="1841500"/>
            <a:ext cx="355600" cy="355600"/>
          </a:xfrm>
          <a:custGeom>
            <a:avLst/>
            <a:gdLst/>
            <a:ahLst/>
            <a:cxnLst/>
            <a:rect l="l" t="t" r="r" b="b"/>
            <a:pathLst>
              <a:path w="355600" h="355600">
                <a:moveTo>
                  <a:pt x="316706" y="155575"/>
                </a:moveTo>
                <a:lnTo>
                  <a:pt x="216694" y="155575"/>
                </a:lnTo>
                <a:cubicBezTo>
                  <a:pt x="207456" y="155575"/>
                  <a:pt x="200025" y="148144"/>
                  <a:pt x="200025" y="138906"/>
                </a:cubicBezTo>
                <a:lnTo>
                  <a:pt x="200025" y="38894"/>
                </a:lnTo>
                <a:cubicBezTo>
                  <a:pt x="200025" y="32157"/>
                  <a:pt x="204053" y="26045"/>
                  <a:pt x="210304" y="23475"/>
                </a:cubicBezTo>
                <a:cubicBezTo>
                  <a:pt x="216555" y="20905"/>
                  <a:pt x="223709" y="22364"/>
                  <a:pt x="228501" y="27087"/>
                </a:cubicBezTo>
                <a:lnTo>
                  <a:pt x="256282" y="54868"/>
                </a:lnTo>
                <a:lnTo>
                  <a:pt x="307261" y="3889"/>
                </a:lnTo>
                <a:cubicBezTo>
                  <a:pt x="309761" y="1389"/>
                  <a:pt x="313164" y="0"/>
                  <a:pt x="316706" y="0"/>
                </a:cubicBezTo>
                <a:cubicBezTo>
                  <a:pt x="320248" y="0"/>
                  <a:pt x="323652" y="1389"/>
                  <a:pt x="326221" y="3959"/>
                </a:cubicBezTo>
                <a:lnTo>
                  <a:pt x="351711" y="29448"/>
                </a:lnTo>
                <a:cubicBezTo>
                  <a:pt x="354211" y="31948"/>
                  <a:pt x="355600" y="35352"/>
                  <a:pt x="355600" y="38894"/>
                </a:cubicBezTo>
                <a:cubicBezTo>
                  <a:pt x="355600" y="42436"/>
                  <a:pt x="354211" y="45839"/>
                  <a:pt x="351641" y="48409"/>
                </a:cubicBezTo>
                <a:lnTo>
                  <a:pt x="300732" y="99318"/>
                </a:lnTo>
                <a:lnTo>
                  <a:pt x="328513" y="127099"/>
                </a:lnTo>
                <a:cubicBezTo>
                  <a:pt x="333306" y="131891"/>
                  <a:pt x="334695" y="139045"/>
                  <a:pt x="332125" y="145296"/>
                </a:cubicBezTo>
                <a:cubicBezTo>
                  <a:pt x="329555" y="151547"/>
                  <a:pt x="323443" y="155575"/>
                  <a:pt x="316706" y="155575"/>
                </a:cubicBezTo>
                <a:close/>
                <a:moveTo>
                  <a:pt x="316706" y="200025"/>
                </a:moveTo>
                <a:cubicBezTo>
                  <a:pt x="323443" y="200025"/>
                  <a:pt x="329555" y="204053"/>
                  <a:pt x="332125" y="210304"/>
                </a:cubicBezTo>
                <a:cubicBezTo>
                  <a:pt x="334695" y="216555"/>
                  <a:pt x="333306" y="223709"/>
                  <a:pt x="328513" y="228501"/>
                </a:cubicBezTo>
                <a:lnTo>
                  <a:pt x="300732" y="256282"/>
                </a:lnTo>
                <a:lnTo>
                  <a:pt x="351711" y="307261"/>
                </a:lnTo>
                <a:cubicBezTo>
                  <a:pt x="354211" y="309761"/>
                  <a:pt x="355669" y="313164"/>
                  <a:pt x="355669" y="316776"/>
                </a:cubicBezTo>
                <a:cubicBezTo>
                  <a:pt x="355669" y="320387"/>
                  <a:pt x="354280" y="323721"/>
                  <a:pt x="351711" y="326291"/>
                </a:cubicBezTo>
                <a:lnTo>
                  <a:pt x="326221" y="351780"/>
                </a:lnTo>
                <a:cubicBezTo>
                  <a:pt x="323652" y="354211"/>
                  <a:pt x="320248" y="355600"/>
                  <a:pt x="316706" y="355600"/>
                </a:cubicBezTo>
                <a:cubicBezTo>
                  <a:pt x="313164" y="355600"/>
                  <a:pt x="309761" y="354211"/>
                  <a:pt x="307191" y="351641"/>
                </a:cubicBezTo>
                <a:lnTo>
                  <a:pt x="256282" y="300732"/>
                </a:lnTo>
                <a:lnTo>
                  <a:pt x="228501" y="328513"/>
                </a:lnTo>
                <a:cubicBezTo>
                  <a:pt x="223709" y="333306"/>
                  <a:pt x="216555" y="334695"/>
                  <a:pt x="210304" y="332125"/>
                </a:cubicBezTo>
                <a:cubicBezTo>
                  <a:pt x="204053" y="329555"/>
                  <a:pt x="200025" y="323443"/>
                  <a:pt x="200025" y="316706"/>
                </a:cubicBezTo>
                <a:lnTo>
                  <a:pt x="200025" y="216694"/>
                </a:lnTo>
                <a:cubicBezTo>
                  <a:pt x="200025" y="207456"/>
                  <a:pt x="207456" y="200025"/>
                  <a:pt x="216694" y="200025"/>
                </a:cubicBezTo>
                <a:lnTo>
                  <a:pt x="316706" y="200025"/>
                </a:lnTo>
                <a:close/>
                <a:moveTo>
                  <a:pt x="138906" y="200025"/>
                </a:moveTo>
                <a:cubicBezTo>
                  <a:pt x="148144" y="200025"/>
                  <a:pt x="155575" y="207456"/>
                  <a:pt x="155575" y="216694"/>
                </a:cubicBezTo>
                <a:lnTo>
                  <a:pt x="155575" y="316706"/>
                </a:lnTo>
                <a:cubicBezTo>
                  <a:pt x="155575" y="323443"/>
                  <a:pt x="151547" y="329555"/>
                  <a:pt x="145296" y="332125"/>
                </a:cubicBezTo>
                <a:cubicBezTo>
                  <a:pt x="139045" y="334695"/>
                  <a:pt x="131891" y="333306"/>
                  <a:pt x="127099" y="328513"/>
                </a:cubicBezTo>
                <a:lnTo>
                  <a:pt x="99318" y="300732"/>
                </a:lnTo>
                <a:lnTo>
                  <a:pt x="48339" y="351711"/>
                </a:lnTo>
                <a:cubicBezTo>
                  <a:pt x="45839" y="354211"/>
                  <a:pt x="42436" y="355600"/>
                  <a:pt x="38894" y="355600"/>
                </a:cubicBezTo>
                <a:cubicBezTo>
                  <a:pt x="35352" y="355600"/>
                  <a:pt x="31948" y="354211"/>
                  <a:pt x="29379" y="351641"/>
                </a:cubicBezTo>
                <a:lnTo>
                  <a:pt x="3959" y="326221"/>
                </a:lnTo>
                <a:cubicBezTo>
                  <a:pt x="1389" y="323652"/>
                  <a:pt x="0" y="320248"/>
                  <a:pt x="0" y="316706"/>
                </a:cubicBezTo>
                <a:cubicBezTo>
                  <a:pt x="0" y="313164"/>
                  <a:pt x="1389" y="309761"/>
                  <a:pt x="3959" y="307191"/>
                </a:cubicBezTo>
                <a:lnTo>
                  <a:pt x="54868" y="256282"/>
                </a:lnTo>
                <a:lnTo>
                  <a:pt x="27087" y="228501"/>
                </a:lnTo>
                <a:cubicBezTo>
                  <a:pt x="22294" y="223709"/>
                  <a:pt x="20905" y="216555"/>
                  <a:pt x="23475" y="210304"/>
                </a:cubicBezTo>
                <a:cubicBezTo>
                  <a:pt x="26045" y="204053"/>
                  <a:pt x="32157" y="200025"/>
                  <a:pt x="38894" y="200025"/>
                </a:cubicBezTo>
                <a:lnTo>
                  <a:pt x="138906" y="200025"/>
                </a:lnTo>
                <a:close/>
                <a:moveTo>
                  <a:pt x="38894" y="155575"/>
                </a:moveTo>
                <a:cubicBezTo>
                  <a:pt x="32157" y="155575"/>
                  <a:pt x="26045" y="151547"/>
                  <a:pt x="23475" y="145296"/>
                </a:cubicBezTo>
                <a:cubicBezTo>
                  <a:pt x="20905" y="139045"/>
                  <a:pt x="22364" y="131891"/>
                  <a:pt x="27087" y="127099"/>
                </a:cubicBezTo>
                <a:lnTo>
                  <a:pt x="54868" y="99318"/>
                </a:lnTo>
                <a:lnTo>
                  <a:pt x="3959" y="48409"/>
                </a:lnTo>
                <a:cubicBezTo>
                  <a:pt x="1389" y="45839"/>
                  <a:pt x="0" y="42436"/>
                  <a:pt x="0" y="38894"/>
                </a:cubicBezTo>
                <a:cubicBezTo>
                  <a:pt x="0" y="35352"/>
                  <a:pt x="1389" y="31948"/>
                  <a:pt x="3959" y="29379"/>
                </a:cubicBezTo>
                <a:lnTo>
                  <a:pt x="29379" y="3959"/>
                </a:lnTo>
                <a:cubicBezTo>
                  <a:pt x="31948" y="1389"/>
                  <a:pt x="35352" y="0"/>
                  <a:pt x="38894" y="0"/>
                </a:cubicBezTo>
                <a:cubicBezTo>
                  <a:pt x="42436" y="0"/>
                  <a:pt x="45839" y="1389"/>
                  <a:pt x="48409" y="3959"/>
                </a:cubicBezTo>
                <a:lnTo>
                  <a:pt x="99318" y="54868"/>
                </a:lnTo>
                <a:lnTo>
                  <a:pt x="127099" y="27087"/>
                </a:lnTo>
                <a:cubicBezTo>
                  <a:pt x="131891" y="22294"/>
                  <a:pt x="139045" y="20905"/>
                  <a:pt x="145296" y="23475"/>
                </a:cubicBezTo>
                <a:cubicBezTo>
                  <a:pt x="151547" y="26045"/>
                  <a:pt x="155575" y="32157"/>
                  <a:pt x="155575" y="38894"/>
                </a:cubicBezTo>
                <a:lnTo>
                  <a:pt x="155575" y="138906"/>
                </a:lnTo>
                <a:cubicBezTo>
                  <a:pt x="155575" y="148144"/>
                  <a:pt x="148144" y="155575"/>
                  <a:pt x="138906" y="155575"/>
                </a:cubicBezTo>
                <a:lnTo>
                  <a:pt x="38894" y="155575"/>
                </a:lnTo>
                <a:close/>
              </a:path>
            </a:pathLst>
          </a:custGeom>
          <a:solidFill>
            <a:srgbClr val="14B8A6"/>
          </a:solidFill>
          <a:ln/>
        </p:spPr>
      </p:sp>
      <p:sp>
        <p:nvSpPr>
          <p:cNvPr id="19" name="Text 17"/>
          <p:cNvSpPr/>
          <p:nvPr/>
        </p:nvSpPr>
        <p:spPr>
          <a:xfrm>
            <a:off x="6540500" y="1816100"/>
            <a:ext cx="3556000" cy="406400"/>
          </a:xfrm>
          <a:prstGeom prst="rect">
            <a:avLst/>
          </a:prstGeom>
          <a:noFill/>
          <a:ln/>
        </p:spPr>
        <p:txBody>
          <a:bodyPr wrap="none" lIns="0" tIns="0" rIns="0" bIns="0" rtlCol="0" anchor="ctr"/>
          <a:lstStyle/>
          <a:p>
            <a:pPr algn="l">
              <a:lnSpc>
                <a:spcPct val="120000"/>
              </a:lnSpc>
            </a:pPr>
            <a:r>
              <a:rPr lang="en-US" sz="1800" b="1" dirty="0">
                <a:solidFill>
                  <a:srgbClr val="14B8A6"/>
                </a:solidFill>
                <a:latin typeface="Liter" pitchFamily="34" charset="0"/>
                <a:ea typeface="Liter" pitchFamily="34" charset="-122"/>
                <a:cs typeface="Liter" pitchFamily="34" charset="-120"/>
              </a:rPr>
              <a:t>Compression</a:t>
            </a:r>
            <a:endParaRPr lang="en-US" sz="1800" dirty="0"/>
          </a:p>
        </p:txBody>
      </p:sp>
      <p:sp>
        <p:nvSpPr>
          <p:cNvPr id="20" name="Text 18"/>
          <p:cNvSpPr/>
          <p:nvPr/>
        </p:nvSpPr>
        <p:spPr>
          <a:xfrm>
            <a:off x="6032500" y="2413000"/>
            <a:ext cx="4064000" cy="3238500"/>
          </a:xfrm>
          <a:prstGeom prst="rect">
            <a:avLst/>
          </a:prstGeom>
          <a:noFill/>
          <a:ln/>
        </p:spPr>
        <p:txBody>
          <a:bodyPr wrap="square" lIns="0" tIns="0" rIns="0" bIns="0" rtlCol="0" anchor="t"/>
          <a:lstStyle/>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Quantification statique avec calibration</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Ratios de compression supérieurs</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Pruning (élagage structural) combiné à la quantification</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Techniques plus agressives d'optimisation</a:t>
            </a:r>
            <a:endParaRPr lang="en-US" sz="1500" dirty="0"/>
          </a:p>
        </p:txBody>
      </p:sp>
      <p:sp>
        <p:nvSpPr>
          <p:cNvPr id="21" name="Shape 19"/>
          <p:cNvSpPr/>
          <p:nvPr/>
        </p:nvSpPr>
        <p:spPr>
          <a:xfrm>
            <a:off x="10668000" y="1587500"/>
            <a:ext cx="4826000" cy="4318000"/>
          </a:xfrm>
          <a:prstGeom prst="roundRect">
            <a:avLst>
              <a:gd name="adj" fmla="val 8000"/>
            </a:avLst>
          </a:prstGeom>
          <a:solidFill>
            <a:srgbClr val="1E3A5F"/>
          </a:solidFill>
          <a:ln w="12700">
            <a:solidFill>
              <a:srgbClr val="3B82F6"/>
            </a:solidFill>
            <a:prstDash val="solid"/>
          </a:ln>
        </p:spPr>
      </p:sp>
      <p:sp>
        <p:nvSpPr>
          <p:cNvPr id="22" name="Shape 20"/>
          <p:cNvSpPr/>
          <p:nvPr/>
        </p:nvSpPr>
        <p:spPr>
          <a:xfrm>
            <a:off x="10668000" y="1587500"/>
            <a:ext cx="63500" cy="4318000"/>
          </a:xfrm>
          <a:prstGeom prst="rect">
            <a:avLst/>
          </a:prstGeom>
          <a:solidFill>
            <a:srgbClr val="3B82F6"/>
          </a:solidFill>
          <a:ln/>
        </p:spPr>
      </p:sp>
      <p:sp>
        <p:nvSpPr>
          <p:cNvPr id="23" name="Shape 21"/>
          <p:cNvSpPr/>
          <p:nvPr/>
        </p:nvSpPr>
        <p:spPr>
          <a:xfrm>
            <a:off x="10985500" y="1841500"/>
            <a:ext cx="355600" cy="355600"/>
          </a:xfrm>
          <a:custGeom>
            <a:avLst/>
            <a:gdLst/>
            <a:ahLst/>
            <a:cxnLst/>
            <a:rect l="l" t="t" r="r" b="b"/>
            <a:pathLst>
              <a:path w="355600" h="355600">
                <a:moveTo>
                  <a:pt x="122238" y="16669"/>
                </a:moveTo>
                <a:cubicBezTo>
                  <a:pt x="122238" y="7431"/>
                  <a:pt x="114806" y="0"/>
                  <a:pt x="105569" y="0"/>
                </a:cubicBezTo>
                <a:cubicBezTo>
                  <a:pt x="96331" y="0"/>
                  <a:pt x="88900" y="7431"/>
                  <a:pt x="88900" y="16669"/>
                </a:cubicBezTo>
                <a:lnTo>
                  <a:pt x="88900" y="44450"/>
                </a:lnTo>
                <a:cubicBezTo>
                  <a:pt x="64383" y="44450"/>
                  <a:pt x="44450" y="64383"/>
                  <a:pt x="44450" y="88900"/>
                </a:cubicBezTo>
                <a:lnTo>
                  <a:pt x="16669" y="88900"/>
                </a:lnTo>
                <a:cubicBezTo>
                  <a:pt x="7431" y="88900"/>
                  <a:pt x="0" y="96331"/>
                  <a:pt x="0" y="105569"/>
                </a:cubicBezTo>
                <a:cubicBezTo>
                  <a:pt x="0" y="114806"/>
                  <a:pt x="7431" y="122238"/>
                  <a:pt x="16669" y="122238"/>
                </a:cubicBezTo>
                <a:lnTo>
                  <a:pt x="44450" y="122238"/>
                </a:lnTo>
                <a:lnTo>
                  <a:pt x="44450" y="161131"/>
                </a:lnTo>
                <a:lnTo>
                  <a:pt x="16669" y="161131"/>
                </a:lnTo>
                <a:cubicBezTo>
                  <a:pt x="7431" y="161131"/>
                  <a:pt x="0" y="168563"/>
                  <a:pt x="0" y="177800"/>
                </a:cubicBezTo>
                <a:cubicBezTo>
                  <a:pt x="0" y="187037"/>
                  <a:pt x="7431" y="194469"/>
                  <a:pt x="16669" y="194469"/>
                </a:cubicBezTo>
                <a:lnTo>
                  <a:pt x="44450" y="194469"/>
                </a:lnTo>
                <a:lnTo>
                  <a:pt x="44450" y="233363"/>
                </a:lnTo>
                <a:lnTo>
                  <a:pt x="16669" y="233363"/>
                </a:lnTo>
                <a:cubicBezTo>
                  <a:pt x="7431" y="233363"/>
                  <a:pt x="0" y="240794"/>
                  <a:pt x="0" y="250031"/>
                </a:cubicBezTo>
                <a:cubicBezTo>
                  <a:pt x="0" y="259269"/>
                  <a:pt x="7431" y="266700"/>
                  <a:pt x="16669" y="266700"/>
                </a:cubicBezTo>
                <a:lnTo>
                  <a:pt x="44450" y="266700"/>
                </a:lnTo>
                <a:cubicBezTo>
                  <a:pt x="44450" y="291217"/>
                  <a:pt x="64383" y="311150"/>
                  <a:pt x="88900" y="311150"/>
                </a:cubicBezTo>
                <a:lnTo>
                  <a:pt x="88900" y="338931"/>
                </a:lnTo>
                <a:cubicBezTo>
                  <a:pt x="88900" y="348169"/>
                  <a:pt x="96331" y="355600"/>
                  <a:pt x="105569" y="355600"/>
                </a:cubicBezTo>
                <a:cubicBezTo>
                  <a:pt x="114806" y="355600"/>
                  <a:pt x="122238" y="348169"/>
                  <a:pt x="122238" y="338931"/>
                </a:cubicBezTo>
                <a:lnTo>
                  <a:pt x="122238" y="311150"/>
                </a:lnTo>
                <a:lnTo>
                  <a:pt x="161131" y="311150"/>
                </a:lnTo>
                <a:lnTo>
                  <a:pt x="161131" y="338931"/>
                </a:lnTo>
                <a:cubicBezTo>
                  <a:pt x="161131" y="348169"/>
                  <a:pt x="168563" y="355600"/>
                  <a:pt x="177800" y="355600"/>
                </a:cubicBezTo>
                <a:cubicBezTo>
                  <a:pt x="187037" y="355600"/>
                  <a:pt x="194469" y="348169"/>
                  <a:pt x="194469" y="338931"/>
                </a:cubicBezTo>
                <a:lnTo>
                  <a:pt x="194469" y="311150"/>
                </a:lnTo>
                <a:lnTo>
                  <a:pt x="233363" y="311150"/>
                </a:lnTo>
                <a:lnTo>
                  <a:pt x="233363" y="338931"/>
                </a:lnTo>
                <a:cubicBezTo>
                  <a:pt x="233363" y="348169"/>
                  <a:pt x="240794" y="355600"/>
                  <a:pt x="250031" y="355600"/>
                </a:cubicBezTo>
                <a:cubicBezTo>
                  <a:pt x="259269" y="355600"/>
                  <a:pt x="266700" y="348169"/>
                  <a:pt x="266700" y="338931"/>
                </a:cubicBezTo>
                <a:lnTo>
                  <a:pt x="266700" y="311150"/>
                </a:lnTo>
                <a:cubicBezTo>
                  <a:pt x="291217" y="311150"/>
                  <a:pt x="311150" y="291217"/>
                  <a:pt x="311150" y="266700"/>
                </a:cubicBezTo>
                <a:lnTo>
                  <a:pt x="338931" y="266700"/>
                </a:lnTo>
                <a:cubicBezTo>
                  <a:pt x="348169" y="266700"/>
                  <a:pt x="355600" y="259269"/>
                  <a:pt x="355600" y="250031"/>
                </a:cubicBezTo>
                <a:cubicBezTo>
                  <a:pt x="355600" y="240794"/>
                  <a:pt x="348169" y="233363"/>
                  <a:pt x="338931" y="233363"/>
                </a:cubicBezTo>
                <a:lnTo>
                  <a:pt x="311150" y="233363"/>
                </a:lnTo>
                <a:lnTo>
                  <a:pt x="311150" y="194469"/>
                </a:lnTo>
                <a:lnTo>
                  <a:pt x="338931" y="194469"/>
                </a:lnTo>
                <a:cubicBezTo>
                  <a:pt x="348169" y="194469"/>
                  <a:pt x="355600" y="187037"/>
                  <a:pt x="355600" y="177800"/>
                </a:cubicBezTo>
                <a:cubicBezTo>
                  <a:pt x="355600" y="168563"/>
                  <a:pt x="348169" y="161131"/>
                  <a:pt x="338931" y="161131"/>
                </a:cubicBezTo>
                <a:lnTo>
                  <a:pt x="311150" y="161131"/>
                </a:lnTo>
                <a:lnTo>
                  <a:pt x="311150" y="122238"/>
                </a:lnTo>
                <a:lnTo>
                  <a:pt x="338931" y="122238"/>
                </a:lnTo>
                <a:cubicBezTo>
                  <a:pt x="348169" y="122238"/>
                  <a:pt x="355600" y="114806"/>
                  <a:pt x="355600" y="105569"/>
                </a:cubicBezTo>
                <a:cubicBezTo>
                  <a:pt x="355600" y="96331"/>
                  <a:pt x="348169" y="88900"/>
                  <a:pt x="338931" y="88900"/>
                </a:cubicBezTo>
                <a:lnTo>
                  <a:pt x="311150" y="88900"/>
                </a:lnTo>
                <a:cubicBezTo>
                  <a:pt x="311150" y="64383"/>
                  <a:pt x="291217" y="44450"/>
                  <a:pt x="266700" y="44450"/>
                </a:cubicBezTo>
                <a:lnTo>
                  <a:pt x="266700" y="16669"/>
                </a:lnTo>
                <a:cubicBezTo>
                  <a:pt x="266700" y="7431"/>
                  <a:pt x="259269" y="0"/>
                  <a:pt x="250031" y="0"/>
                </a:cubicBezTo>
                <a:cubicBezTo>
                  <a:pt x="240794" y="0"/>
                  <a:pt x="233363" y="7431"/>
                  <a:pt x="233363" y="16669"/>
                </a:cubicBezTo>
                <a:lnTo>
                  <a:pt x="233363" y="44450"/>
                </a:lnTo>
                <a:lnTo>
                  <a:pt x="194469" y="44450"/>
                </a:lnTo>
                <a:lnTo>
                  <a:pt x="194469" y="16669"/>
                </a:lnTo>
                <a:cubicBezTo>
                  <a:pt x="194469" y="7431"/>
                  <a:pt x="187037" y="0"/>
                  <a:pt x="177800" y="0"/>
                </a:cubicBezTo>
                <a:cubicBezTo>
                  <a:pt x="168563" y="0"/>
                  <a:pt x="161131" y="7431"/>
                  <a:pt x="161131" y="16669"/>
                </a:cubicBezTo>
                <a:lnTo>
                  <a:pt x="161131" y="44450"/>
                </a:lnTo>
                <a:lnTo>
                  <a:pt x="122238" y="44450"/>
                </a:lnTo>
                <a:lnTo>
                  <a:pt x="122238" y="16669"/>
                </a:lnTo>
                <a:close/>
                <a:moveTo>
                  <a:pt x="111125" y="88900"/>
                </a:moveTo>
                <a:lnTo>
                  <a:pt x="244475" y="88900"/>
                </a:lnTo>
                <a:cubicBezTo>
                  <a:pt x="256768" y="88900"/>
                  <a:pt x="266700" y="98832"/>
                  <a:pt x="266700" y="111125"/>
                </a:cubicBezTo>
                <a:lnTo>
                  <a:pt x="266700" y="244475"/>
                </a:lnTo>
                <a:cubicBezTo>
                  <a:pt x="266700" y="256768"/>
                  <a:pt x="256768" y="266700"/>
                  <a:pt x="244475" y="266700"/>
                </a:cubicBezTo>
                <a:lnTo>
                  <a:pt x="111125" y="266700"/>
                </a:lnTo>
                <a:cubicBezTo>
                  <a:pt x="98832" y="266700"/>
                  <a:pt x="88900" y="256768"/>
                  <a:pt x="88900" y="244475"/>
                </a:cubicBezTo>
                <a:lnTo>
                  <a:pt x="88900" y="111125"/>
                </a:lnTo>
                <a:cubicBezTo>
                  <a:pt x="88900" y="98832"/>
                  <a:pt x="98832" y="88900"/>
                  <a:pt x="111125" y="88900"/>
                </a:cubicBezTo>
                <a:close/>
                <a:moveTo>
                  <a:pt x="122238" y="122238"/>
                </a:moveTo>
                <a:lnTo>
                  <a:pt x="122238" y="233363"/>
                </a:lnTo>
                <a:lnTo>
                  <a:pt x="233363" y="233363"/>
                </a:lnTo>
                <a:lnTo>
                  <a:pt x="233363" y="122238"/>
                </a:lnTo>
                <a:lnTo>
                  <a:pt x="122238" y="122238"/>
                </a:lnTo>
                <a:close/>
              </a:path>
            </a:pathLst>
          </a:custGeom>
          <a:solidFill>
            <a:srgbClr val="3B82F6"/>
          </a:solidFill>
          <a:ln/>
        </p:spPr>
      </p:sp>
      <p:sp>
        <p:nvSpPr>
          <p:cNvPr id="24" name="Text 22"/>
          <p:cNvSpPr/>
          <p:nvPr/>
        </p:nvSpPr>
        <p:spPr>
          <a:xfrm>
            <a:off x="11493500" y="1816100"/>
            <a:ext cx="3683000" cy="406400"/>
          </a:xfrm>
          <a:prstGeom prst="rect">
            <a:avLst/>
          </a:prstGeom>
          <a:noFill/>
          <a:ln/>
        </p:spPr>
        <p:txBody>
          <a:bodyPr wrap="none" lIns="0" tIns="0" rIns="0" bIns="0" rtlCol="0" anchor="ctr"/>
          <a:lstStyle/>
          <a:p>
            <a:pPr algn="l">
              <a:lnSpc>
                <a:spcPct val="120000"/>
              </a:lnSpc>
            </a:pPr>
            <a:r>
              <a:rPr lang="en-US" sz="1800" b="1" dirty="0">
                <a:solidFill>
                  <a:srgbClr val="3B82F6"/>
                </a:solidFill>
                <a:latin typeface="Liter" pitchFamily="34" charset="0"/>
                <a:ea typeface="Liter" pitchFamily="34" charset="-122"/>
                <a:cs typeface="Liter" pitchFamily="34" charset="-120"/>
              </a:rPr>
              <a:t>Matériel embarqué</a:t>
            </a:r>
            <a:endParaRPr lang="en-US" sz="1800" dirty="0"/>
          </a:p>
        </p:txBody>
      </p:sp>
      <p:sp>
        <p:nvSpPr>
          <p:cNvPr id="25" name="Text 23"/>
          <p:cNvSpPr/>
          <p:nvPr/>
        </p:nvSpPr>
        <p:spPr>
          <a:xfrm>
            <a:off x="10985500" y="2413000"/>
            <a:ext cx="4191000" cy="3238500"/>
          </a:xfrm>
          <a:prstGeom prst="rect">
            <a:avLst/>
          </a:prstGeom>
          <a:noFill/>
          <a:ln/>
        </p:spPr>
        <p:txBody>
          <a:bodyPr wrap="square" lIns="0" tIns="0" rIns="0" bIns="0" rtlCol="0" anchor="t"/>
          <a:lstStyle/>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Raspberry Pi (ARM)</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NVIDIA Jetson Nano</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Microcontrôleurs avec accélérateur NP</a:t>
            </a:r>
            <a:endParaRPr lang="en-US" sz="1500" dirty="0"/>
          </a:p>
          <a:p>
            <a:pPr algn="l">
              <a:lnSpc>
                <a:spcPct val="170000"/>
              </a:lnSpc>
            </a:pPr>
            <a:r>
              <a:rPr lang="en-US" sz="1500" dirty="0">
                <a:solidFill>
                  <a:srgbClr val="F1F5F9"/>
                </a:solidFill>
                <a:latin typeface="Quattrocento Sans" pitchFamily="34" charset="0"/>
                <a:ea typeface="Quattrocento Sans" pitchFamily="34" charset="-122"/>
                <a:cs typeface="Quattrocento Sans" pitchFamily="34" charset="-120"/>
              </a:rPr>
              <a:t>• Les résultats x86 ne se transposent pas nécessairement à l'identique sur ARM</a:t>
            </a:r>
            <a:endParaRPr lang="en-US" sz="1500" dirty="0"/>
          </a:p>
        </p:txBody>
      </p:sp>
      <p:sp>
        <p:nvSpPr>
          <p:cNvPr id="26" name="Text 24"/>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17</a:t>
            </a:r>
            <a:endParaRPr lang="en-US" sz="13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256000" cy="457200"/>
          </a:xfrm>
          <a:prstGeom prst="rect">
            <a:avLst/>
          </a:prstGeom>
          <a:solidFill>
            <a:srgbClr val="1E3A5F"/>
          </a:solidFill>
          <a:ln/>
        </p:spPr>
      </p:sp>
      <p:sp>
        <p:nvSpPr>
          <p:cNvPr id="3" name="Text 1"/>
          <p:cNvSpPr/>
          <p:nvPr/>
        </p:nvSpPr>
        <p:spPr>
          <a:xfrm>
            <a:off x="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01 Contexte</a:t>
            </a:r>
            <a:endParaRPr lang="en-US" sz="1200" dirty="0"/>
          </a:p>
        </p:txBody>
      </p:sp>
      <p:sp>
        <p:nvSpPr>
          <p:cNvPr id="4" name="Text 2"/>
          <p:cNvSpPr/>
          <p:nvPr/>
        </p:nvSpPr>
        <p:spPr>
          <a:xfrm>
            <a:off x="32512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02 Architecture</a:t>
            </a:r>
            <a:endParaRPr lang="en-US" sz="1200" dirty="0"/>
          </a:p>
        </p:txBody>
      </p:sp>
      <p:sp>
        <p:nvSpPr>
          <p:cNvPr id="5" name="Text 3"/>
          <p:cNvSpPr/>
          <p:nvPr/>
        </p:nvSpPr>
        <p:spPr>
          <a:xfrm>
            <a:off x="65024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03 Benchmark</a:t>
            </a:r>
            <a:endParaRPr lang="en-US" sz="1200" dirty="0"/>
          </a:p>
        </p:txBody>
      </p:sp>
      <p:sp>
        <p:nvSpPr>
          <p:cNvPr id="6" name="Text 4"/>
          <p:cNvSpPr/>
          <p:nvPr/>
        </p:nvSpPr>
        <p:spPr>
          <a:xfrm>
            <a:off x="9753600" y="0"/>
            <a:ext cx="3251200" cy="4572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04 Compression</a:t>
            </a:r>
            <a:endParaRPr lang="en-US" sz="1200" dirty="0"/>
          </a:p>
        </p:txBody>
      </p:sp>
      <p:sp>
        <p:nvSpPr>
          <p:cNvPr id="7" name="Shape 5"/>
          <p:cNvSpPr/>
          <p:nvPr/>
        </p:nvSpPr>
        <p:spPr>
          <a:xfrm>
            <a:off x="13004800" y="0"/>
            <a:ext cx="3251200" cy="457200"/>
          </a:xfrm>
          <a:prstGeom prst="rect">
            <a:avLst/>
          </a:prstGeom>
          <a:solidFill>
            <a:srgbClr val="14B8A6"/>
          </a:solidFill>
          <a:ln/>
        </p:spPr>
      </p:sp>
      <p:sp>
        <p:nvSpPr>
          <p:cNvPr id="8" name="Text 6"/>
          <p:cNvSpPr/>
          <p:nvPr/>
        </p:nvSpPr>
        <p:spPr>
          <a:xfrm>
            <a:off x="13004800" y="0"/>
            <a:ext cx="3251200" cy="4572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Quattrocento Sans" pitchFamily="34" charset="0"/>
                <a:ea typeface="Quattrocento Sans" pitchFamily="34" charset="-122"/>
                <a:cs typeface="Quattrocento Sans" pitchFamily="34" charset="-120"/>
              </a:rPr>
              <a:t>05 Discussion</a:t>
            </a:r>
            <a:endParaRPr lang="en-US" sz="1200" dirty="0"/>
          </a:p>
        </p:txBody>
      </p:sp>
      <p:sp>
        <p:nvSpPr>
          <p:cNvPr id="9" name="Text 7"/>
          <p:cNvSpPr/>
          <p:nvPr/>
        </p:nvSpPr>
        <p:spPr>
          <a:xfrm>
            <a:off x="762000" y="711200"/>
            <a:ext cx="10160000" cy="508000"/>
          </a:xfrm>
          <a:prstGeom prst="rect">
            <a:avLst/>
          </a:prstGeom>
          <a:noFill/>
          <a:ln/>
        </p:spPr>
        <p:txBody>
          <a:bodyPr wrap="none" lIns="0" tIns="0" rIns="0" bIns="0" rtlCol="0" anchor="ctr"/>
          <a:lstStyle/>
          <a:p>
            <a:pPr algn="l">
              <a:lnSpc>
                <a:spcPct val="120000"/>
              </a:lnSpc>
            </a:pPr>
            <a:r>
              <a:rPr lang="en-US" sz="3000" b="1" kern="0" spc="200" dirty="0">
                <a:solidFill>
                  <a:srgbClr val="F1F5F9"/>
                </a:solidFill>
                <a:latin typeface="Liter" pitchFamily="34" charset="0"/>
                <a:ea typeface="Liter" pitchFamily="34" charset="-122"/>
                <a:cs typeface="Liter" pitchFamily="34" charset="-120"/>
              </a:rPr>
              <a:t>CONCLUSION — 3 ENSEIGNEMENTS CLÉS</a:t>
            </a:r>
            <a:endParaRPr lang="en-US" sz="3000" dirty="0"/>
          </a:p>
        </p:txBody>
      </p:sp>
      <p:sp>
        <p:nvSpPr>
          <p:cNvPr id="10" name="Shape 8"/>
          <p:cNvSpPr/>
          <p:nvPr/>
        </p:nvSpPr>
        <p:spPr>
          <a:xfrm>
            <a:off x="762000" y="1270000"/>
            <a:ext cx="1016000" cy="38100"/>
          </a:xfrm>
          <a:prstGeom prst="rect">
            <a:avLst/>
          </a:prstGeom>
          <a:solidFill>
            <a:srgbClr val="F97316"/>
          </a:solidFill>
          <a:ln/>
        </p:spPr>
      </p:sp>
      <p:sp>
        <p:nvSpPr>
          <p:cNvPr id="11" name="Shape 9"/>
          <p:cNvSpPr/>
          <p:nvPr/>
        </p:nvSpPr>
        <p:spPr>
          <a:xfrm>
            <a:off x="762000" y="1651000"/>
            <a:ext cx="14732000" cy="1968500"/>
          </a:xfrm>
          <a:prstGeom prst="roundRect">
            <a:avLst>
              <a:gd name="adj" fmla="val 6000"/>
            </a:avLst>
          </a:prstGeom>
          <a:solidFill>
            <a:srgbClr val="1E3A5F"/>
          </a:solidFill>
          <a:ln w="12700">
            <a:solidFill>
              <a:srgbClr val="F97316"/>
            </a:solidFill>
            <a:prstDash val="solid"/>
          </a:ln>
        </p:spPr>
      </p:sp>
      <p:sp>
        <p:nvSpPr>
          <p:cNvPr id="12" name="Text 10"/>
          <p:cNvSpPr/>
          <p:nvPr/>
        </p:nvSpPr>
        <p:spPr>
          <a:xfrm>
            <a:off x="1016000" y="1778000"/>
            <a:ext cx="889000" cy="762000"/>
          </a:xfrm>
          <a:prstGeom prst="rect">
            <a:avLst/>
          </a:prstGeom>
          <a:noFill/>
          <a:ln/>
        </p:spPr>
        <p:txBody>
          <a:bodyPr wrap="none" lIns="0" tIns="0" rIns="0" bIns="0" rtlCol="0" anchor="ctr"/>
          <a:lstStyle/>
          <a:p>
            <a:pPr algn="ctr">
              <a:lnSpc>
                <a:spcPct val="100000"/>
              </a:lnSpc>
            </a:pPr>
            <a:r>
              <a:rPr lang="en-US" sz="4800" dirty="0">
                <a:solidFill>
                  <a:srgbClr val="F97316"/>
                </a:solidFill>
                <a:latin typeface="Liter" pitchFamily="34" charset="0"/>
                <a:ea typeface="Liter" pitchFamily="34" charset="-122"/>
                <a:cs typeface="Liter" pitchFamily="34" charset="-120"/>
              </a:rPr>
              <a:t>1</a:t>
            </a:r>
            <a:endParaRPr lang="en-US" sz="4800" dirty="0"/>
          </a:p>
        </p:txBody>
      </p:sp>
      <p:sp>
        <p:nvSpPr>
          <p:cNvPr id="13" name="Text 11"/>
          <p:cNvSpPr/>
          <p:nvPr/>
        </p:nvSpPr>
        <p:spPr>
          <a:xfrm>
            <a:off x="1968500" y="1841500"/>
            <a:ext cx="5080000" cy="381000"/>
          </a:xfrm>
          <a:prstGeom prst="rect">
            <a:avLst/>
          </a:prstGeom>
          <a:noFill/>
          <a:ln/>
        </p:spPr>
        <p:txBody>
          <a:bodyPr wrap="none" lIns="0" tIns="0" rIns="0" bIns="0" rtlCol="0" anchor="ctr"/>
          <a:lstStyle/>
          <a:p>
            <a:pPr algn="l">
              <a:lnSpc>
                <a:spcPct val="120000"/>
              </a:lnSpc>
            </a:pPr>
            <a:r>
              <a:rPr lang="en-US" sz="2000" b="1" dirty="0">
                <a:solidFill>
                  <a:srgbClr val="F97316"/>
                </a:solidFill>
                <a:latin typeface="Liter" pitchFamily="34" charset="0"/>
                <a:ea typeface="Liter" pitchFamily="34" charset="-122"/>
                <a:cs typeface="Liter" pitchFamily="34" charset="-120"/>
              </a:rPr>
              <a:t>AdamW, optimiseur de référence</a:t>
            </a:r>
            <a:endParaRPr lang="en-US" sz="2000" dirty="0"/>
          </a:p>
        </p:txBody>
      </p:sp>
      <p:sp>
        <p:nvSpPr>
          <p:cNvPr id="14" name="Text 12"/>
          <p:cNvSpPr/>
          <p:nvPr/>
        </p:nvSpPr>
        <p:spPr>
          <a:xfrm>
            <a:off x="1968500" y="2286000"/>
            <a:ext cx="13208000" cy="1143000"/>
          </a:xfrm>
          <a:prstGeom prst="rect">
            <a:avLst/>
          </a:prstGeom>
          <a:noFill/>
          <a:ln/>
        </p:spPr>
        <p:txBody>
          <a:bodyPr wrap="square" lIns="0" tIns="0" rIns="0" bIns="0" rtlCol="0" anchor="t"/>
          <a:lstStyle/>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AdamW confirme son statut d'optimiseur de référence pour le fine-tuning de transformeurs compacts. Il offre la meilleure qualité prédictive (F1 0.9013) tout en étant parmi les plus rapides (62.27 s), avec une robustesse face aux réglages par défaut qui en fait un choix sûr et efficace.</a:t>
            </a:r>
            <a:endParaRPr lang="en-US" sz="1600" dirty="0"/>
          </a:p>
        </p:txBody>
      </p:sp>
      <p:sp>
        <p:nvSpPr>
          <p:cNvPr id="15" name="Shape 13"/>
          <p:cNvSpPr/>
          <p:nvPr/>
        </p:nvSpPr>
        <p:spPr>
          <a:xfrm>
            <a:off x="762000" y="3873500"/>
            <a:ext cx="14732000" cy="1968500"/>
          </a:xfrm>
          <a:prstGeom prst="roundRect">
            <a:avLst>
              <a:gd name="adj" fmla="val 6000"/>
            </a:avLst>
          </a:prstGeom>
          <a:solidFill>
            <a:srgbClr val="1E3A5F"/>
          </a:solidFill>
          <a:ln w="12700">
            <a:solidFill>
              <a:srgbClr val="14B8A6"/>
            </a:solidFill>
            <a:prstDash val="solid"/>
          </a:ln>
        </p:spPr>
      </p:sp>
      <p:sp>
        <p:nvSpPr>
          <p:cNvPr id="16" name="Text 14"/>
          <p:cNvSpPr/>
          <p:nvPr/>
        </p:nvSpPr>
        <p:spPr>
          <a:xfrm>
            <a:off x="1016000" y="4000500"/>
            <a:ext cx="889000" cy="762000"/>
          </a:xfrm>
          <a:prstGeom prst="rect">
            <a:avLst/>
          </a:prstGeom>
          <a:noFill/>
          <a:ln/>
        </p:spPr>
        <p:txBody>
          <a:bodyPr wrap="none" lIns="0" tIns="0" rIns="0" bIns="0" rtlCol="0" anchor="ctr"/>
          <a:lstStyle/>
          <a:p>
            <a:pPr algn="ctr">
              <a:lnSpc>
                <a:spcPct val="100000"/>
              </a:lnSpc>
            </a:pPr>
            <a:r>
              <a:rPr lang="en-US" sz="4800" dirty="0">
                <a:solidFill>
                  <a:srgbClr val="14B8A6"/>
                </a:solidFill>
                <a:latin typeface="Liter" pitchFamily="34" charset="0"/>
                <a:ea typeface="Liter" pitchFamily="34" charset="-122"/>
                <a:cs typeface="Liter" pitchFamily="34" charset="-120"/>
              </a:rPr>
              <a:t>2</a:t>
            </a:r>
            <a:endParaRPr lang="en-US" sz="4800" dirty="0"/>
          </a:p>
        </p:txBody>
      </p:sp>
      <p:sp>
        <p:nvSpPr>
          <p:cNvPr id="17" name="Text 15"/>
          <p:cNvSpPr/>
          <p:nvPr/>
        </p:nvSpPr>
        <p:spPr>
          <a:xfrm>
            <a:off x="1968500" y="4064000"/>
            <a:ext cx="6350000" cy="381000"/>
          </a:xfrm>
          <a:prstGeom prst="rect">
            <a:avLst/>
          </a:prstGeom>
          <a:noFill/>
          <a:ln/>
        </p:spPr>
        <p:txBody>
          <a:bodyPr wrap="none" lIns="0" tIns="0" rIns="0" bIns="0" rtlCol="0" anchor="ctr"/>
          <a:lstStyle/>
          <a:p>
            <a:pPr algn="l">
              <a:lnSpc>
                <a:spcPct val="120000"/>
              </a:lnSpc>
            </a:pPr>
            <a:r>
              <a:rPr lang="en-US" sz="2000" b="1" dirty="0">
                <a:solidFill>
                  <a:srgbClr val="14B8A6"/>
                </a:solidFill>
                <a:latin typeface="Liter" pitchFamily="34" charset="0"/>
                <a:ea typeface="Liter" pitchFamily="34" charset="-122"/>
                <a:cs typeface="Liter" pitchFamily="34" charset="-120"/>
              </a:rPr>
              <a:t>INT8, une technique remarquablement efficace</a:t>
            </a:r>
            <a:endParaRPr lang="en-US" sz="2000" dirty="0"/>
          </a:p>
        </p:txBody>
      </p:sp>
      <p:sp>
        <p:nvSpPr>
          <p:cNvPr id="18" name="Text 16"/>
          <p:cNvSpPr/>
          <p:nvPr/>
        </p:nvSpPr>
        <p:spPr>
          <a:xfrm>
            <a:off x="1968500" y="4508500"/>
            <a:ext cx="13208000" cy="1143000"/>
          </a:xfrm>
          <a:prstGeom prst="rect">
            <a:avLst/>
          </a:prstGeom>
          <a:noFill/>
          <a:ln/>
        </p:spPr>
        <p:txBody>
          <a:bodyPr wrap="square" lIns="0" tIns="0" rIns="0" bIns="0" rtlCol="0" anchor="t"/>
          <a:lstStyle/>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La quantification dynamique en INT8 s'avère une technique remarquablement efficace pour rendre un modèle de langage déployable sur dispositif contraint. Avec une perte de qualité d'environ 1 point d'exactitude pour un gain de vitesse de 1.58× et une réduction mémoire de 2.79×, le compromis est nettement favorable.</a:t>
            </a:r>
            <a:endParaRPr lang="en-US" sz="1600" dirty="0"/>
          </a:p>
        </p:txBody>
      </p:sp>
      <p:sp>
        <p:nvSpPr>
          <p:cNvPr id="19" name="Shape 17"/>
          <p:cNvSpPr/>
          <p:nvPr/>
        </p:nvSpPr>
        <p:spPr>
          <a:xfrm>
            <a:off x="762000" y="6096000"/>
            <a:ext cx="14732000" cy="1968500"/>
          </a:xfrm>
          <a:prstGeom prst="roundRect">
            <a:avLst>
              <a:gd name="adj" fmla="val 6000"/>
            </a:avLst>
          </a:prstGeom>
          <a:solidFill>
            <a:srgbClr val="1E3A5F"/>
          </a:solidFill>
          <a:ln w="12700">
            <a:solidFill>
              <a:srgbClr val="3B82F6"/>
            </a:solidFill>
            <a:prstDash val="solid"/>
          </a:ln>
        </p:spPr>
      </p:sp>
      <p:sp>
        <p:nvSpPr>
          <p:cNvPr id="20" name="Text 18"/>
          <p:cNvSpPr/>
          <p:nvPr/>
        </p:nvSpPr>
        <p:spPr>
          <a:xfrm>
            <a:off x="1016000" y="6223000"/>
            <a:ext cx="889000" cy="762000"/>
          </a:xfrm>
          <a:prstGeom prst="rect">
            <a:avLst/>
          </a:prstGeom>
          <a:noFill/>
          <a:ln/>
        </p:spPr>
        <p:txBody>
          <a:bodyPr wrap="none" lIns="0" tIns="0" rIns="0" bIns="0" rtlCol="0" anchor="ctr"/>
          <a:lstStyle/>
          <a:p>
            <a:pPr algn="ctr">
              <a:lnSpc>
                <a:spcPct val="100000"/>
              </a:lnSpc>
            </a:pPr>
            <a:r>
              <a:rPr lang="en-US" sz="4800" dirty="0">
                <a:solidFill>
                  <a:srgbClr val="3B82F6"/>
                </a:solidFill>
                <a:latin typeface="Liter" pitchFamily="34" charset="0"/>
                <a:ea typeface="Liter" pitchFamily="34" charset="-122"/>
                <a:cs typeface="Liter" pitchFamily="34" charset="-120"/>
              </a:rPr>
              <a:t>3</a:t>
            </a:r>
            <a:endParaRPr lang="en-US" sz="4800" dirty="0"/>
          </a:p>
        </p:txBody>
      </p:sp>
      <p:sp>
        <p:nvSpPr>
          <p:cNvPr id="21" name="Text 19"/>
          <p:cNvSpPr/>
          <p:nvPr/>
        </p:nvSpPr>
        <p:spPr>
          <a:xfrm>
            <a:off x="1968500" y="6286500"/>
            <a:ext cx="7620000" cy="381000"/>
          </a:xfrm>
          <a:prstGeom prst="rect">
            <a:avLst/>
          </a:prstGeom>
          <a:noFill/>
          <a:ln/>
        </p:spPr>
        <p:txBody>
          <a:bodyPr wrap="none" lIns="0" tIns="0" rIns="0" bIns="0" rtlCol="0" anchor="ctr"/>
          <a:lstStyle/>
          <a:p>
            <a:pPr algn="l">
              <a:lnSpc>
                <a:spcPct val="120000"/>
              </a:lnSpc>
            </a:pPr>
            <a:r>
              <a:rPr lang="en-US" sz="2000" b="1" dirty="0">
                <a:solidFill>
                  <a:srgbClr val="3B82F6"/>
                </a:solidFill>
                <a:latin typeface="Liter" pitchFamily="34" charset="0"/>
                <a:ea typeface="Liter" pitchFamily="34" charset="-122"/>
                <a:cs typeface="Liter" pitchFamily="34" charset="-120"/>
              </a:rPr>
              <a:t>La performance est relative au paramétrage</a:t>
            </a:r>
            <a:endParaRPr lang="en-US" sz="2000" dirty="0"/>
          </a:p>
        </p:txBody>
      </p:sp>
      <p:sp>
        <p:nvSpPr>
          <p:cNvPr id="22" name="Text 20"/>
          <p:cNvSpPr/>
          <p:nvPr/>
        </p:nvSpPr>
        <p:spPr>
          <a:xfrm>
            <a:off x="1968500" y="6731000"/>
            <a:ext cx="13208000" cy="1143000"/>
          </a:xfrm>
          <a:prstGeom prst="rect">
            <a:avLst/>
          </a:prstGeom>
          <a:noFill/>
          <a:ln/>
        </p:spPr>
        <p:txBody>
          <a:bodyPr wrap="square" lIns="0" tIns="0" rIns="0" bIns="0" rtlCol="0" anchor="t"/>
          <a:lstStyle/>
          <a:p>
            <a:pPr algn="l">
              <a:lnSpc>
                <a:spcPct val="160000"/>
              </a:lnSpc>
            </a:pPr>
            <a:r>
              <a:rPr lang="en-US" sz="1600" dirty="0">
                <a:solidFill>
                  <a:srgbClr val="F1F5F9"/>
                </a:solidFill>
                <a:latin typeface="Quattrocento Sans" pitchFamily="34" charset="0"/>
                <a:ea typeface="Quattrocento Sans" pitchFamily="34" charset="-122"/>
                <a:cs typeface="Quattrocento Sans" pitchFamily="34" charset="-120"/>
              </a:rPr>
              <a:t>La performance d'un algorithme d'optimisation est toujours relative à la qualité de son paramétrage. Un taux d'apprentissage inadapté ou un manque de warmup suffisant rendent des optimiseurs réputés (LAMB, SGD) non fonctionnels — ce qui constitue un rappel important pour toute étude comparative.</a:t>
            </a:r>
            <a:endParaRPr lang="en-US" sz="1600" dirty="0"/>
          </a:p>
        </p:txBody>
      </p:sp>
      <p:sp>
        <p:nvSpPr>
          <p:cNvPr id="23" name="Text 21"/>
          <p:cNvSpPr/>
          <p:nvPr/>
        </p:nvSpPr>
        <p:spPr>
          <a:xfrm>
            <a:off x="15240000" y="8763000"/>
            <a:ext cx="762000" cy="254000"/>
          </a:xfrm>
          <a:prstGeom prst="rect">
            <a:avLst/>
          </a:prstGeom>
          <a:noFill/>
          <a:ln/>
        </p:spPr>
        <p:txBody>
          <a:bodyPr wrap="none" lIns="0" tIns="0" rIns="0" bIns="0" rtlCol="0" anchor="ctr"/>
          <a:lstStyle/>
          <a:p>
            <a:pPr algn="r">
              <a:lnSpc>
                <a:spcPct val="140000"/>
              </a:lnSpc>
            </a:pPr>
            <a:r>
              <a:rPr lang="en-US" sz="1300" dirty="0">
                <a:solidFill>
                  <a:srgbClr val="94A3B8"/>
                </a:solidFill>
                <a:latin typeface="Quattrocento Sans" pitchFamily="34" charset="0"/>
                <a:ea typeface="Quattrocento Sans" pitchFamily="34" charset="-122"/>
                <a:cs typeface="Quattrocento Sans" pitchFamily="34" charset="-120"/>
              </a:rPr>
              <a:t>18</a:t>
            </a:r>
            <a:endParaRPr lang="en-US" sz="13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gradFill flip="none" rotWithShape="1">
          <a:gsLst>
            <a:gs pos="0">
              <a:srgbClr val="0B1D3A"/>
            </a:gs>
            <a:gs pos="60000">
              <a:srgbClr val="0F2440"/>
            </a:gs>
            <a:gs pos="100000">
              <a:srgbClr val="152D4D"/>
            </a:gs>
          </a:gsLst>
          <a:lin ang="8100000" scaled="1"/>
        </a:gradFill>
        <a:effectLst/>
      </p:bgPr>
    </p:bg>
    <p:spTree>
      <p:nvGrpSpPr>
        <p:cNvPr id="1" name=""/>
        <p:cNvGrpSpPr/>
        <p:nvPr/>
      </p:nvGrpSpPr>
      <p:grpSpPr>
        <a:xfrm>
          <a:off x="0" y="0"/>
          <a:ext cx="0" cy="0"/>
          <a:chOff x="0" y="0"/>
          <a:chExt cx="0" cy="0"/>
        </a:xfrm>
      </p:grpSpPr>
      <p:sp>
        <p:nvSpPr>
          <p:cNvPr id="2" name="Shape 0"/>
          <p:cNvSpPr/>
          <p:nvPr/>
        </p:nvSpPr>
        <p:spPr>
          <a:xfrm>
            <a:off x="6858000" y="2032000"/>
            <a:ext cx="2540000" cy="38100"/>
          </a:xfrm>
          <a:prstGeom prst="rect">
            <a:avLst/>
          </a:prstGeom>
          <a:solidFill>
            <a:srgbClr val="F97316"/>
          </a:solidFill>
          <a:ln/>
        </p:spPr>
      </p:sp>
      <p:sp>
        <p:nvSpPr>
          <p:cNvPr id="3" name="Text 1"/>
          <p:cNvSpPr/>
          <p:nvPr/>
        </p:nvSpPr>
        <p:spPr>
          <a:xfrm>
            <a:off x="3048000" y="2413000"/>
            <a:ext cx="10160000" cy="1016000"/>
          </a:xfrm>
          <a:prstGeom prst="rect">
            <a:avLst/>
          </a:prstGeom>
          <a:noFill/>
          <a:ln/>
        </p:spPr>
        <p:txBody>
          <a:bodyPr wrap="none" lIns="0" tIns="0" rIns="0" bIns="0" rtlCol="0" anchor="ctr"/>
          <a:lstStyle/>
          <a:p>
            <a:pPr algn="ctr">
              <a:lnSpc>
                <a:spcPct val="120000"/>
              </a:lnSpc>
            </a:pPr>
            <a:r>
              <a:rPr lang="en-US" sz="5600" b="1" dirty="0">
                <a:solidFill>
                  <a:srgbClr val="F1F5F9"/>
                </a:solidFill>
                <a:latin typeface="Liter" pitchFamily="34" charset="0"/>
                <a:ea typeface="Liter" pitchFamily="34" charset="-122"/>
                <a:cs typeface="Liter" pitchFamily="34" charset="-120"/>
              </a:rPr>
              <a:t>Merci</a:t>
            </a:r>
            <a:endParaRPr lang="en-US" sz="5600" dirty="0"/>
          </a:p>
        </p:txBody>
      </p:sp>
      <p:sp>
        <p:nvSpPr>
          <p:cNvPr id="4" name="Text 2"/>
          <p:cNvSpPr/>
          <p:nvPr/>
        </p:nvSpPr>
        <p:spPr>
          <a:xfrm>
            <a:off x="4318000" y="3492500"/>
            <a:ext cx="7620000" cy="635000"/>
          </a:xfrm>
          <a:prstGeom prst="rect">
            <a:avLst/>
          </a:prstGeom>
          <a:noFill/>
          <a:ln/>
        </p:spPr>
        <p:txBody>
          <a:bodyPr wrap="none" lIns="0" tIns="0" rIns="0" bIns="0" rtlCol="0" anchor="ctr"/>
          <a:lstStyle/>
          <a:p>
            <a:pPr algn="ctr">
              <a:lnSpc>
                <a:spcPct val="120000"/>
              </a:lnSpc>
            </a:pPr>
            <a:r>
              <a:rPr lang="en-US" sz="3200" dirty="0">
                <a:solidFill>
                  <a:srgbClr val="14B8A6"/>
                </a:solidFill>
                <a:latin typeface="Liter" pitchFamily="34" charset="0"/>
                <a:ea typeface="Liter" pitchFamily="34" charset="-122"/>
                <a:cs typeface="Liter" pitchFamily="34" charset="-120"/>
              </a:rPr>
              <a:t>Questions ?</a:t>
            </a:r>
            <a:endParaRPr lang="en-US" sz="3200" dirty="0"/>
          </a:p>
        </p:txBody>
      </p:sp>
      <p:sp>
        <p:nvSpPr>
          <p:cNvPr id="5" name="Shape 3"/>
          <p:cNvSpPr/>
          <p:nvPr/>
        </p:nvSpPr>
        <p:spPr>
          <a:xfrm>
            <a:off x="6223000" y="4381500"/>
            <a:ext cx="3810000" cy="12700"/>
          </a:xfrm>
          <a:prstGeom prst="rect">
            <a:avLst/>
          </a:prstGeom>
          <a:solidFill>
            <a:srgbClr val="2D5A8E"/>
          </a:solidFill>
          <a:ln/>
        </p:spPr>
      </p:sp>
      <p:sp>
        <p:nvSpPr>
          <p:cNvPr id="6" name="Text 4"/>
          <p:cNvSpPr/>
          <p:nvPr/>
        </p:nvSpPr>
        <p:spPr>
          <a:xfrm>
            <a:off x="3048000" y="4699000"/>
            <a:ext cx="10160000" cy="355600"/>
          </a:xfrm>
          <a:prstGeom prst="rect">
            <a:avLst/>
          </a:prstGeom>
          <a:noFill/>
          <a:ln/>
        </p:spPr>
        <p:txBody>
          <a:bodyPr wrap="none" lIns="0" tIns="0" rIns="0" bIns="0" rtlCol="0" anchor="ctr"/>
          <a:lstStyle/>
          <a:p>
            <a:pPr algn="ctr">
              <a:lnSpc>
                <a:spcPct val="120000"/>
              </a:lnSpc>
            </a:pPr>
            <a:r>
              <a:rPr lang="en-US" sz="1600" kern="0" spc="300" dirty="0">
                <a:solidFill>
                  <a:srgbClr val="F97316"/>
                </a:solidFill>
                <a:latin typeface="Liter" pitchFamily="34" charset="0"/>
                <a:ea typeface="Liter" pitchFamily="34" charset="-122"/>
                <a:cs typeface="Liter" pitchFamily="34" charset="-120"/>
              </a:rPr>
              <a:t>PIPELINE EDGE AI — MINILM-L12 SUR AG NEWS</a:t>
            </a:r>
            <a:endParaRPr lang="en-US" sz="1600" dirty="0"/>
          </a:p>
        </p:txBody>
      </p:sp>
      <p:sp>
        <p:nvSpPr>
          <p:cNvPr id="7" name="Text 5"/>
          <p:cNvSpPr/>
          <p:nvPr/>
        </p:nvSpPr>
        <p:spPr>
          <a:xfrm>
            <a:off x="3048000" y="5270500"/>
            <a:ext cx="10160000" cy="330200"/>
          </a:xfrm>
          <a:prstGeom prst="rect">
            <a:avLst/>
          </a:prstGeom>
          <a:noFill/>
          <a:ln/>
        </p:spPr>
        <p:txBody>
          <a:bodyPr wrap="none" lIns="0" tIns="0" rIns="0" bIns="0" rtlCol="0" anchor="ctr"/>
          <a:lstStyle/>
          <a:p>
            <a:pPr algn="ctr">
              <a:lnSpc>
                <a:spcPct val="120000"/>
              </a:lnSpc>
            </a:pPr>
            <a:r>
              <a:rPr lang="en-US" sz="1600" dirty="0">
                <a:solidFill>
                  <a:srgbClr val="F1F5F9"/>
                </a:solidFill>
                <a:latin typeface="Quattrocento Sans" pitchFamily="34" charset="0"/>
                <a:ea typeface="Quattrocento Sans" pitchFamily="34" charset="-122"/>
                <a:cs typeface="Quattrocento Sans" pitchFamily="34" charset="-120"/>
              </a:rPr>
              <a:t>Ayman Chabbaki · Mohammed Bendifi · Imane Alouani · Marouane Daouki</a:t>
            </a:r>
            <a:endParaRPr lang="en-US" sz="1600" dirty="0"/>
          </a:p>
        </p:txBody>
      </p:sp>
      <p:sp>
        <p:nvSpPr>
          <p:cNvPr id="8" name="Text 6"/>
          <p:cNvSpPr/>
          <p:nvPr/>
        </p:nvSpPr>
        <p:spPr>
          <a:xfrm>
            <a:off x="3683000" y="5715000"/>
            <a:ext cx="8890000" cy="304800"/>
          </a:xfrm>
          <a:prstGeom prst="rect">
            <a:avLst/>
          </a:prstGeom>
          <a:noFill/>
          <a:ln/>
        </p:spPr>
        <p:txBody>
          <a:bodyPr wrap="none" lIns="0" tIns="0" rIns="0" bIns="0" rtlCol="0" anchor="ctr"/>
          <a:lstStyle/>
          <a:p>
            <a:pPr algn="ctr">
              <a:lnSpc>
                <a:spcPct val="120000"/>
              </a:lnSpc>
            </a:pPr>
            <a:r>
              <a:rPr lang="en-US" sz="1400" dirty="0">
                <a:solidFill>
                  <a:srgbClr val="94A3B8"/>
                </a:solidFill>
                <a:latin typeface="Quattrocento Sans" pitchFamily="34" charset="0"/>
                <a:ea typeface="Quattrocento Sans" pitchFamily="34" charset="-122"/>
                <a:cs typeface="Quattrocento Sans" pitchFamily="34" charset="-120"/>
              </a:rPr>
              <a:t>Encadrante : Professeure Faouzia Benabbou</a:t>
            </a:r>
            <a:endParaRPr lang="en-US" sz="1400" dirty="0"/>
          </a:p>
        </p:txBody>
      </p:sp>
      <p:sp>
        <p:nvSpPr>
          <p:cNvPr id="9" name="Text 7"/>
          <p:cNvSpPr/>
          <p:nvPr/>
        </p:nvSpPr>
        <p:spPr>
          <a:xfrm>
            <a:off x="3048000" y="6159500"/>
            <a:ext cx="10160000" cy="304800"/>
          </a:xfrm>
          <a:prstGeom prst="rect">
            <a:avLst/>
          </a:prstGeom>
          <a:noFill/>
          <a:ln/>
        </p:spPr>
        <p:txBody>
          <a:bodyPr wrap="none" lIns="0" tIns="0" rIns="0" bIns="0" rtlCol="0" anchor="ctr"/>
          <a:lstStyle/>
          <a:p>
            <a:pPr algn="ctr">
              <a:lnSpc>
                <a:spcPct val="120000"/>
              </a:lnSpc>
            </a:pPr>
            <a:r>
              <a:rPr lang="en-US" sz="1400" dirty="0">
                <a:solidFill>
                  <a:srgbClr val="94A3B8"/>
                </a:solidFill>
                <a:latin typeface="Quattrocento Sans" pitchFamily="34" charset="0"/>
                <a:ea typeface="Quattrocento Sans" pitchFamily="34" charset="-122"/>
                <a:cs typeface="Quattrocento Sans" pitchFamily="34" charset="-120"/>
              </a:rPr>
              <a:t>Université Hassan II de Casablanca — Faculté des Sciences Ben M'Sick</a:t>
            </a:r>
            <a:endParaRPr lang="en-US" sz="1400" dirty="0"/>
          </a:p>
        </p:txBody>
      </p:sp>
      <p:sp>
        <p:nvSpPr>
          <p:cNvPr id="10" name="Text 8"/>
          <p:cNvSpPr/>
          <p:nvPr/>
        </p:nvSpPr>
        <p:spPr>
          <a:xfrm>
            <a:off x="5588000" y="6540500"/>
            <a:ext cx="5080000" cy="304800"/>
          </a:xfrm>
          <a:prstGeom prst="rect">
            <a:avLst/>
          </a:prstGeom>
          <a:noFill/>
          <a:ln/>
        </p:spPr>
        <p:txBody>
          <a:bodyPr wrap="none" lIns="0" tIns="0" rIns="0" bIns="0" rtlCol="0" anchor="ctr"/>
          <a:lstStyle/>
          <a:p>
            <a:pPr algn="ctr">
              <a:lnSpc>
                <a:spcPct val="120000"/>
              </a:lnSpc>
            </a:pPr>
            <a:r>
              <a:rPr lang="en-US" sz="1400" dirty="0">
                <a:solidFill>
                  <a:srgbClr val="94A3B8"/>
                </a:solidFill>
                <a:latin typeface="Quattrocento Sans" pitchFamily="34" charset="0"/>
                <a:ea typeface="Quattrocento Sans" pitchFamily="34" charset="-122"/>
                <a:cs typeface="Quattrocento Sans" pitchFamily="34" charset="-120"/>
              </a:rPr>
              <a:t>Année universitaire 2025/2026</a:t>
            </a:r>
            <a:endParaRPr lang="en-US" sz="1400" dirty="0"/>
          </a:p>
        </p:txBody>
      </p:sp>
      <p:sp>
        <p:nvSpPr>
          <p:cNvPr id="11" name="Shape 9"/>
          <p:cNvSpPr/>
          <p:nvPr/>
        </p:nvSpPr>
        <p:spPr>
          <a:xfrm>
            <a:off x="6858000" y="7239000"/>
            <a:ext cx="2540000" cy="38100"/>
          </a:xfrm>
          <a:prstGeom prst="rect">
            <a:avLst/>
          </a:prstGeom>
          <a:solidFill>
            <a:srgbClr val="14B8A6"/>
          </a:solidFill>
          <a:ln/>
        </p:spPr>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1789</Words>
  <Application>Microsoft Office PowerPoint</Application>
  <PresentationFormat>Custom</PresentationFormat>
  <Paragraphs>359</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Liter</vt:lpstr>
      <vt:lpstr>Quattrocento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Edge AI : Fine-tuning, Benchmark d'Optimiseurs et Compression d'un Modèle de Langage pour le Déploiement Embarqué</dc:title>
  <dc:subject>Pipeline Edge AI : Fine-tuning, Benchmark d'Optimiseurs et Compression d'un Modèle de Langage pour le Déploiement Embarqué</dc:subject>
  <dc:creator>Kimi</dc:creator>
  <cp:lastModifiedBy>DAOUKI MAROUANE</cp:lastModifiedBy>
  <cp:revision>2</cp:revision>
  <dcterms:created xsi:type="dcterms:W3CDTF">2026-06-19T01:34:33Z</dcterms:created>
  <dcterms:modified xsi:type="dcterms:W3CDTF">2026-06-19T01:36:34Z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{"Label":"Pipeline Edge AI : Fine-tuning, Benchmark d'Optimiseurs et Compression d'un Modèle de Langage pour le Déploiement Embarqué","ContentProducer":"001191110108MACG2KBH8F10000","ProduceID":"19edd7a2-7012-8210-8000-0000af545a1a","ReservedCode1":"","ContentPropagator":"001191110108MACG2KBH8F20000","PropagateID":"19edd783-94f2-86cb-8000-090ec58390df","ReservedCode2":""}</vt:lpwstr>
  </property>
</Properties>
</file>