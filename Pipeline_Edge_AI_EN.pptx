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34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Macro F1</c:v>
                </c:pt>
              </c:strCache>
            </c:strRef>
          </c:tx>
          <c:spPr>
            <a:solidFill>
              <a:srgbClr val="2F4B9E">
                <a:alpha val="100000"/>
              </a:srgbClr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F4B9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9A7-459A-A062-F4D75313D4A1}"/>
              </c:ext>
            </c:extLst>
          </c:dPt>
          <c:dPt>
            <c:idx val="1"/>
            <c:invertIfNegative val="0"/>
            <c:bubble3D val="0"/>
            <c:spPr>
              <a:solidFill>
                <a:srgbClr val="2F4B9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9A7-459A-A062-F4D75313D4A1}"/>
              </c:ext>
            </c:extLst>
          </c:dPt>
          <c:dPt>
            <c:idx val="2"/>
            <c:invertIfNegative val="0"/>
            <c:bubble3D val="0"/>
            <c:spPr>
              <a:solidFill>
                <a:srgbClr val="2F4B9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9A7-459A-A062-F4D75313D4A1}"/>
              </c:ext>
            </c:extLst>
          </c:dPt>
          <c:dPt>
            <c:idx val="3"/>
            <c:invertIfNegative val="0"/>
            <c:bubble3D val="0"/>
            <c:spPr>
              <a:solidFill>
                <a:srgbClr val="D8484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9A7-459A-A062-F4D75313D4A1}"/>
              </c:ext>
            </c:extLst>
          </c:dPt>
          <c:dPt>
            <c:idx val="4"/>
            <c:invertIfNegative val="0"/>
            <c:bubble3D val="0"/>
            <c:spPr>
              <a:solidFill>
                <a:srgbClr val="D8484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29A7-459A-A062-F4D75313D4A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1D2A44"/>
                    </a:solidFill>
                    <a:latin typeface="Calibri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AdamW</c:v>
                </c:pt>
                <c:pt idx="1">
                  <c:v>Adafactor</c:v>
                </c:pt>
                <c:pt idx="2">
                  <c:v>Lion</c:v>
                </c:pt>
                <c:pt idx="3">
                  <c:v>LAMB</c:v>
                </c:pt>
                <c:pt idx="4">
                  <c:v>SGD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0.90129999999999999</c:v>
                </c:pt>
                <c:pt idx="1">
                  <c:v>0.89690000000000003</c:v>
                </c:pt>
                <c:pt idx="2">
                  <c:v>0.87660000000000005</c:v>
                </c:pt>
                <c:pt idx="3">
                  <c:v>0.36199999999999999</c:v>
                </c:pt>
                <c:pt idx="4">
                  <c:v>9.9500000000000005E-2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29A7-459A-A062-F4D75313D4A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1D2A44"/>
                </a:solidFill>
                <a:latin typeface="Calibri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86757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lob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0068" y="502920"/>
            <a:ext cx="1051560" cy="9235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14400" y="1691640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0E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MODULE  ·  ACADEMIC YEAR 2025 / 2026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914400" y="2148840"/>
            <a:ext cx="103628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kern="0" spc="100" dirty="0">
                <a:solidFill>
                  <a:srgbClr val="1E32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PIPELINE </a:t>
            </a:r>
            <a:r>
              <a:rPr lang="en-US" sz="5200" b="1" kern="0" spc="100" dirty="0">
                <a:solidFill>
                  <a:srgbClr val="E893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EDGE AI</a:t>
            </a:r>
            <a:endParaRPr lang="en-US" sz="5200" dirty="0"/>
          </a:p>
        </p:txBody>
      </p:sp>
      <p:sp>
        <p:nvSpPr>
          <p:cNvPr id="6" name="Text 2"/>
          <p:cNvSpPr/>
          <p:nvPr/>
        </p:nvSpPr>
        <p:spPr>
          <a:xfrm>
            <a:off x="914400" y="306324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Fine-Tuning, Optimizer Benchmark &amp; Compression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914400" y="3493008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 Language Model for Embedded Deployment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4175608" y="4114800"/>
            <a:ext cx="3840480" cy="457200"/>
          </a:xfrm>
          <a:prstGeom prst="roundRect">
            <a:avLst>
              <a:gd name="adj" fmla="val 50000"/>
            </a:avLst>
          </a:prstGeom>
          <a:solidFill>
            <a:srgbClr val="E4F4F1"/>
          </a:solidFill>
          <a:ln/>
        </p:spPr>
      </p:sp>
      <p:sp>
        <p:nvSpPr>
          <p:cNvPr id="9" name="Text 5"/>
          <p:cNvSpPr/>
          <p:nvPr/>
        </p:nvSpPr>
        <p:spPr>
          <a:xfrm>
            <a:off x="4175608" y="41148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100" dirty="0">
                <a:solidFill>
                  <a:srgbClr val="0E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MiniLM-L12  ·  AG News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914400" y="4892040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Ayman Chabbaki  ·  Mohammed Bendifi  ·  Imane Alouani  ·  Marouane Daouki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914400" y="525780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Professor Faouzia Benabbou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914400" y="5559552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Hassan II University of Casablanca Faculty of Sciences Ben M'Sick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afterEffect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4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afterEffect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4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afterEffect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4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afterEffect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4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nodeType="afterEffect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nodeType="afterEffect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4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nodeType="afterEffect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4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nodeType="afterEffect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4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nodeType="afterEffect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4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nodeType="afterEffect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4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2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PRESENTATION OUTLINE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76200" dist="25400" dir="5400000" algn="bl" rotWithShape="0">
              <a:srgbClr val="1D2A44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417320"/>
            <a:ext cx="1005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F4B9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01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1965960" y="1600200"/>
            <a:ext cx="566928" cy="566928"/>
          </a:xfrm>
          <a:prstGeom prst="ellipse">
            <a:avLst/>
          </a:prstGeom>
          <a:solidFill>
            <a:srgbClr val="FCEFD9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023" y="1736263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88920" y="1563624"/>
            <a:ext cx="8534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 Problem Statement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2788920" y="1892808"/>
            <a:ext cx="8534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constraints, optimization &amp; compression levers, and the project's central question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450592"/>
            <a:ext cx="11094415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76200" dist="25400" dir="5400000" algn="bl" rotWithShape="0">
              <a:srgbClr val="1D2A44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77240" y="2450592"/>
            <a:ext cx="1005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F4B9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02</a:t>
            </a:r>
            <a:endParaRPr lang="en-US" sz="3400" dirty="0"/>
          </a:p>
        </p:txBody>
      </p:sp>
      <p:sp>
        <p:nvSpPr>
          <p:cNvPr id="11" name="Shape 8"/>
          <p:cNvSpPr/>
          <p:nvPr/>
        </p:nvSpPr>
        <p:spPr>
          <a:xfrm>
            <a:off x="1965960" y="2633472"/>
            <a:ext cx="566928" cy="566928"/>
          </a:xfrm>
          <a:prstGeom prst="ellipse">
            <a:avLst/>
          </a:prstGeom>
          <a:solidFill>
            <a:srgbClr val="EEF2FB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2023" y="2769535"/>
            <a:ext cx="294803" cy="29480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788920" y="2596896"/>
            <a:ext cx="8534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Architecture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2788920" y="2926080"/>
            <a:ext cx="8534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functional blocks, the MiniLM-L12 model, the AG News dataset, and tokenization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3483864"/>
            <a:ext cx="11094415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76200" dist="25400" dir="5400000" algn="bl" rotWithShape="0">
              <a:srgbClr val="1D2A44">
                <a:alpha val="8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777240" y="3483864"/>
            <a:ext cx="1005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F4B9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03</a:t>
            </a:r>
            <a:endParaRPr lang="en-US" sz="3400" dirty="0"/>
          </a:p>
        </p:txBody>
      </p:sp>
      <p:sp>
        <p:nvSpPr>
          <p:cNvPr id="17" name="Shape 13"/>
          <p:cNvSpPr/>
          <p:nvPr/>
        </p:nvSpPr>
        <p:spPr>
          <a:xfrm>
            <a:off x="1965960" y="3666744"/>
            <a:ext cx="566928" cy="566928"/>
          </a:xfrm>
          <a:prstGeom prst="ellipse">
            <a:avLst/>
          </a:prstGeom>
          <a:solidFill>
            <a:srgbClr val="EEF2FB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2023" y="3802807"/>
            <a:ext cx="294803" cy="29480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788920" y="3630168"/>
            <a:ext cx="8534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Benchmark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2788920" y="3959352"/>
            <a:ext cx="8534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optimizers, methodology, results, and a critical analysis of the SGD &amp; LAMB failures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548640" y="4517136"/>
            <a:ext cx="11094415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76200" dist="25400" dir="5400000" algn="bl" rotWithShape="0">
              <a:srgbClr val="1D2A44">
                <a:alpha val="8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777240" y="4517136"/>
            <a:ext cx="1005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F4B9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04</a:t>
            </a:r>
            <a:endParaRPr lang="en-US" sz="3400" dirty="0"/>
          </a:p>
        </p:txBody>
      </p:sp>
      <p:sp>
        <p:nvSpPr>
          <p:cNvPr id="23" name="Shape 18"/>
          <p:cNvSpPr/>
          <p:nvPr/>
        </p:nvSpPr>
        <p:spPr>
          <a:xfrm>
            <a:off x="1965960" y="4700016"/>
            <a:ext cx="566928" cy="566928"/>
          </a:xfrm>
          <a:prstGeom prst="ellipse">
            <a:avLst/>
          </a:prstGeom>
          <a:solidFill>
            <a:srgbClr val="E4F4F1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2023" y="4836079"/>
            <a:ext cx="294803" cy="29480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2788920" y="4663440"/>
            <a:ext cx="8534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&amp; Edge Evaluation</a:t>
            </a:r>
            <a:endParaRPr lang="en-US" sz="1700" dirty="0"/>
          </a:p>
        </p:txBody>
      </p:sp>
      <p:sp>
        <p:nvSpPr>
          <p:cNvPr id="26" name="Text 20"/>
          <p:cNvSpPr/>
          <p:nvPr/>
        </p:nvSpPr>
        <p:spPr>
          <a:xfrm>
            <a:off x="2788920" y="4992624"/>
            <a:ext cx="8534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quantization, FP32 vs INT8 comparison, and the quality–speed–memory trade-off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548640" y="5550408"/>
            <a:ext cx="11094415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76200" dist="25400" dir="5400000" algn="bl" rotWithShape="0">
              <a:srgbClr val="1D2A44">
                <a:alpha val="8000"/>
              </a:srgbClr>
            </a:outerShdw>
          </a:effectLst>
        </p:spPr>
      </p:sp>
      <p:sp>
        <p:nvSpPr>
          <p:cNvPr id="28" name="Text 22"/>
          <p:cNvSpPr/>
          <p:nvPr/>
        </p:nvSpPr>
        <p:spPr>
          <a:xfrm>
            <a:off x="777240" y="5550408"/>
            <a:ext cx="1005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F4B9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05</a:t>
            </a:r>
            <a:endParaRPr lang="en-US" sz="3400" dirty="0"/>
          </a:p>
        </p:txBody>
      </p:sp>
      <p:sp>
        <p:nvSpPr>
          <p:cNvPr id="29" name="Shape 23"/>
          <p:cNvSpPr/>
          <p:nvPr/>
        </p:nvSpPr>
        <p:spPr>
          <a:xfrm>
            <a:off x="1965960" y="5733288"/>
            <a:ext cx="566928" cy="566928"/>
          </a:xfrm>
          <a:prstGeom prst="ellipse">
            <a:avLst/>
          </a:prstGeom>
          <a:solidFill>
            <a:srgbClr val="FCEFD9"/>
          </a:solidFill>
          <a:ln/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02023" y="5869351"/>
            <a:ext cx="294803" cy="294803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2788920" y="5696712"/>
            <a:ext cx="8534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&amp; Perspectives</a:t>
            </a:r>
            <a:endParaRPr lang="en-US" sz="1700" dirty="0"/>
          </a:p>
        </p:txBody>
      </p:sp>
      <p:sp>
        <p:nvSpPr>
          <p:cNvPr id="32" name="Text 25"/>
          <p:cNvSpPr/>
          <p:nvPr/>
        </p:nvSpPr>
        <p:spPr>
          <a:xfrm>
            <a:off x="2788920" y="6025896"/>
            <a:ext cx="8534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limitations, improvement perspectives, and the conclusion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2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FFFFFF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4572000"/>
            <a:ext cx="3291840" cy="3291840"/>
          </a:xfrm>
          <a:prstGeom prst="ellipse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4114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0" b="1" dirty="0">
                <a:solidFill>
                  <a:srgbClr val="2F4B9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01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4480560" y="2331720"/>
            <a:ext cx="1051560" cy="10515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2020" y="258318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84048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32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Context &amp; Problem Statement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68680" y="47091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Edge AI deployment is a challenge, and how optimization and compression address it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914400" y="4645152"/>
            <a:ext cx="2743200" cy="0"/>
          </a:xfrm>
          <a:prstGeom prst="line">
            <a:avLst/>
          </a:prstGeom>
          <a:noFill/>
          <a:ln w="31750">
            <a:solidFill>
              <a:srgbClr val="0E9B8A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1798259" cy="384048"/>
          </a:xfrm>
          <a:prstGeom prst="roundRect">
            <a:avLst>
              <a:gd name="adj" fmla="val 19048"/>
            </a:avLst>
          </a:prstGeom>
          <a:solidFill>
            <a:srgbClr val="EEF2F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24383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F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</a:t>
            </a:r>
            <a:r>
              <a:rPr lang="en-US" sz="1150" b="1" dirty="0">
                <a:solidFill>
                  <a:srgbClr val="1E3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2438339" y="274320"/>
            <a:ext cx="24383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r>
              <a:rPr lang="en-US" sz="115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876678" y="274320"/>
            <a:ext cx="24383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r>
              <a:rPr lang="en-US" sz="115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315017" y="274320"/>
            <a:ext cx="24383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r>
              <a:rPr lang="en-US" sz="115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753356" y="274320"/>
            <a:ext cx="24383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</a:t>
            </a:r>
            <a:r>
              <a:rPr lang="en-US" sz="115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841248"/>
            <a:ext cx="11185855" cy="0"/>
          </a:xfrm>
          <a:prstGeom prst="line">
            <a:avLst/>
          </a:prstGeom>
          <a:noFill/>
          <a:ln w="12700">
            <a:solidFill>
              <a:srgbClr val="E3E8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0241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50" dirty="0">
                <a:solidFill>
                  <a:srgbClr val="1E32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Context &amp; Problem Statement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Edge AI · MiniLM-L12 on AG News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1828800"/>
            <a:ext cx="539496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76200" dist="25400" dir="5400000" algn="bl" rotWithShape="0">
              <a:srgbClr val="1D2A44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8680" y="2121408"/>
            <a:ext cx="548640" cy="548640"/>
          </a:xfrm>
          <a:prstGeom prst="ellipse">
            <a:avLst/>
          </a:prstGeom>
          <a:solidFill>
            <a:srgbClr val="FCEFD9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354" y="2253082"/>
            <a:ext cx="285293" cy="285293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554480" y="212140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Deployment Constraints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914400" y="2834640"/>
            <a:ext cx="4663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GPU accelerator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RAM (constrained memory)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Low-latency requirement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FP32 models &gt; 100 MB are unusable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Unacceptable response times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6263640" y="1828800"/>
            <a:ext cx="5394960" cy="2788920"/>
          </a:xfrm>
          <a:prstGeom prst="roundRect">
            <a:avLst>
              <a:gd name="adj" fmla="val 3279"/>
            </a:avLst>
          </a:prstGeom>
          <a:solidFill>
            <a:srgbClr val="EEF2FB"/>
          </a:solidFill>
          <a:ln w="12700">
            <a:solidFill>
              <a:srgbClr val="E3E8F2"/>
            </a:solidFill>
            <a:prstDash val="solid"/>
          </a:ln>
          <a:effectLst>
            <a:outerShdw blurRad="76200" dist="25400" dir="5400000" algn="bl" rotWithShape="0">
              <a:srgbClr val="1D2A44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583680" y="212140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5354" y="2253082"/>
            <a:ext cx="285293" cy="285293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269480" y="212140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Main Levers</a:t>
            </a:r>
            <a:endParaRPr lang="en-US" sz="1700" dirty="0"/>
          </a:p>
        </p:txBody>
      </p:sp>
      <p:sp>
        <p:nvSpPr>
          <p:cNvPr id="21" name="Text 17"/>
          <p:cNvSpPr/>
          <p:nvPr/>
        </p:nvSpPr>
        <p:spPr>
          <a:xfrm>
            <a:off x="6629400" y="278892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E3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Optimizer choice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Influences final quality and convergence speed during fine-tuning
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E3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Model compression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quantization reduces the memory footprint and speeds up CPU inference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548640" y="4892040"/>
            <a:ext cx="11094415" cy="1234440"/>
          </a:xfrm>
          <a:prstGeom prst="roundRect">
            <a:avLst>
              <a:gd name="adj" fmla="val 7407"/>
            </a:avLst>
          </a:prstGeom>
          <a:solidFill>
            <a:srgbClr val="E4F4F1"/>
          </a:solidFill>
          <a:ln w="12700">
            <a:solidFill>
              <a:srgbClr val="E3E8F2"/>
            </a:solidFill>
            <a:prstDash val="solid"/>
          </a:ln>
          <a:effectLst>
            <a:outerShdw blurRad="76200" dist="25400" dir="5400000" algn="bl" rotWithShape="0">
              <a:srgbClr val="1D2A44">
                <a:alpha val="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868680" y="52349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354" y="5366614"/>
            <a:ext cx="285293" cy="285293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600200" y="5074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Problem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1600200" y="5422392"/>
            <a:ext cx="97228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we identify the best trade-off between </a:t>
            </a:r>
            <a:r>
              <a:rPr lang="en-US" sz="1500" b="1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performance</a:t>
            </a:r>
            <a:r>
              <a:rPr lang="en-US" sz="1500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500" b="1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cost</a:t>
            </a:r>
            <a:r>
              <a:rPr lang="en-US" sz="1500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</a:t>
            </a:r>
            <a:r>
              <a:rPr lang="en-US" sz="1500" b="1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feasibility</a:t>
            </a:r>
            <a:r>
              <a:rPr lang="en-US" sz="1500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a constrained device?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2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FFFFFF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4572000"/>
            <a:ext cx="3291840" cy="3291840"/>
          </a:xfrm>
          <a:prstGeom prst="ellipse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4114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0" b="1" dirty="0">
                <a:solidFill>
                  <a:srgbClr val="2F4B9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02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4480560" y="2331720"/>
            <a:ext cx="1051560" cy="10515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2020" y="258318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84048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32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Pipeline Architecture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68680" y="47091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modular architecture of 5 functional blocks, designed for reproducibility and easier debugging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914400" y="4645152"/>
            <a:ext cx="2743200" cy="0"/>
          </a:xfrm>
          <a:prstGeom prst="line">
            <a:avLst/>
          </a:prstGeom>
          <a:noFill/>
          <a:ln w="31750">
            <a:solidFill>
              <a:srgbClr val="0E9B8A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24383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</a:t>
            </a:r>
            <a:r>
              <a:rPr lang="en-US" sz="115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2758379" y="274320"/>
            <a:ext cx="1798259" cy="384048"/>
          </a:xfrm>
          <a:prstGeom prst="roundRect">
            <a:avLst>
              <a:gd name="adj" fmla="val 19048"/>
            </a:avLst>
          </a:prstGeom>
          <a:solidFill>
            <a:srgbClr val="EEF2FB"/>
          </a:solidFill>
          <a:ln/>
        </p:spPr>
      </p:sp>
      <p:sp>
        <p:nvSpPr>
          <p:cNvPr id="4" name="Text 2"/>
          <p:cNvSpPr/>
          <p:nvPr/>
        </p:nvSpPr>
        <p:spPr>
          <a:xfrm>
            <a:off x="2438339" y="274320"/>
            <a:ext cx="24383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F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r>
              <a:rPr lang="en-US" sz="1150" b="1" dirty="0">
                <a:solidFill>
                  <a:srgbClr val="1E3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876678" y="274320"/>
            <a:ext cx="24383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r>
              <a:rPr lang="en-US" sz="115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315017" y="274320"/>
            <a:ext cx="24383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r>
              <a:rPr lang="en-US" sz="115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753356" y="274320"/>
            <a:ext cx="24383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</a:t>
            </a:r>
            <a:r>
              <a:rPr lang="en-US" sz="115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841248"/>
            <a:ext cx="11185855" cy="0"/>
          </a:xfrm>
          <a:prstGeom prst="line">
            <a:avLst/>
          </a:prstGeom>
          <a:noFill/>
          <a:ln w="12700">
            <a:solidFill>
              <a:srgbClr val="E3E8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0241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50" dirty="0">
                <a:solidFill>
                  <a:srgbClr val="1E32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Pipeline Architecture — 5 Blocks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Edge AI · MiniLM-L12 on AG News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1783080"/>
            <a:ext cx="2014057" cy="297180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76200" dist="25400" dir="5400000" algn="bl" rotWithShape="0">
              <a:srgbClr val="1D2A44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2039112"/>
            <a:ext cx="20140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2F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144189" y="2441448"/>
            <a:ext cx="822960" cy="822960"/>
          </a:xfrm>
          <a:prstGeom prst="ellipse">
            <a:avLst/>
          </a:prstGeom>
          <a:solidFill>
            <a:srgbClr val="EEF2FB"/>
          </a:solidFill>
          <a:ln/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1699" y="2638958"/>
            <a:ext cx="427939" cy="427939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58368" y="3410712"/>
            <a:ext cx="179460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3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694944" y="3977640"/>
            <a:ext cx="172144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 News, sub-sampling, 128-token tokenization</a:t>
            </a:r>
            <a:endParaRPr lang="en-US" sz="11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9273" y="3177540"/>
            <a:ext cx="182880" cy="1828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2818729" y="1783080"/>
            <a:ext cx="2014057" cy="297180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76200" dist="25400" dir="5400000" algn="bl" rotWithShape="0">
              <a:srgbClr val="1D2A44">
                <a:alpha val="8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2818729" y="2039112"/>
            <a:ext cx="20140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2F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2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3414278" y="2441448"/>
            <a:ext cx="822960" cy="822960"/>
          </a:xfrm>
          <a:prstGeom prst="ellipse">
            <a:avLst/>
          </a:prstGeom>
          <a:solidFill>
            <a:srgbClr val="E4F4F1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1789" y="2638958"/>
            <a:ext cx="427939" cy="427939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2928457" y="3410712"/>
            <a:ext cx="179460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3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Benchmark</a:t>
            </a:r>
            <a:endParaRPr lang="en-US" sz="1450" dirty="0"/>
          </a:p>
        </p:txBody>
      </p:sp>
      <p:sp>
        <p:nvSpPr>
          <p:cNvPr id="24" name="Text 19"/>
          <p:cNvSpPr/>
          <p:nvPr/>
        </p:nvSpPr>
        <p:spPr>
          <a:xfrm>
            <a:off x="2965033" y="3977640"/>
            <a:ext cx="172144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AdamW, Adafactor, Lion, LAMB, SGD — best-F1 selection</a:t>
            </a:r>
            <a:endParaRPr lang="en-US" sz="11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9363" y="3177540"/>
            <a:ext cx="182880" cy="182880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5088819" y="1783080"/>
            <a:ext cx="2014057" cy="297180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76200" dist="25400" dir="5400000" algn="bl" rotWithShape="0">
              <a:srgbClr val="1D2A44">
                <a:alpha val="8000"/>
              </a:srgbClr>
            </a:outerShdw>
          </a:effectLst>
        </p:spPr>
      </p:sp>
      <p:sp>
        <p:nvSpPr>
          <p:cNvPr id="27" name="Text 21"/>
          <p:cNvSpPr/>
          <p:nvPr/>
        </p:nvSpPr>
        <p:spPr>
          <a:xfrm>
            <a:off x="5088819" y="2039112"/>
            <a:ext cx="20140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2F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3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5684368" y="2441448"/>
            <a:ext cx="822960" cy="822960"/>
          </a:xfrm>
          <a:prstGeom prst="ellipse">
            <a:avLst/>
          </a:prstGeom>
          <a:solidFill>
            <a:srgbClr val="FCEFD9"/>
          </a:solidFill>
          <a:ln/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1878" y="2638958"/>
            <a:ext cx="427939" cy="427939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198547" y="3410712"/>
            <a:ext cx="179460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3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Compression</a:t>
            </a:r>
            <a:endParaRPr lang="en-US" sz="1450" dirty="0"/>
          </a:p>
        </p:txBody>
      </p:sp>
      <p:sp>
        <p:nvSpPr>
          <p:cNvPr id="31" name="Text 24"/>
          <p:cNvSpPr/>
          <p:nvPr/>
        </p:nvSpPr>
        <p:spPr>
          <a:xfrm>
            <a:off x="5235123" y="3977640"/>
            <a:ext cx="172144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quantization of nn.Linear layers</a:t>
            </a:r>
            <a:endParaRPr lang="en-US" sz="1100" dirty="0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9452" y="3177540"/>
            <a:ext cx="182880" cy="182880"/>
          </a:xfrm>
          <a:prstGeom prst="rect">
            <a:avLst/>
          </a:prstGeom>
        </p:spPr>
      </p:pic>
      <p:sp>
        <p:nvSpPr>
          <p:cNvPr id="33" name="Shape 25"/>
          <p:cNvSpPr/>
          <p:nvPr/>
        </p:nvSpPr>
        <p:spPr>
          <a:xfrm>
            <a:off x="7358908" y="1783080"/>
            <a:ext cx="2014057" cy="297180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76200" dist="25400" dir="5400000" algn="bl" rotWithShape="0">
              <a:srgbClr val="1D2A44">
                <a:alpha val="8000"/>
              </a:srgbClr>
            </a:outerShdw>
          </a:effectLst>
        </p:spPr>
      </p:sp>
      <p:sp>
        <p:nvSpPr>
          <p:cNvPr id="34" name="Text 26"/>
          <p:cNvSpPr/>
          <p:nvPr/>
        </p:nvSpPr>
        <p:spPr>
          <a:xfrm>
            <a:off x="7358908" y="2039112"/>
            <a:ext cx="20140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2F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4</a:t>
            </a:r>
            <a:endParaRPr lang="en-US" sz="1200" dirty="0"/>
          </a:p>
        </p:txBody>
      </p:sp>
      <p:sp>
        <p:nvSpPr>
          <p:cNvPr id="35" name="Shape 27"/>
          <p:cNvSpPr/>
          <p:nvPr/>
        </p:nvSpPr>
        <p:spPr>
          <a:xfrm>
            <a:off x="7954457" y="2441448"/>
            <a:ext cx="822960" cy="822960"/>
          </a:xfrm>
          <a:prstGeom prst="ellipse">
            <a:avLst/>
          </a:prstGeom>
          <a:solidFill>
            <a:srgbClr val="E4F4F1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51967" y="2638958"/>
            <a:ext cx="427939" cy="427939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468636" y="3410712"/>
            <a:ext cx="179460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3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Evaluation</a:t>
            </a:r>
            <a:endParaRPr lang="en-US" sz="1450" dirty="0"/>
          </a:p>
        </p:txBody>
      </p:sp>
      <p:sp>
        <p:nvSpPr>
          <p:cNvPr id="38" name="Text 29"/>
          <p:cNvSpPr/>
          <p:nvPr/>
        </p:nvSpPr>
        <p:spPr>
          <a:xfrm>
            <a:off x="7505212" y="3977640"/>
            <a:ext cx="172144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Latency, size, quality — FP32 vs INT8 on CPU</a:t>
            </a:r>
            <a:endParaRPr lang="en-US" sz="1100" dirty="0"/>
          </a:p>
        </p:txBody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9542" y="3177540"/>
            <a:ext cx="182880" cy="182880"/>
          </a:xfrm>
          <a:prstGeom prst="rect">
            <a:avLst/>
          </a:prstGeom>
        </p:spPr>
      </p:pic>
      <p:sp>
        <p:nvSpPr>
          <p:cNvPr id="40" name="Shape 30"/>
          <p:cNvSpPr/>
          <p:nvPr/>
        </p:nvSpPr>
        <p:spPr>
          <a:xfrm>
            <a:off x="9628998" y="1783080"/>
            <a:ext cx="2014057" cy="297180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76200" dist="25400" dir="5400000" algn="bl" rotWithShape="0">
              <a:srgbClr val="1D2A44">
                <a:alpha val="8000"/>
              </a:srgbClr>
            </a:outerShdw>
          </a:effectLst>
        </p:spPr>
      </p:sp>
      <p:sp>
        <p:nvSpPr>
          <p:cNvPr id="41" name="Text 31"/>
          <p:cNvSpPr/>
          <p:nvPr/>
        </p:nvSpPr>
        <p:spPr>
          <a:xfrm>
            <a:off x="9628998" y="2039112"/>
            <a:ext cx="20140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2F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5</a:t>
            </a:r>
            <a:endParaRPr lang="en-US" sz="1200" dirty="0"/>
          </a:p>
        </p:txBody>
      </p:sp>
      <p:sp>
        <p:nvSpPr>
          <p:cNvPr id="42" name="Shape 32"/>
          <p:cNvSpPr/>
          <p:nvPr/>
        </p:nvSpPr>
        <p:spPr>
          <a:xfrm>
            <a:off x="10224546" y="2441448"/>
            <a:ext cx="822960" cy="822960"/>
          </a:xfrm>
          <a:prstGeom prst="ellipse">
            <a:avLst/>
          </a:prstGeom>
          <a:solidFill>
            <a:srgbClr val="EEF2FB"/>
          </a:solidFill>
          <a:ln/>
        </p:spPr>
      </p:sp>
      <p:pic>
        <p:nvPicPr>
          <p:cNvPr id="43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2057" y="2638958"/>
            <a:ext cx="427939" cy="427939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9738726" y="3410712"/>
            <a:ext cx="179460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3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</a:t>
            </a:r>
            <a:endParaRPr lang="en-US" sz="1450" dirty="0"/>
          </a:p>
        </p:txBody>
      </p:sp>
      <p:sp>
        <p:nvSpPr>
          <p:cNvPr id="45" name="Text 34"/>
          <p:cNvSpPr/>
          <p:nvPr/>
        </p:nvSpPr>
        <p:spPr>
          <a:xfrm>
            <a:off x="9775302" y="3977640"/>
            <a:ext cx="172144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and comparative figures</a:t>
            </a:r>
            <a:endParaRPr lang="en-US" sz="1100" dirty="0"/>
          </a:p>
        </p:txBody>
      </p:sp>
      <p:sp>
        <p:nvSpPr>
          <p:cNvPr id="46" name="Shape 35"/>
          <p:cNvSpPr/>
          <p:nvPr/>
        </p:nvSpPr>
        <p:spPr>
          <a:xfrm>
            <a:off x="548640" y="507492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5F7FB"/>
          </a:solidFill>
          <a:ln w="12700">
            <a:solidFill>
              <a:srgbClr val="E3E8F2"/>
            </a:solidFill>
            <a:prstDash val="solid"/>
          </a:ln>
          <a:effectLst>
            <a:outerShdw blurRad="76200" dist="25400" dir="5400000" algn="bl" rotWithShape="0">
              <a:srgbClr val="1D2A44">
                <a:alpha val="8000"/>
              </a:srgbClr>
            </a:outerShdw>
          </a:effectLst>
        </p:spPr>
      </p:sp>
      <p:sp>
        <p:nvSpPr>
          <p:cNvPr id="47" name="Shape 36"/>
          <p:cNvSpPr/>
          <p:nvPr/>
        </p:nvSpPr>
        <p:spPr>
          <a:xfrm>
            <a:off x="868680" y="53263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8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0354" y="5458054"/>
            <a:ext cx="285293" cy="285293"/>
          </a:xfrm>
          <a:prstGeom prst="rect">
            <a:avLst/>
          </a:prstGeom>
        </p:spPr>
      </p:pic>
      <p:sp>
        <p:nvSpPr>
          <p:cNvPr id="49" name="Text 37"/>
          <p:cNvSpPr/>
          <p:nvPr/>
        </p:nvSpPr>
        <p:spPr>
          <a:xfrm>
            <a:off x="1600200" y="5074920"/>
            <a:ext cx="97228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3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architecture — </a:t>
            </a:r>
            <a:r>
              <a:rPr lang="en-US" sz="1450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block is isolated and independent, ensuring experiment reproducibility and enabling easier step-by-step debugging.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24383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</a:t>
            </a:r>
            <a:r>
              <a:rPr lang="en-US" sz="115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2758379" y="274320"/>
            <a:ext cx="1798259" cy="384048"/>
          </a:xfrm>
          <a:prstGeom prst="roundRect">
            <a:avLst>
              <a:gd name="adj" fmla="val 19048"/>
            </a:avLst>
          </a:prstGeom>
          <a:solidFill>
            <a:srgbClr val="EEF2FB"/>
          </a:solidFill>
          <a:ln/>
        </p:spPr>
      </p:sp>
      <p:sp>
        <p:nvSpPr>
          <p:cNvPr id="4" name="Text 2"/>
          <p:cNvSpPr/>
          <p:nvPr/>
        </p:nvSpPr>
        <p:spPr>
          <a:xfrm>
            <a:off x="2438339" y="274320"/>
            <a:ext cx="24383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F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r>
              <a:rPr lang="en-US" sz="1150" b="1" dirty="0">
                <a:solidFill>
                  <a:srgbClr val="1E3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876678" y="274320"/>
            <a:ext cx="24383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r>
              <a:rPr lang="en-US" sz="115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315017" y="274320"/>
            <a:ext cx="24383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r>
              <a:rPr lang="en-US" sz="115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753356" y="274320"/>
            <a:ext cx="24383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</a:t>
            </a:r>
            <a:r>
              <a:rPr lang="en-US" sz="115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841248"/>
            <a:ext cx="11185855" cy="0"/>
          </a:xfrm>
          <a:prstGeom prst="line">
            <a:avLst/>
          </a:prstGeom>
          <a:noFill/>
          <a:ln w="12700">
            <a:solidFill>
              <a:srgbClr val="E3E8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0241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50" dirty="0">
                <a:solidFill>
                  <a:srgbClr val="1E32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Model &amp; Dataset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Edge AI · MiniLM-L12 on AG News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1828800"/>
            <a:ext cx="539496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76200" dist="25400" dir="5400000" algn="bl" rotWithShape="0">
              <a:srgbClr val="1D2A44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8680" y="2121408"/>
            <a:ext cx="548640" cy="548640"/>
          </a:xfrm>
          <a:prstGeom prst="ellipse">
            <a:avLst/>
          </a:prstGeom>
          <a:solidFill>
            <a:srgbClr val="EEF2FB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354" y="2253082"/>
            <a:ext cx="285293" cy="285293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600200" y="212140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868680" y="2761488"/>
            <a:ext cx="4754880" cy="457200"/>
          </a:xfrm>
          <a:prstGeom prst="roundRect">
            <a:avLst>
              <a:gd name="adj" fmla="val 12000"/>
            </a:avLst>
          </a:prstGeom>
          <a:solidFill>
            <a:srgbClr val="F5F7FB"/>
          </a:solidFill>
          <a:ln/>
        </p:spPr>
      </p:sp>
      <p:sp>
        <p:nvSpPr>
          <p:cNvPr id="17" name="Text 14"/>
          <p:cNvSpPr/>
          <p:nvPr/>
        </p:nvSpPr>
        <p:spPr>
          <a:xfrm>
            <a:off x="1005840" y="276148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4B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microsoft/MiniLM-L12-H384-uncased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14400" y="333756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~33M parameters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layers, 384 hidden dimension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transformer distilled from BERT-base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candidate for embedded deployment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263640" y="1828800"/>
            <a:ext cx="5394960" cy="2743200"/>
          </a:xfrm>
          <a:prstGeom prst="roundRect">
            <a:avLst>
              <a:gd name="adj" fmla="val 3333"/>
            </a:avLst>
          </a:prstGeom>
          <a:solidFill>
            <a:srgbClr val="E4F4F1"/>
          </a:solidFill>
          <a:ln w="12700">
            <a:solidFill>
              <a:srgbClr val="E3E8F2"/>
            </a:solidFill>
            <a:prstDash val="solid"/>
          </a:ln>
          <a:effectLst>
            <a:outerShdw blurRad="76200" dist="25400" dir="5400000" algn="bl" rotWithShape="0">
              <a:srgbClr val="1D2A44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583680" y="212140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5354" y="2253082"/>
            <a:ext cx="285293" cy="285293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315200" y="212140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700" dirty="0"/>
          </a:p>
        </p:txBody>
      </p:sp>
      <p:sp>
        <p:nvSpPr>
          <p:cNvPr id="23" name="Text 19"/>
          <p:cNvSpPr/>
          <p:nvPr/>
        </p:nvSpPr>
        <p:spPr>
          <a:xfrm>
            <a:off x="6629400" y="27614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 News — Text classification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6675120" y="3200400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classes: World, Sports, Business, Sci/Tech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Sub-sampling: 10k train / 2k test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seed: seed = 42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Tokenization: 128 tokens max</a:t>
            </a:r>
            <a:endParaRPr lang="en-US" sz="1350" dirty="0"/>
          </a:p>
        </p:txBody>
      </p:sp>
      <p:sp>
        <p:nvSpPr>
          <p:cNvPr id="25" name="Shape 21"/>
          <p:cNvSpPr/>
          <p:nvPr/>
        </p:nvSpPr>
        <p:spPr>
          <a:xfrm>
            <a:off x="548640" y="4892040"/>
            <a:ext cx="11094415" cy="1234440"/>
          </a:xfrm>
          <a:prstGeom prst="roundRect">
            <a:avLst>
              <a:gd name="adj" fmla="val 7407"/>
            </a:avLst>
          </a:prstGeom>
          <a:solidFill>
            <a:srgbClr val="F5F7FB"/>
          </a:solidFill>
          <a:ln w="12700">
            <a:solidFill>
              <a:srgbClr val="E3E8F2"/>
            </a:solidFill>
            <a:prstDash val="solid"/>
          </a:ln>
          <a:effectLst>
            <a:outerShdw blurRad="76200" dist="25400" dir="5400000" algn="bl" rotWithShape="0">
              <a:srgbClr val="1D2A44">
                <a:alpha val="8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868680" y="52349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354" y="5366614"/>
            <a:ext cx="285293" cy="285293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600200" y="50932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&amp; Tokenization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600200" y="5440680"/>
            <a:ext cx="97228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AutoTokenizer paired with the MiniLM model — truncation / padding to 128 tokens — conversion to PyTorch tensor format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2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FFFFFF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4572000"/>
            <a:ext cx="3291840" cy="3291840"/>
          </a:xfrm>
          <a:prstGeom prst="ellipse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4114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0" b="1" dirty="0">
                <a:solidFill>
                  <a:srgbClr val="2F4B9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03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4480560" y="2331720"/>
            <a:ext cx="1051560" cy="10515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2020" y="258318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84048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32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Optimizer Benchmark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68680" y="47091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comparison of 5 optimization algorithms for fine-tuning MiniLM-L12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914400" y="4645152"/>
            <a:ext cx="2743200" cy="0"/>
          </a:xfrm>
          <a:prstGeom prst="line">
            <a:avLst/>
          </a:prstGeom>
          <a:noFill/>
          <a:ln w="31750">
            <a:solidFill>
              <a:srgbClr val="0E9B8A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24383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</a:t>
            </a:r>
            <a:r>
              <a:rPr lang="en-US" sz="115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2438339" y="274320"/>
            <a:ext cx="24383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r>
              <a:rPr lang="en-US" sz="115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196718" y="274320"/>
            <a:ext cx="1798259" cy="384048"/>
          </a:xfrm>
          <a:prstGeom prst="roundRect">
            <a:avLst>
              <a:gd name="adj" fmla="val 19048"/>
            </a:avLst>
          </a:prstGeom>
          <a:solidFill>
            <a:srgbClr val="EEF2FB"/>
          </a:solidFill>
          <a:ln/>
        </p:spPr>
      </p:sp>
      <p:sp>
        <p:nvSpPr>
          <p:cNvPr id="5" name="Text 3"/>
          <p:cNvSpPr/>
          <p:nvPr/>
        </p:nvSpPr>
        <p:spPr>
          <a:xfrm>
            <a:off x="4876678" y="274320"/>
            <a:ext cx="24383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F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r>
              <a:rPr lang="en-US" sz="1150" b="1" dirty="0">
                <a:solidFill>
                  <a:srgbClr val="1E3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315017" y="274320"/>
            <a:ext cx="24383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r>
              <a:rPr lang="en-US" sz="115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753356" y="274320"/>
            <a:ext cx="24383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</a:t>
            </a:r>
            <a:r>
              <a:rPr lang="en-US" sz="115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841248"/>
            <a:ext cx="11185855" cy="0"/>
          </a:xfrm>
          <a:prstGeom prst="line">
            <a:avLst/>
          </a:prstGeom>
          <a:noFill/>
          <a:ln w="12700">
            <a:solidFill>
              <a:srgbClr val="E3E8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0241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50" dirty="0">
                <a:solidFill>
                  <a:srgbClr val="1E32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Experimental Methodology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Edge AI · MiniLM-L12 on AG News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1828800"/>
            <a:ext cx="539496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76200" dist="25400" dir="5400000" algn="bl" rotWithShape="0">
              <a:srgbClr val="1D2A44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8680" y="2121408"/>
            <a:ext cx="548640" cy="548640"/>
          </a:xfrm>
          <a:prstGeom prst="ellipse">
            <a:avLst/>
          </a:prstGeom>
          <a:solidFill>
            <a:srgbClr val="EEF2FB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354" y="2253082"/>
            <a:ext cx="285293" cy="285293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600200" y="212140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Configuration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914400" y="2834640"/>
            <a:ext cx="4754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optimizers: AdamW, Adafactor, Lion, LAMB, SGD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epochs per optimizer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size: 32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rate: 2e-5  (Lion: 2e-6)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from pretrained weights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263640" y="1828800"/>
            <a:ext cx="5394960" cy="2788920"/>
          </a:xfrm>
          <a:prstGeom prst="roundRect">
            <a:avLst>
              <a:gd name="adj" fmla="val 3279"/>
            </a:avLst>
          </a:prstGeom>
          <a:solidFill>
            <a:srgbClr val="E4F4F1"/>
          </a:solidFill>
          <a:ln w="12700">
            <a:solidFill>
              <a:srgbClr val="E3E8F2"/>
            </a:solidFill>
            <a:prstDash val="solid"/>
          </a:ln>
          <a:effectLst>
            <a:outerShdw blurRad="76200" dist="25400" dir="5400000" algn="bl" rotWithShape="0">
              <a:srgbClr val="1D2A44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583680" y="212140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5354" y="2253082"/>
            <a:ext cx="285293" cy="285293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315200" y="212140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Metrics</a:t>
            </a:r>
            <a:endParaRPr lang="en-US" sz="1700" dirty="0"/>
          </a:p>
        </p:txBody>
      </p:sp>
      <p:sp>
        <p:nvSpPr>
          <p:cNvPr id="21" name="Text 17"/>
          <p:cNvSpPr/>
          <p:nvPr/>
        </p:nvSpPr>
        <p:spPr>
          <a:xfrm>
            <a:off x="6675120" y="2834640"/>
            <a:ext cx="4663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Quality: accuracy and macro F1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Speed: training time (s)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Resources: peak CPU / GPU memory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Stability: loss standard deviation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by maximum macro F1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548640" y="4892040"/>
            <a:ext cx="11094415" cy="1234440"/>
          </a:xfrm>
          <a:prstGeom prst="roundRect">
            <a:avLst>
              <a:gd name="adj" fmla="val 7407"/>
            </a:avLst>
          </a:prstGeom>
          <a:solidFill>
            <a:srgbClr val="FCEFD9"/>
          </a:solidFill>
          <a:ln w="12700">
            <a:solidFill>
              <a:srgbClr val="E3E8F2"/>
            </a:solidFill>
            <a:prstDash val="solid"/>
          </a:ln>
          <a:effectLst>
            <a:outerShdw blurRad="76200" dist="25400" dir="5400000" algn="bl" rotWithShape="0">
              <a:srgbClr val="1D2A44">
                <a:alpha val="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868680" y="52349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354" y="5366614"/>
            <a:ext cx="285293" cy="285293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600200" y="50932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on Lion's Learning Rate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1600200" y="5440680"/>
            <a:ext cx="97228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0.1 multiplicative factor is applied per the Lion authors' recommendations — effective rate: 2e-6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24383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</a:t>
            </a:r>
            <a:r>
              <a:rPr lang="en-US" sz="115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2438339" y="274320"/>
            <a:ext cx="24383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r>
              <a:rPr lang="en-US" sz="115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196718" y="274320"/>
            <a:ext cx="1798259" cy="384048"/>
          </a:xfrm>
          <a:prstGeom prst="roundRect">
            <a:avLst>
              <a:gd name="adj" fmla="val 19048"/>
            </a:avLst>
          </a:prstGeom>
          <a:solidFill>
            <a:srgbClr val="EEF2FB"/>
          </a:solidFill>
          <a:ln/>
        </p:spPr>
      </p:sp>
      <p:sp>
        <p:nvSpPr>
          <p:cNvPr id="5" name="Text 3"/>
          <p:cNvSpPr/>
          <p:nvPr/>
        </p:nvSpPr>
        <p:spPr>
          <a:xfrm>
            <a:off x="4876678" y="274320"/>
            <a:ext cx="24383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F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r>
              <a:rPr lang="en-US" sz="1150" b="1" dirty="0">
                <a:solidFill>
                  <a:srgbClr val="1E3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315017" y="274320"/>
            <a:ext cx="24383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r>
              <a:rPr lang="en-US" sz="115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753356" y="274320"/>
            <a:ext cx="24383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</a:t>
            </a:r>
            <a:r>
              <a:rPr lang="en-US" sz="115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841248"/>
            <a:ext cx="11185855" cy="0"/>
          </a:xfrm>
          <a:prstGeom prst="line">
            <a:avLst/>
          </a:prstGeom>
          <a:noFill/>
          <a:ln w="12700">
            <a:solidFill>
              <a:srgbClr val="E3E8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0241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50" dirty="0">
                <a:solidFill>
                  <a:srgbClr val="1E32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Results — Overall Performance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Edge AI · MiniLM-L12 on AG News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548640" y="1783080"/>
          <a:ext cx="694944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Shape 10"/>
          <p:cNvSpPr/>
          <p:nvPr/>
        </p:nvSpPr>
        <p:spPr>
          <a:xfrm>
            <a:off x="7772400" y="1783080"/>
            <a:ext cx="3886200" cy="2331720"/>
          </a:xfrm>
          <a:prstGeom prst="roundRect">
            <a:avLst>
              <a:gd name="adj" fmla="val 3922"/>
            </a:avLst>
          </a:prstGeom>
          <a:solidFill>
            <a:srgbClr val="FCEFD9"/>
          </a:solidFill>
          <a:ln w="12700">
            <a:solidFill>
              <a:srgbClr val="E3E8F2"/>
            </a:solidFill>
            <a:prstDash val="solid"/>
          </a:ln>
          <a:effectLst>
            <a:outerShdw blurRad="76200" dist="25400" dir="5400000" algn="bl" rotWithShape="0">
              <a:srgbClr val="1D2A44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092440" y="20574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4114" y="2189074"/>
            <a:ext cx="285293" cy="28529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778240" y="205740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Winner: AdamW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8046720" y="269748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800" b="1" dirty="0">
                <a:solidFill>
                  <a:srgbClr val="1E32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0.9013</a:t>
            </a:r>
            <a:endParaRPr lang="en-US" sz="5800" dirty="0"/>
          </a:p>
        </p:txBody>
      </p:sp>
      <p:sp>
        <p:nvSpPr>
          <p:cNvPr id="18" name="Text 14"/>
          <p:cNvSpPr/>
          <p:nvPr/>
        </p:nvSpPr>
        <p:spPr>
          <a:xfrm>
            <a:off x="8092440" y="35661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</a:t>
            </a:r>
            <a:endParaRPr lang="en-US" sz="13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E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62.27 s training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34840"/>
          <a:ext cx="11091672" cy="1682496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789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2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2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2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(s)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2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 RAM (MB)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2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 RAM (MB)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2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 loss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2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2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D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D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D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D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1721.43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D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1272.39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D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0.0258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2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Adafactor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0.8969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125.94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1835.07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1405.24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2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1855.52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1662.35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0.0576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D848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LAMB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848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848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848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119.12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848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1862.50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848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1926.98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848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D848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848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848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848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848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1788.79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848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1928.98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848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afterEffect">
                            <p:stCondLst>
                              <p:cond delay="129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4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afterEffect">
                            <p:stCondLst>
                              <p:cond delay="129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4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afterEffect">
                            <p:stCondLst>
                              <p:cond delay="129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4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afterEffect">
                            <p:stCondLst>
                              <p:cond delay="129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4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nodeType="afterEffect">
                            <p:stCondLst>
                              <p:cond delay="129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nodeType="afterEffect">
                            <p:stCondLst>
                              <p:cond delay="129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4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nodeType="afterEffect">
                            <p:stCondLst>
                              <p:cond delay="129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4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nodeType="afterEffect">
                            <p:stCondLst>
                              <p:cond delay="129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4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nodeType="afterEffect">
                            <p:stCondLst>
                              <p:cond delay="129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4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nodeType="afterEffect">
                            <p:stCondLst>
                              <p:cond delay="129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4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10" presetClass="entr" presetSubtype="0" fill="hold" nodeType="afterEffect">
                            <p:stCondLst>
                              <p:cond delay="129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4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10" presetClass="entr" presetSubtype="0" fill="hold" nodeType="afterEffect">
                            <p:stCondLst>
                              <p:cond delay="129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4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10" presetClass="entr" presetSubtype="0" fill="hold" nodeType="afterEffect">
                            <p:stCondLst>
                              <p:cond delay="129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4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nodeType="afterEffect">
                            <p:stCondLst>
                              <p:cond delay="129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4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" presetID="10" presetClass="entr" presetSubtype="0" fill="hold" nodeType="afterEffect">
                            <p:stCondLst>
                              <p:cond delay="129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4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" presetID="10" presetClass="entr" presetSubtype="0" fill="hold" nodeType="afterEffect">
                            <p:stCondLst>
                              <p:cond delay="129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4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5" presetID="10" presetClass="entr" presetSubtype="0" fill="hold" nodeType="afterEffect">
                            <p:stCondLst>
                              <p:cond delay="129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4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24383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</a:t>
            </a:r>
            <a:r>
              <a:rPr lang="en-US" sz="115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2438339" y="274320"/>
            <a:ext cx="24383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r>
              <a:rPr lang="en-US" sz="115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196718" y="274320"/>
            <a:ext cx="1798259" cy="384048"/>
          </a:xfrm>
          <a:prstGeom prst="roundRect">
            <a:avLst>
              <a:gd name="adj" fmla="val 19048"/>
            </a:avLst>
          </a:prstGeom>
          <a:solidFill>
            <a:srgbClr val="EEF2FB"/>
          </a:solidFill>
          <a:ln/>
        </p:spPr>
      </p:sp>
      <p:sp>
        <p:nvSpPr>
          <p:cNvPr id="5" name="Text 3"/>
          <p:cNvSpPr/>
          <p:nvPr/>
        </p:nvSpPr>
        <p:spPr>
          <a:xfrm>
            <a:off x="4876678" y="274320"/>
            <a:ext cx="24383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F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r>
              <a:rPr lang="en-US" sz="1150" b="1" dirty="0">
                <a:solidFill>
                  <a:srgbClr val="1E3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315017" y="274320"/>
            <a:ext cx="24383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r>
              <a:rPr lang="en-US" sz="115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753356" y="274320"/>
            <a:ext cx="24383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</a:t>
            </a:r>
            <a:r>
              <a:rPr lang="en-US" sz="115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841248"/>
            <a:ext cx="11185855" cy="0"/>
          </a:xfrm>
          <a:prstGeom prst="line">
            <a:avLst/>
          </a:prstGeom>
          <a:noFill/>
          <a:ln w="12700">
            <a:solidFill>
              <a:srgbClr val="E3E8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0241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50" dirty="0">
                <a:solidFill>
                  <a:srgbClr val="1E32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Why SGD and LAMB Failed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Edge AI · MiniLM-L12 on AG News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178308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CEFD9"/>
          </a:solidFill>
          <a:ln w="12700">
            <a:solidFill>
              <a:srgbClr val="E3E8F2"/>
            </a:solidFill>
            <a:prstDash val="solid"/>
          </a:ln>
          <a:effectLst>
            <a:outerShdw blurRad="76200" dist="25400" dir="5400000" algn="bl" rotWithShape="0">
              <a:srgbClr val="1D2A44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8680" y="20345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354" y="2166214"/>
            <a:ext cx="285293" cy="285293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600200" y="1965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600200" y="2258568"/>
            <a:ext cx="95399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3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ln(4) ≈ 1.386</a:t>
            </a:r>
            <a:r>
              <a:rPr lang="en-US" sz="1400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theoretical loss of a model predicting at random among 4 balanced classes. SGD and LAMB stay stuck there.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48640" y="3063240"/>
            <a:ext cx="5394960" cy="1874520"/>
          </a:xfrm>
          <a:prstGeom prst="roundRect">
            <a:avLst>
              <a:gd name="adj" fmla="val 4878"/>
            </a:avLst>
          </a:prstGeom>
          <a:solidFill>
            <a:srgbClr val="FBEBEC"/>
          </a:solidFill>
          <a:ln w="12700">
            <a:solidFill>
              <a:srgbClr val="E3E8F2"/>
            </a:solidFill>
            <a:prstDash val="solid"/>
          </a:ln>
          <a:effectLst>
            <a:outerShdw blurRad="76200" dist="25400" dir="5400000" algn="bl" rotWithShape="0">
              <a:srgbClr val="1D2A44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68680" y="33375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381" y="3458261"/>
            <a:ext cx="261518" cy="26151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508760" y="3337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8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4114800" y="326440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D8484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0.2485</a:t>
            </a:r>
            <a:endParaRPr lang="en-US" sz="3000" dirty="0"/>
          </a:p>
        </p:txBody>
      </p:sp>
      <p:sp>
        <p:nvSpPr>
          <p:cNvPr id="22" name="Text 18"/>
          <p:cNvSpPr/>
          <p:nvPr/>
        </p:nvSpPr>
        <p:spPr>
          <a:xfrm>
            <a:off x="914400" y="390448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random classifier (4 classes)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914400" y="4178808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2e-5 rate is far too low for SGD to escape a flat optimum in only 3 epochs. It needs a higher LR and warmup.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6263640" y="3063240"/>
            <a:ext cx="5394960" cy="1874520"/>
          </a:xfrm>
          <a:prstGeom prst="roundRect">
            <a:avLst>
              <a:gd name="adj" fmla="val 4878"/>
            </a:avLst>
          </a:prstGeom>
          <a:solidFill>
            <a:srgbClr val="FBEBEC"/>
          </a:solidFill>
          <a:ln w="12700">
            <a:solidFill>
              <a:srgbClr val="E3E8F2"/>
            </a:solidFill>
            <a:prstDash val="solid"/>
          </a:ln>
          <a:effectLst>
            <a:outerShdw blurRad="76200" dist="25400" dir="5400000" algn="bl" rotWithShape="0">
              <a:srgbClr val="1D2A44">
                <a:alpha val="8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583680" y="33375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4381" y="3458261"/>
            <a:ext cx="261518" cy="26151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7223760" y="3337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8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</a:t>
            </a:r>
            <a:endParaRPr lang="en-US" sz="1800" dirty="0"/>
          </a:p>
        </p:txBody>
      </p:sp>
      <p:sp>
        <p:nvSpPr>
          <p:cNvPr id="28" name="Text 23"/>
          <p:cNvSpPr/>
          <p:nvPr/>
        </p:nvSpPr>
        <p:spPr>
          <a:xfrm>
            <a:off x="9829800" y="326440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D8484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0.4695</a:t>
            </a:r>
            <a:endParaRPr lang="en-US" sz="3000" dirty="0"/>
          </a:p>
        </p:txBody>
      </p:sp>
      <p:sp>
        <p:nvSpPr>
          <p:cNvPr id="29" name="Text 24"/>
          <p:cNvSpPr/>
          <p:nvPr/>
        </p:nvSpPr>
        <p:spPr>
          <a:xfrm>
            <a:off x="6629400" y="390448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barely above random</a:t>
            </a:r>
            <a:endParaRPr lang="en-US" sz="1250" dirty="0"/>
          </a:p>
        </p:txBody>
      </p:sp>
      <p:sp>
        <p:nvSpPr>
          <p:cNvPr id="30" name="Text 25"/>
          <p:cNvSpPr/>
          <p:nvPr/>
        </p:nvSpPr>
        <p:spPr>
          <a:xfrm>
            <a:off x="6629400" y="4178808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large-batch optimization, LAMB also suffers from unsuitable tuning. The 2e-5 LR simply does not fit it.</a:t>
            </a:r>
            <a:endParaRPr lang="en-US" sz="1300" dirty="0"/>
          </a:p>
        </p:txBody>
      </p:sp>
      <p:sp>
        <p:nvSpPr>
          <p:cNvPr id="31" name="Shape 26"/>
          <p:cNvSpPr/>
          <p:nvPr/>
        </p:nvSpPr>
        <p:spPr>
          <a:xfrm>
            <a:off x="548640" y="5166360"/>
            <a:ext cx="11094415" cy="960120"/>
          </a:xfrm>
          <a:prstGeom prst="roundRect">
            <a:avLst>
              <a:gd name="adj" fmla="val 9524"/>
            </a:avLst>
          </a:prstGeom>
          <a:solidFill>
            <a:srgbClr val="F5F7FB"/>
          </a:solidFill>
          <a:ln w="12700">
            <a:solidFill>
              <a:srgbClr val="E3E8F2"/>
            </a:solidFill>
            <a:prstDash val="solid"/>
          </a:ln>
          <a:effectLst>
            <a:outerShdw blurRad="76200" dist="25400" dir="5400000" algn="bl" rotWithShape="0">
              <a:srgbClr val="1D2A44">
                <a:alpha val="8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868680" y="53949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381" y="5515661"/>
            <a:ext cx="261518" cy="261518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1554480" y="5166360"/>
            <a:ext cx="98142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3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Methodology, not a bug — </a:t>
            </a:r>
            <a:r>
              <a:rPr lang="en-US" sz="1350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failures are an expected result. The benchmark compares configurations, not algorithms in the absolute; specific tuning would have produced very different results.</a:t>
            </a:r>
            <a:endParaRPr lang="en-US" sz="13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afterEffect">
                            <p:stCondLst>
                              <p:cond delay="68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4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afterEffect">
                            <p:stCondLst>
                              <p:cond delay="68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4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afterEffect">
                            <p:stCondLst>
                              <p:cond delay="68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4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afterEffect">
                            <p:stCondLst>
                              <p:cond delay="68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4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nodeType="afterEffect">
                            <p:stCondLst>
                              <p:cond delay="68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nodeType="afterEffect">
                            <p:stCondLst>
                              <p:cond delay="68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4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nodeType="afterEffect">
                            <p:stCondLst>
                              <p:cond delay="68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4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nodeType="afterEffect">
                            <p:stCondLst>
                              <p:cond delay="68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4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nodeType="afterEffect">
                            <p:stCondLst>
                              <p:cond delay="68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4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nodeType="afterEffect">
                            <p:stCondLst>
                              <p:cond delay="68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4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10" presetClass="entr" presetSubtype="0" fill="hold" nodeType="afterEffect">
                            <p:stCondLst>
                              <p:cond delay="68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4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10" presetClass="entr" presetSubtype="0" fill="hold" nodeType="afterEffect">
                            <p:stCondLst>
                              <p:cond delay="68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4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10" presetClass="entr" presetSubtype="0" fill="hold" nodeType="afterEffect">
                            <p:stCondLst>
                              <p:cond delay="68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4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nodeType="afterEffect">
                            <p:stCondLst>
                              <p:cond delay="68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4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" presetID="10" presetClass="entr" presetSubtype="0" fill="hold" nodeType="afterEffect">
                            <p:stCondLst>
                              <p:cond delay="68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4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" presetID="10" presetClass="entr" presetSubtype="0" fill="hold" nodeType="afterEffect">
                            <p:stCondLst>
                              <p:cond delay="68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4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5" presetID="10" presetClass="entr" presetSubtype="0" fill="hold" nodeType="afterEffect">
                            <p:stCondLst>
                              <p:cond delay="68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4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8" presetID="10" presetClass="entr" presetSubtype="0" fill="hold" nodeType="afterEffect">
                            <p:stCondLst>
                              <p:cond delay="68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4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nodeType="afterEffect">
                            <p:stCondLst>
                              <p:cond delay="68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4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4" presetID="10" presetClass="entr" presetSubtype="0" fill="hold" nodeType="afterEffect">
                            <p:stCondLst>
                              <p:cond delay="68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4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7" presetID="10" presetClass="entr" presetSubtype="0" fill="hold" nodeType="afterEffect">
                            <p:stCondLst>
                              <p:cond delay="68"/>
                            </p:stCondLst>
                            <p:childTnLst>
                              <p:set>
                                <p:cBhvr>
                                  <p:cTn id="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9" dur="4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0" presetID="10" presetClass="entr" presetSubtype="0" fill="hold" nodeType="afterEffect">
                            <p:stCondLst>
                              <p:cond delay="68"/>
                            </p:stCondLst>
                            <p:childTnLst>
                              <p:set>
                                <p:cBhvr>
                                  <p:cTn id="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2" dur="4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3" presetID="10" presetClass="entr" presetSubtype="0" fill="hold" nodeType="afterEffect">
                            <p:stCondLst>
                              <p:cond delay="68"/>
                            </p:stCondLst>
                            <p:childTnLst>
                              <p:set>
                                <p:cBhvr>
                                  <p:cTn id="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5" dur="4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6" presetID="10" presetClass="entr" presetSubtype="0" fill="hold" nodeType="afterEffect">
                            <p:stCondLst>
                              <p:cond delay="68"/>
                            </p:stCondLst>
                            <p:childTnLst>
                              <p:set>
                                <p:cBhvr>
                                  <p:cTn id="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8" dur="4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9" presetID="10" presetClass="entr" presetSubtype="0" fill="hold" nodeType="afterEffect">
                            <p:stCondLst>
                              <p:cond delay="68"/>
                            </p:stCondLst>
                            <p:childTnLst>
                              <p:set>
                                <p:cBhvr>
                                  <p:cTn id="8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4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2" presetID="10" presetClass="entr" presetSubtype="0" fill="hold" nodeType="afterEffect">
                            <p:stCondLst>
                              <p:cond delay="68"/>
                            </p:stCondLst>
                            <p:childTnLst>
                              <p:set>
                                <p:cBhvr>
                                  <p:cTn id="8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4" dur="40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5" presetID="10" presetClass="entr" presetSubtype="0" fill="hold" nodeType="afterEffect">
                            <p:stCondLst>
                              <p:cond delay="68"/>
                            </p:stCondLst>
                            <p:childTnLst>
                              <p:set>
                                <p:cBhvr>
                                  <p:cTn id="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7" dur="40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8" presetID="10" presetClass="entr" presetSubtype="0" fill="hold" nodeType="afterEffect">
                            <p:stCondLst>
                              <p:cond delay="68"/>
                            </p:stCondLst>
                            <p:childTnLst>
                              <p:set>
                                <p:cBhvr>
                                  <p:cTn id="8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0" dur="40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1" presetID="10" presetClass="entr" presetSubtype="0" fill="hold" nodeType="afterEffect">
                            <p:stCondLst>
                              <p:cond delay="68"/>
                            </p:stCondLst>
                            <p:childTnLst>
                              <p:set>
                                <p:cBhvr>
                                  <p:cTn id="9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3" dur="4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4" presetID="10" presetClass="entr" presetSubtype="0" fill="hold" nodeType="afterEffect">
                            <p:stCondLst>
                              <p:cond delay="68"/>
                            </p:stCondLst>
                            <p:childTnLst>
                              <p:set>
                                <p:cBhvr>
                                  <p:cTn id="9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6" dur="400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7" presetID="10" presetClass="entr" presetSubtype="0" fill="hold" nodeType="afterEffect">
                            <p:stCondLst>
                              <p:cond delay="68"/>
                            </p:stCondLst>
                            <p:childTnLst>
                              <p:set>
                                <p:cBhvr>
                                  <p:cTn id="9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9" dur="400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0" presetID="10" presetClass="entr" presetSubtype="0" fill="hold" nodeType="afterEffect">
                            <p:stCondLst>
                              <p:cond delay="68"/>
                            </p:stCondLst>
                            <p:childTnLst>
                              <p:set>
                                <p:cBhvr>
                                  <p:cTn id="1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" dur="400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2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FFFFFF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4572000"/>
            <a:ext cx="3291840" cy="3291840"/>
          </a:xfrm>
          <a:prstGeom prst="ellipse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4114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0" b="1" dirty="0">
                <a:solidFill>
                  <a:srgbClr val="2F4B9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04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4480560" y="2331720"/>
            <a:ext cx="1051560" cy="10515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2020" y="258318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84048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32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Compression &amp; Edge Evaluation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68680" y="47091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dynamic quantization and measuring the quality–speed–memory trade-off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914400" y="4645152"/>
            <a:ext cx="2743200" cy="0"/>
          </a:xfrm>
          <a:prstGeom prst="line">
            <a:avLst/>
          </a:prstGeom>
          <a:noFill/>
          <a:ln w="31750">
            <a:solidFill>
              <a:srgbClr val="0E9B8A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afterEffect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4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afterEffect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4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afterEffect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4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afterEffect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4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nodeType="afterEffect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nodeType="afterEffect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4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nodeType="afterEffect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4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24383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</a:t>
            </a:r>
            <a:r>
              <a:rPr lang="en-US" sz="115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2438339" y="274320"/>
            <a:ext cx="24383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r>
              <a:rPr lang="en-US" sz="115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876678" y="274320"/>
            <a:ext cx="24383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r>
              <a:rPr lang="en-US" sz="115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635057" y="274320"/>
            <a:ext cx="1798259" cy="384048"/>
          </a:xfrm>
          <a:prstGeom prst="roundRect">
            <a:avLst>
              <a:gd name="adj" fmla="val 19048"/>
            </a:avLst>
          </a:prstGeom>
          <a:solidFill>
            <a:srgbClr val="EEF2FB"/>
          </a:solidFill>
          <a:ln/>
        </p:spPr>
      </p:sp>
      <p:sp>
        <p:nvSpPr>
          <p:cNvPr id="6" name="Text 4"/>
          <p:cNvSpPr/>
          <p:nvPr/>
        </p:nvSpPr>
        <p:spPr>
          <a:xfrm>
            <a:off x="7315017" y="274320"/>
            <a:ext cx="24383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F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r>
              <a:rPr lang="en-US" sz="1150" b="1" dirty="0">
                <a:solidFill>
                  <a:srgbClr val="1E3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753356" y="274320"/>
            <a:ext cx="24383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</a:t>
            </a:r>
            <a:r>
              <a:rPr lang="en-US" sz="115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841248"/>
            <a:ext cx="11185855" cy="0"/>
          </a:xfrm>
          <a:prstGeom prst="line">
            <a:avLst/>
          </a:prstGeom>
          <a:noFill/>
          <a:ln w="12700">
            <a:solidFill>
              <a:srgbClr val="E3E8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0241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50" dirty="0">
                <a:solidFill>
                  <a:srgbClr val="1E32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INT8 Dynamic Quantization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Edge AI · MiniLM-L12 on AG News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1828800"/>
            <a:ext cx="539496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76200" dist="25400" dir="5400000" algn="bl" rotWithShape="0">
              <a:srgbClr val="1D2A44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8680" y="2121408"/>
            <a:ext cx="548640" cy="548640"/>
          </a:xfrm>
          <a:prstGeom prst="ellipse">
            <a:avLst/>
          </a:prstGeom>
          <a:solidFill>
            <a:srgbClr val="EEF2FB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354" y="2253082"/>
            <a:ext cx="285293" cy="285293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600200" y="212140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 Principle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914400" y="2834640"/>
            <a:ext cx="4754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Function: torch.quantization.quantize_dynamic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nn.Linear weights to INT8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Activations quantized dynamically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computed on the fly per batch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calibration data required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263640" y="1828800"/>
            <a:ext cx="5394960" cy="2788920"/>
          </a:xfrm>
          <a:prstGeom prst="roundRect">
            <a:avLst>
              <a:gd name="adj" fmla="val 3279"/>
            </a:avLst>
          </a:prstGeom>
          <a:solidFill>
            <a:srgbClr val="E4F4F1"/>
          </a:solidFill>
          <a:ln w="12700">
            <a:solidFill>
              <a:srgbClr val="E3E8F2"/>
            </a:solidFill>
            <a:prstDash val="solid"/>
          </a:ln>
          <a:effectLst>
            <a:outerShdw blurRad="76200" dist="25400" dir="5400000" algn="bl" rotWithShape="0">
              <a:srgbClr val="1D2A44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583680" y="212140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5354" y="2253082"/>
            <a:ext cx="285293" cy="285293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315200" y="212140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Layers</a:t>
            </a:r>
            <a:endParaRPr lang="en-US" sz="1700" dirty="0"/>
          </a:p>
        </p:txBody>
      </p:sp>
      <p:sp>
        <p:nvSpPr>
          <p:cNvPr id="21" name="Text 17"/>
          <p:cNvSpPr/>
          <p:nvPr/>
        </p:nvSpPr>
        <p:spPr>
          <a:xfrm>
            <a:off x="6675120" y="2834640"/>
            <a:ext cx="4663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projections (nn.Linear)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Feed-forward networks (nn.Linear)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make up most of the computational cost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model: best benchmark F1 (AdamW)</a:t>
            </a:r>
            <a:endParaRPr lang="en-US" sz="1350" dirty="0"/>
          </a:p>
        </p:txBody>
      </p:sp>
      <p:sp>
        <p:nvSpPr>
          <p:cNvPr id="22" name="Shape 18"/>
          <p:cNvSpPr/>
          <p:nvPr/>
        </p:nvSpPr>
        <p:spPr>
          <a:xfrm>
            <a:off x="548640" y="4892040"/>
            <a:ext cx="11094415" cy="1234440"/>
          </a:xfrm>
          <a:prstGeom prst="roundRect">
            <a:avLst>
              <a:gd name="adj" fmla="val 7407"/>
            </a:avLst>
          </a:prstGeom>
          <a:solidFill>
            <a:srgbClr val="FCEFD9"/>
          </a:solidFill>
          <a:ln w="12700">
            <a:solidFill>
              <a:srgbClr val="E3E8F2"/>
            </a:solidFill>
            <a:prstDash val="solid"/>
          </a:ln>
          <a:effectLst>
            <a:outerShdw blurRad="76200" dist="25400" dir="5400000" algn="bl" rotWithShape="0">
              <a:srgbClr val="1D2A44">
                <a:alpha val="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868680" y="52349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354" y="5366614"/>
            <a:ext cx="285293" cy="285293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600200" y="50932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Advantage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1600200" y="5440680"/>
            <a:ext cx="97228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simplicity, ideal for an academic context — no calibration pipeline and no representative dataset needed.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24383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</a:t>
            </a:r>
            <a:r>
              <a:rPr lang="en-US" sz="115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2438339" y="274320"/>
            <a:ext cx="24383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r>
              <a:rPr lang="en-US" sz="115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876678" y="274320"/>
            <a:ext cx="24383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r>
              <a:rPr lang="en-US" sz="115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635057" y="274320"/>
            <a:ext cx="1798259" cy="384048"/>
          </a:xfrm>
          <a:prstGeom prst="roundRect">
            <a:avLst>
              <a:gd name="adj" fmla="val 19048"/>
            </a:avLst>
          </a:prstGeom>
          <a:solidFill>
            <a:srgbClr val="EEF2FB"/>
          </a:solidFill>
          <a:ln/>
        </p:spPr>
      </p:sp>
      <p:sp>
        <p:nvSpPr>
          <p:cNvPr id="6" name="Text 4"/>
          <p:cNvSpPr/>
          <p:nvPr/>
        </p:nvSpPr>
        <p:spPr>
          <a:xfrm>
            <a:off x="7315017" y="274320"/>
            <a:ext cx="24383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F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r>
              <a:rPr lang="en-US" sz="1150" b="1" dirty="0">
                <a:solidFill>
                  <a:srgbClr val="1E3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753356" y="274320"/>
            <a:ext cx="24383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</a:t>
            </a:r>
            <a:r>
              <a:rPr lang="en-US" sz="115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841248"/>
            <a:ext cx="11185855" cy="0"/>
          </a:xfrm>
          <a:prstGeom prst="line">
            <a:avLst/>
          </a:prstGeom>
          <a:noFill/>
          <a:ln w="12700">
            <a:solidFill>
              <a:srgbClr val="E3E8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0241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50" dirty="0">
                <a:solidFill>
                  <a:srgbClr val="1E32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Edge Results — FP32 vs INT8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Edge AI · MiniLM-L12 on AG News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1737360"/>
            <a:ext cx="25815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76200" dist="25400" dir="5400000" algn="bl" rotWithShape="0">
              <a:srgbClr val="1D2A44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4672" y="1993392"/>
            <a:ext cx="502920" cy="502920"/>
          </a:xfrm>
          <a:prstGeom prst="ellipse">
            <a:avLst/>
          </a:prstGeom>
          <a:solidFill>
            <a:srgbClr val="EEF2FB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373" y="2114093"/>
            <a:ext cx="261518" cy="26151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417320" y="1993392"/>
            <a:ext cx="16214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2F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SIZE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04672" y="2606040"/>
            <a:ext cx="21243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2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66.90 MB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822960" y="3154680"/>
            <a:ext cx="20329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FP32: 127.29 MB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22960" y="3383280"/>
            <a:ext cx="20329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1.90× smaller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386252" y="1737360"/>
            <a:ext cx="25815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76200" dist="25400" dir="5400000" algn="bl" rotWithShape="0">
              <a:srgbClr val="1D2A44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642284" y="1993392"/>
            <a:ext cx="502920" cy="502920"/>
          </a:xfrm>
          <a:prstGeom prst="ellipse">
            <a:avLst/>
          </a:prstGeom>
          <a:solidFill>
            <a:srgbClr val="E4F4F1"/>
          </a:solidFill>
          <a:ln/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2985" y="2114093"/>
            <a:ext cx="261518" cy="26151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254932" y="1993392"/>
            <a:ext cx="16214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2F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SIZE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3642284" y="2606040"/>
            <a:ext cx="21243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2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45.54 MB</a:t>
            </a:r>
            <a:endParaRPr lang="en-US" sz="2600" dirty="0"/>
          </a:p>
        </p:txBody>
      </p:sp>
      <p:sp>
        <p:nvSpPr>
          <p:cNvPr id="24" name="Text 20"/>
          <p:cNvSpPr/>
          <p:nvPr/>
        </p:nvSpPr>
        <p:spPr>
          <a:xfrm>
            <a:off x="3660572" y="3154680"/>
            <a:ext cx="20329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FP32: 127.27 MB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3660572" y="3383280"/>
            <a:ext cx="20329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2.79× smaller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6223864" y="1737360"/>
            <a:ext cx="25815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76200" dist="25400" dir="5400000" algn="bl" rotWithShape="0">
              <a:srgbClr val="1D2A44">
                <a:alpha val="8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6479896" y="1993392"/>
            <a:ext cx="502920" cy="502920"/>
          </a:xfrm>
          <a:prstGeom prst="ellipse">
            <a:avLst/>
          </a:prstGeom>
          <a:solidFill>
            <a:srgbClr val="FCEFD9"/>
          </a:solidFill>
          <a:ln/>
        </p:spPr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0596" y="2114093"/>
            <a:ext cx="261518" cy="261518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7092544" y="1993392"/>
            <a:ext cx="16214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2F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LATENCY</a:t>
            </a:r>
            <a:endParaRPr lang="en-US" sz="1050" dirty="0"/>
          </a:p>
        </p:txBody>
      </p:sp>
      <p:sp>
        <p:nvSpPr>
          <p:cNvPr id="30" name="Text 25"/>
          <p:cNvSpPr/>
          <p:nvPr/>
        </p:nvSpPr>
        <p:spPr>
          <a:xfrm>
            <a:off x="6479896" y="2606040"/>
            <a:ext cx="21243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2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16.80 ms</a:t>
            </a:r>
            <a:endParaRPr lang="en-US" sz="2600" dirty="0"/>
          </a:p>
        </p:txBody>
      </p:sp>
      <p:sp>
        <p:nvSpPr>
          <p:cNvPr id="31" name="Text 26"/>
          <p:cNvSpPr/>
          <p:nvPr/>
        </p:nvSpPr>
        <p:spPr>
          <a:xfrm>
            <a:off x="6498184" y="3154680"/>
            <a:ext cx="20329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FP32: 26.60 ms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6498184" y="3383280"/>
            <a:ext cx="20329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1.58× faster</a:t>
            </a:r>
            <a:endParaRPr lang="en-US" sz="1200" dirty="0"/>
          </a:p>
        </p:txBody>
      </p:sp>
      <p:sp>
        <p:nvSpPr>
          <p:cNvPr id="33" name="Shape 28"/>
          <p:cNvSpPr/>
          <p:nvPr/>
        </p:nvSpPr>
        <p:spPr>
          <a:xfrm>
            <a:off x="9061475" y="1737360"/>
            <a:ext cx="25815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76200" dist="25400" dir="5400000" algn="bl" rotWithShape="0">
              <a:srgbClr val="1D2A44">
                <a:alpha val="8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9317507" y="1993392"/>
            <a:ext cx="502920" cy="502920"/>
          </a:xfrm>
          <a:prstGeom prst="ellipse">
            <a:avLst/>
          </a:prstGeom>
          <a:solidFill>
            <a:srgbClr val="F5F7FB"/>
          </a:solidFill>
          <a:ln/>
        </p:spPr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38208" y="2114093"/>
            <a:ext cx="261518" cy="261518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9930155" y="1993392"/>
            <a:ext cx="16214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2F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QUALITY</a:t>
            </a:r>
            <a:endParaRPr lang="en-US" sz="1050" dirty="0"/>
          </a:p>
        </p:txBody>
      </p:sp>
      <p:sp>
        <p:nvSpPr>
          <p:cNvPr id="37" name="Text 31"/>
          <p:cNvSpPr/>
          <p:nvPr/>
        </p:nvSpPr>
        <p:spPr>
          <a:xfrm>
            <a:off x="9317507" y="2606040"/>
            <a:ext cx="21243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2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0.874</a:t>
            </a:r>
            <a:endParaRPr lang="en-US" sz="2600" dirty="0"/>
          </a:p>
        </p:txBody>
      </p:sp>
      <p:sp>
        <p:nvSpPr>
          <p:cNvPr id="38" name="Text 32"/>
          <p:cNvSpPr/>
          <p:nvPr/>
        </p:nvSpPr>
        <p:spPr>
          <a:xfrm>
            <a:off x="9335795" y="3154680"/>
            <a:ext cx="20329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FP32: 0.884</a:t>
            </a:r>
            <a:endParaRPr lang="en-US" sz="1100" dirty="0"/>
          </a:p>
        </p:txBody>
      </p:sp>
      <p:sp>
        <p:nvSpPr>
          <p:cNvPr id="39" name="Text 33"/>
          <p:cNvSpPr/>
          <p:nvPr/>
        </p:nvSpPr>
        <p:spPr>
          <a:xfrm>
            <a:off x="9335795" y="3383280"/>
            <a:ext cx="20329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F1: 0.8748</a:t>
            </a:r>
            <a:endParaRPr lang="en-US" sz="12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86200"/>
          <a:ext cx="6675120" cy="192024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2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FP32 (reference)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2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INT8 (quantized)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2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D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Disk size (MB)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127.29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E9B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D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size (MB)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127.27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E9B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45.54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D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latency (ms)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E9B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D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 std dev (ms)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E9B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D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 P95 (ms)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E9B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D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/ macro 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0.884 / 0.8849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E9B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0.874 / 0.8748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1" name="Shape 34"/>
          <p:cNvSpPr/>
          <p:nvPr/>
        </p:nvSpPr>
        <p:spPr>
          <a:xfrm>
            <a:off x="7452360" y="3886200"/>
            <a:ext cx="4190695" cy="1965960"/>
          </a:xfrm>
          <a:prstGeom prst="roundRect">
            <a:avLst>
              <a:gd name="adj" fmla="val 4651"/>
            </a:avLst>
          </a:prstGeom>
          <a:solidFill>
            <a:srgbClr val="F5F7FB"/>
          </a:solidFill>
          <a:ln w="12700">
            <a:solidFill>
              <a:srgbClr val="E3E8F2"/>
            </a:solidFill>
            <a:prstDash val="solid"/>
          </a:ln>
          <a:effectLst>
            <a:outerShdw blurRad="76200" dist="25400" dir="5400000" algn="bl" rotWithShape="0">
              <a:srgbClr val="1D2A44">
                <a:alpha val="8000"/>
              </a:srgbClr>
            </a:outerShdw>
          </a:effectLst>
        </p:spPr>
      </p:sp>
      <p:sp>
        <p:nvSpPr>
          <p:cNvPr id="42" name="Shape 35"/>
          <p:cNvSpPr/>
          <p:nvPr/>
        </p:nvSpPr>
        <p:spPr>
          <a:xfrm>
            <a:off x="7726680" y="41148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36408" y="4224528"/>
            <a:ext cx="237744" cy="237744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8275320" y="4114800"/>
            <a:ext cx="3276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1300" dirty="0"/>
          </a:p>
        </p:txBody>
      </p:sp>
      <p:sp>
        <p:nvSpPr>
          <p:cNvPr id="45" name="Text 37"/>
          <p:cNvSpPr/>
          <p:nvPr/>
        </p:nvSpPr>
        <p:spPr>
          <a:xfrm>
            <a:off x="7726680" y="4617720"/>
            <a:ext cx="364205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warm-up + 200 timed iterations, batch size 1, CPU-only evaluation. FP32 accuracy differs slightly from the benchmark (0.884 vs 0.9005) because it was evaluated on a distinct 500-example subsample.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24383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</a:t>
            </a:r>
            <a:r>
              <a:rPr lang="en-US" sz="115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2438339" y="274320"/>
            <a:ext cx="24383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r>
              <a:rPr lang="en-US" sz="115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876678" y="274320"/>
            <a:ext cx="24383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r>
              <a:rPr lang="en-US" sz="115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635057" y="274320"/>
            <a:ext cx="1798259" cy="384048"/>
          </a:xfrm>
          <a:prstGeom prst="roundRect">
            <a:avLst>
              <a:gd name="adj" fmla="val 19048"/>
            </a:avLst>
          </a:prstGeom>
          <a:solidFill>
            <a:srgbClr val="EEF2FB"/>
          </a:solidFill>
          <a:ln/>
        </p:spPr>
      </p:sp>
      <p:sp>
        <p:nvSpPr>
          <p:cNvPr id="6" name="Text 4"/>
          <p:cNvSpPr/>
          <p:nvPr/>
        </p:nvSpPr>
        <p:spPr>
          <a:xfrm>
            <a:off x="7315017" y="274320"/>
            <a:ext cx="24383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F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r>
              <a:rPr lang="en-US" sz="1150" b="1" dirty="0">
                <a:solidFill>
                  <a:srgbClr val="1E3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753356" y="274320"/>
            <a:ext cx="24383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</a:t>
            </a:r>
            <a:r>
              <a:rPr lang="en-US" sz="115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841248"/>
            <a:ext cx="11185855" cy="0"/>
          </a:xfrm>
          <a:prstGeom prst="line">
            <a:avLst/>
          </a:prstGeom>
          <a:noFill/>
          <a:ln w="12700">
            <a:solidFill>
              <a:srgbClr val="E3E8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0241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50" dirty="0">
                <a:solidFill>
                  <a:srgbClr val="1E32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Trade-off Discussion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Edge AI · MiniLM-L12 on AG News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17373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trade-off is clearly favorable: </a:t>
            </a:r>
            <a:r>
              <a:rPr lang="en-US" sz="1600" b="1" dirty="0">
                <a:solidFill>
                  <a:srgbClr val="D8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accuracy point lost</a:t>
            </a:r>
            <a:r>
              <a:rPr lang="en-US" sz="1600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</a:t>
            </a:r>
            <a:r>
              <a:rPr lang="en-US" sz="1600" b="1" dirty="0">
                <a:solidFill>
                  <a:srgbClr val="0E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gains in size, speed, and memory.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2286000"/>
            <a:ext cx="3515258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76200" dist="25400" dir="5400000" algn="bl" rotWithShape="0">
              <a:srgbClr val="1D2A44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" y="2560320"/>
            <a:ext cx="594360" cy="594360"/>
          </a:xfrm>
          <a:prstGeom prst="ellipse">
            <a:avLst/>
          </a:prstGeom>
          <a:solidFill>
            <a:srgbClr val="E4F4F1"/>
          </a:solidFill>
          <a:ln/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2702966"/>
            <a:ext cx="309067" cy="309067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22960" y="324612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performance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22960" y="365760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accuracy of 0.874 on AG News stays fully acceptable for a model under 67 MB running on CPU without an accelerator.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338218" y="2286000"/>
            <a:ext cx="3515258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76200" dist="25400" dir="5400000" algn="bl" rotWithShape="0">
              <a:srgbClr val="1D2A44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612538" y="2560320"/>
            <a:ext cx="594360" cy="594360"/>
          </a:xfrm>
          <a:prstGeom prst="ellipse">
            <a:avLst/>
          </a:prstGeom>
          <a:solidFill>
            <a:srgbClr val="EEF2FB"/>
          </a:solidFill>
          <a:ln/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5185" y="2702966"/>
            <a:ext cx="309067" cy="309067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612538" y="324612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latency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4612538" y="365760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variability (std dev 6.85→1.74 ms, P95 36.35→20.21 ms) is notably reduced — an operational advantage for interactive systems.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8127797" y="2286000"/>
            <a:ext cx="3515258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76200" dist="25400" dir="5400000" algn="bl" rotWithShape="0">
              <a:srgbClr val="1D2A44">
                <a:alpha val="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8402117" y="2560320"/>
            <a:ext cx="594360" cy="594360"/>
          </a:xfrm>
          <a:prstGeom prst="ellipse">
            <a:avLst/>
          </a:prstGeom>
          <a:solidFill>
            <a:srgbClr val="FCEFD9"/>
          </a:solidFill>
          <a:ln/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4763" y="2702966"/>
            <a:ext cx="309067" cy="309067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402117" y="324612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Calibration-free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8402117" y="365760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needing calibration data reinforces the practical value of this method — simple and direct to implement.</a:t>
            </a:r>
            <a:endParaRPr lang="en-US" sz="1250" dirty="0"/>
          </a:p>
        </p:txBody>
      </p:sp>
      <p:sp>
        <p:nvSpPr>
          <p:cNvPr id="28" name="Shape 23"/>
          <p:cNvSpPr/>
          <p:nvPr/>
        </p:nvSpPr>
        <p:spPr>
          <a:xfrm>
            <a:off x="548640" y="4892040"/>
            <a:ext cx="11094415" cy="1234440"/>
          </a:xfrm>
          <a:prstGeom prst="roundRect">
            <a:avLst>
              <a:gd name="adj" fmla="val 7407"/>
            </a:avLst>
          </a:prstGeom>
          <a:solidFill>
            <a:srgbClr val="EEF2FB"/>
          </a:solidFill>
          <a:ln w="12700">
            <a:solidFill>
              <a:srgbClr val="E3E8F2"/>
            </a:solidFill>
            <a:prstDash val="solid"/>
          </a:ln>
          <a:effectLst>
            <a:outerShdw blurRad="76200" dist="25400" dir="5400000" algn="bl" rotWithShape="0">
              <a:srgbClr val="1D2A44">
                <a:alpha val="8000"/>
              </a:srgbClr>
            </a:outerShdw>
          </a:effectLst>
        </p:spPr>
      </p:sp>
      <p:sp>
        <p:nvSpPr>
          <p:cNvPr id="29" name="Text 24"/>
          <p:cNvSpPr/>
          <p:nvPr/>
        </p:nvSpPr>
        <p:spPr>
          <a:xfrm>
            <a:off x="868680" y="50932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E3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 SUMMARY</a:t>
            </a:r>
            <a:endParaRPr lang="en-US" sz="1300" dirty="0"/>
          </a:p>
        </p:txBody>
      </p:sp>
      <p:sp>
        <p:nvSpPr>
          <p:cNvPr id="30" name="Shape 25"/>
          <p:cNvSpPr/>
          <p:nvPr/>
        </p:nvSpPr>
        <p:spPr>
          <a:xfrm>
            <a:off x="868680" y="5513832"/>
            <a:ext cx="26060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3272" y="5641848"/>
            <a:ext cx="201168" cy="201168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280160" y="551383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-47%  disk size</a:t>
            </a:r>
            <a:endParaRPr lang="en-US" sz="1250" dirty="0"/>
          </a:p>
        </p:txBody>
      </p:sp>
      <p:sp>
        <p:nvSpPr>
          <p:cNvPr id="33" name="Shape 27"/>
          <p:cNvSpPr/>
          <p:nvPr/>
        </p:nvSpPr>
        <p:spPr>
          <a:xfrm>
            <a:off x="3657600" y="5513832"/>
            <a:ext cx="26060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22192" y="5641848"/>
            <a:ext cx="201168" cy="201168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4069080" y="551383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-64%  memory footprint</a:t>
            </a:r>
            <a:endParaRPr lang="en-US" sz="1250" dirty="0"/>
          </a:p>
        </p:txBody>
      </p:sp>
      <p:sp>
        <p:nvSpPr>
          <p:cNvPr id="36" name="Shape 29"/>
          <p:cNvSpPr/>
          <p:nvPr/>
        </p:nvSpPr>
        <p:spPr>
          <a:xfrm>
            <a:off x="6446520" y="5513832"/>
            <a:ext cx="26060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1112" y="5641848"/>
            <a:ext cx="201168" cy="201168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858000" y="551383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-37%  mean latency</a:t>
            </a:r>
            <a:endParaRPr lang="en-US" sz="1250" dirty="0"/>
          </a:p>
        </p:txBody>
      </p:sp>
      <p:sp>
        <p:nvSpPr>
          <p:cNvPr id="39" name="Shape 31"/>
          <p:cNvSpPr/>
          <p:nvPr/>
        </p:nvSpPr>
        <p:spPr>
          <a:xfrm>
            <a:off x="9235440" y="5513832"/>
            <a:ext cx="26060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00032" y="5641848"/>
            <a:ext cx="201168" cy="201168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9646920" y="551383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8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-1.1%  accuracy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24383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</a:t>
            </a:r>
            <a:r>
              <a:rPr lang="en-US" sz="115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2438339" y="274320"/>
            <a:ext cx="24383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r>
              <a:rPr lang="en-US" sz="115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876678" y="274320"/>
            <a:ext cx="24383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r>
              <a:rPr lang="en-US" sz="115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315017" y="274320"/>
            <a:ext cx="24383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r>
              <a:rPr lang="en-US" sz="115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0073396" y="274320"/>
            <a:ext cx="1798259" cy="384048"/>
          </a:xfrm>
          <a:prstGeom prst="roundRect">
            <a:avLst>
              <a:gd name="adj" fmla="val 19048"/>
            </a:avLst>
          </a:prstGeom>
          <a:solidFill>
            <a:srgbClr val="EEF2FB"/>
          </a:solidFill>
          <a:ln/>
        </p:spPr>
      </p:sp>
      <p:sp>
        <p:nvSpPr>
          <p:cNvPr id="7" name="Text 5"/>
          <p:cNvSpPr/>
          <p:nvPr/>
        </p:nvSpPr>
        <p:spPr>
          <a:xfrm>
            <a:off x="9753356" y="274320"/>
            <a:ext cx="24383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F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</a:t>
            </a:r>
            <a:r>
              <a:rPr lang="en-US" sz="1150" b="1" dirty="0">
                <a:solidFill>
                  <a:srgbClr val="1E3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841248"/>
            <a:ext cx="11185855" cy="0"/>
          </a:xfrm>
          <a:prstGeom prst="line">
            <a:avLst/>
          </a:prstGeom>
          <a:noFill/>
          <a:ln w="12700">
            <a:solidFill>
              <a:srgbClr val="E3E8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0241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50" dirty="0">
                <a:solidFill>
                  <a:srgbClr val="1E32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Study Limitations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Edge AI · MiniLM-L12 on AG News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1828800"/>
            <a:ext cx="3515258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76200" dist="25400" dir="5400000" algn="bl" rotWithShape="0">
              <a:srgbClr val="1D2A44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rgbClr val="2F4B9E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22960" y="288036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Sub-sampling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333756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10,000 training examples out of 120,000 available. This favors fast-converging optimizers and penalizes those needing more data. Lion could close the gap with AdamW on the full set.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338218" y="1828800"/>
            <a:ext cx="3515258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76200" dist="25400" dir="5400000" algn="bl" rotWithShape="0">
              <a:srgbClr val="1D2A44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12538" y="2103120"/>
            <a:ext cx="640080" cy="640080"/>
          </a:xfrm>
          <a:prstGeom prst="ellipse">
            <a:avLst/>
          </a:prstGeom>
          <a:solidFill>
            <a:srgbClr val="2F4B9E"/>
          </a:solidFill>
          <a:ln/>
        </p:spPr>
      </p:sp>
      <p:sp>
        <p:nvSpPr>
          <p:cNvPr id="19" name="Text 17"/>
          <p:cNvSpPr/>
          <p:nvPr/>
        </p:nvSpPr>
        <p:spPr>
          <a:xfrm>
            <a:off x="4612538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612538" y="288036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3 epochs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612538" y="333756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epochs is not fair to all. AdamW fully benefited from these 3 passes, while Lion would have gained from more. An early-stopping protocol would have been fairer.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127797" y="1828800"/>
            <a:ext cx="3515258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76200" dist="25400" dir="5400000" algn="bl" rotWithShape="0">
              <a:srgbClr val="1D2A44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402117" y="2103120"/>
            <a:ext cx="640080" cy="640080"/>
          </a:xfrm>
          <a:prstGeom prst="ellipse">
            <a:avLst/>
          </a:prstGeom>
          <a:solidFill>
            <a:srgbClr val="2F4B9E"/>
          </a:solidFill>
          <a:ln/>
        </p:spPr>
      </p:sp>
      <p:sp>
        <p:nvSpPr>
          <p:cNvPr id="24" name="Text 22"/>
          <p:cNvSpPr/>
          <p:nvPr/>
        </p:nvSpPr>
        <p:spPr>
          <a:xfrm>
            <a:off x="8402117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8402117" y="288036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hyperparameters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402117" y="333756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hyperparameter set per optimizer. The 2e-5 LR is optimal for AdamW but clearly unsuitable for SGD and LAMB. The benchmark compares configurations, not algorithms in the absolute.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4892040"/>
            <a:ext cx="11094415" cy="1234440"/>
          </a:xfrm>
          <a:prstGeom prst="roundRect">
            <a:avLst>
              <a:gd name="adj" fmla="val 7407"/>
            </a:avLst>
          </a:prstGeom>
          <a:solidFill>
            <a:srgbClr val="E4F4F1"/>
          </a:solidFill>
          <a:ln w="12700">
            <a:solidFill>
              <a:srgbClr val="E3E8F2"/>
            </a:solidFill>
            <a:prstDash val="solid"/>
          </a:ln>
          <a:effectLst>
            <a:outerShdw blurRad="76200" dist="25400" dir="5400000" algn="bl" rotWithShape="0">
              <a:srgbClr val="1D2A44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68680" y="52349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354" y="5366614"/>
            <a:ext cx="285293" cy="285293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600200" y="4892040"/>
            <a:ext cx="972281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limitations do not diminish our work — they strengthen its credibility. </a:t>
            </a:r>
            <a:r>
              <a:rPr lang="en-US" sz="1400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Acknowledging methodological biases is a sign of academic maturity and opens concrete avenues for improvement.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24383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</a:t>
            </a:r>
            <a:r>
              <a:rPr lang="en-US" sz="115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2438339" y="274320"/>
            <a:ext cx="24383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r>
              <a:rPr lang="en-US" sz="115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876678" y="274320"/>
            <a:ext cx="24383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r>
              <a:rPr lang="en-US" sz="115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315017" y="274320"/>
            <a:ext cx="24383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r>
              <a:rPr lang="en-US" sz="115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0073396" y="274320"/>
            <a:ext cx="1798259" cy="384048"/>
          </a:xfrm>
          <a:prstGeom prst="roundRect">
            <a:avLst>
              <a:gd name="adj" fmla="val 19048"/>
            </a:avLst>
          </a:prstGeom>
          <a:solidFill>
            <a:srgbClr val="EEF2FB"/>
          </a:solidFill>
          <a:ln/>
        </p:spPr>
      </p:sp>
      <p:sp>
        <p:nvSpPr>
          <p:cNvPr id="7" name="Text 5"/>
          <p:cNvSpPr/>
          <p:nvPr/>
        </p:nvSpPr>
        <p:spPr>
          <a:xfrm>
            <a:off x="9753356" y="274320"/>
            <a:ext cx="24383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F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</a:t>
            </a:r>
            <a:r>
              <a:rPr lang="en-US" sz="1150" b="1" dirty="0">
                <a:solidFill>
                  <a:srgbClr val="1E3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841248"/>
            <a:ext cx="11185855" cy="0"/>
          </a:xfrm>
          <a:prstGeom prst="line">
            <a:avLst/>
          </a:prstGeom>
          <a:noFill/>
          <a:ln w="12700">
            <a:solidFill>
              <a:srgbClr val="E3E8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0241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50" dirty="0">
                <a:solidFill>
                  <a:srgbClr val="1E32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Improvement Perspectives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Edge AI · MiniLM-L12 on AG News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1828800"/>
            <a:ext cx="3515258" cy="4023360"/>
          </a:xfrm>
          <a:prstGeom prst="roundRect">
            <a:avLst>
              <a:gd name="adj" fmla="val 2601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76200" dist="25400" dir="5400000" algn="bl" rotWithShape="0">
              <a:srgbClr val="1D2A44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917649" y="2148840"/>
            <a:ext cx="777240" cy="777240"/>
          </a:xfrm>
          <a:prstGeom prst="ellipse">
            <a:avLst/>
          </a:prstGeom>
          <a:solidFill>
            <a:srgbClr val="EEF2FB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4187" y="2335378"/>
            <a:ext cx="404165" cy="404165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31520" y="3063240"/>
            <a:ext cx="31494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3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Optimizers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914400" y="3611880"/>
            <a:ext cx="287517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Per-optimizer hyperparameter search</a:t>
            </a:r>
            <a:endParaRPr lang="en-US" sz="13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 or Bayesian optimization</a:t>
            </a:r>
            <a:endParaRPr lang="en-US" sz="13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Fairer, more representative comparison</a:t>
            </a:r>
            <a:endParaRPr lang="en-US" sz="13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recent optimizers (Shampoo, Sophia)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338218" y="1828800"/>
            <a:ext cx="3515258" cy="4023360"/>
          </a:xfrm>
          <a:prstGeom prst="roundRect">
            <a:avLst>
              <a:gd name="adj" fmla="val 2601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76200" dist="25400" dir="5400000" algn="bl" rotWithShape="0">
              <a:srgbClr val="1D2A44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707228" y="2148840"/>
            <a:ext cx="777240" cy="777240"/>
          </a:xfrm>
          <a:prstGeom prst="ellipse">
            <a:avLst/>
          </a:prstGeom>
          <a:solidFill>
            <a:srgbClr val="E4F4F1"/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3765" y="2335378"/>
            <a:ext cx="404165" cy="404165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521098" y="3063240"/>
            <a:ext cx="31494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3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</a:t>
            </a:r>
            <a:endParaRPr lang="en-US" sz="1700" dirty="0"/>
          </a:p>
        </p:txBody>
      </p:sp>
      <p:sp>
        <p:nvSpPr>
          <p:cNvPr id="21" name="Text 17"/>
          <p:cNvSpPr/>
          <p:nvPr/>
        </p:nvSpPr>
        <p:spPr>
          <a:xfrm>
            <a:off x="4703978" y="3611880"/>
            <a:ext cx="287517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quantization with calibration</a:t>
            </a:r>
            <a:endParaRPr lang="en-US" sz="13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compression ratios</a:t>
            </a:r>
            <a:endParaRPr lang="en-US" sz="13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Pruning combined with quantization</a:t>
            </a:r>
            <a:endParaRPr lang="en-US" sz="13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aggressive optimization techniques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8127797" y="1828800"/>
            <a:ext cx="3515258" cy="4023360"/>
          </a:xfrm>
          <a:prstGeom prst="roundRect">
            <a:avLst>
              <a:gd name="adj" fmla="val 2601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76200" dist="25400" dir="5400000" algn="bl" rotWithShape="0">
              <a:srgbClr val="1D2A44">
                <a:alpha val="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9496806" y="2148840"/>
            <a:ext cx="777240" cy="777240"/>
          </a:xfrm>
          <a:prstGeom prst="ellipse">
            <a:avLst/>
          </a:prstGeom>
          <a:solidFill>
            <a:srgbClr val="FCEFD9"/>
          </a:solidFill>
          <a:ln/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3344" y="2335378"/>
            <a:ext cx="404165" cy="404165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310677" y="3063240"/>
            <a:ext cx="31494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3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Hardware</a:t>
            </a:r>
            <a:endParaRPr lang="en-US" sz="1700" dirty="0"/>
          </a:p>
        </p:txBody>
      </p:sp>
      <p:sp>
        <p:nvSpPr>
          <p:cNvPr id="26" name="Text 21"/>
          <p:cNvSpPr/>
          <p:nvPr/>
        </p:nvSpPr>
        <p:spPr>
          <a:xfrm>
            <a:off x="8493557" y="3611880"/>
            <a:ext cx="287517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(ARM)</a:t>
            </a:r>
            <a:endParaRPr lang="en-US" sz="13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Jetson Nano</a:t>
            </a:r>
            <a:endParaRPr lang="en-US" sz="13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Microcontrollers with NPU accelerator</a:t>
            </a:r>
            <a:endParaRPr lang="en-US" sz="13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x86 results may not transfer to ARM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24383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</a:t>
            </a:r>
            <a:r>
              <a:rPr lang="en-US" sz="115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2438339" y="274320"/>
            <a:ext cx="24383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r>
              <a:rPr lang="en-US" sz="115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876678" y="274320"/>
            <a:ext cx="24383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r>
              <a:rPr lang="en-US" sz="115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315017" y="274320"/>
            <a:ext cx="24383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r>
              <a:rPr lang="en-US" sz="115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0073396" y="274320"/>
            <a:ext cx="1798259" cy="384048"/>
          </a:xfrm>
          <a:prstGeom prst="roundRect">
            <a:avLst>
              <a:gd name="adj" fmla="val 19048"/>
            </a:avLst>
          </a:prstGeom>
          <a:solidFill>
            <a:srgbClr val="EEF2FB"/>
          </a:solidFill>
          <a:ln/>
        </p:spPr>
      </p:sp>
      <p:sp>
        <p:nvSpPr>
          <p:cNvPr id="7" name="Text 5"/>
          <p:cNvSpPr/>
          <p:nvPr/>
        </p:nvSpPr>
        <p:spPr>
          <a:xfrm>
            <a:off x="9753356" y="274320"/>
            <a:ext cx="24383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F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</a:t>
            </a:r>
            <a:r>
              <a:rPr lang="en-US" sz="1150" b="1" dirty="0">
                <a:solidFill>
                  <a:srgbClr val="1E3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841248"/>
            <a:ext cx="11185855" cy="0"/>
          </a:xfrm>
          <a:prstGeom prst="line">
            <a:avLst/>
          </a:prstGeom>
          <a:noFill/>
          <a:ln w="12700">
            <a:solidFill>
              <a:srgbClr val="E3E8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0241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50" dirty="0">
                <a:solidFill>
                  <a:srgbClr val="1E32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Conclusion — 3 Key Takeaways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Edge AI · MiniLM-L12 on AG News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1783080"/>
            <a:ext cx="11094415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76200" dist="25400" dir="5400000" algn="bl" rotWithShape="0">
              <a:srgbClr val="1D2A44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2125980"/>
            <a:ext cx="685800" cy="685800"/>
          </a:xfrm>
          <a:prstGeom prst="ellipse">
            <a:avLst/>
          </a:prstGeom>
          <a:solidFill>
            <a:srgbClr val="2F4B9E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1259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1828800" y="2194560"/>
            <a:ext cx="548640" cy="548640"/>
          </a:xfrm>
          <a:prstGeom prst="ellipse">
            <a:avLst/>
          </a:prstGeom>
          <a:solidFill>
            <a:srgbClr val="FCEFD9"/>
          </a:solidFill>
          <a:ln/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0474" y="2326234"/>
            <a:ext cx="285293" cy="285293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606040" y="1965960"/>
            <a:ext cx="8899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3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AdamW, the reference optimizer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2606040" y="2350008"/>
            <a:ext cx="8899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confirms its status as the reference optimizer for fine-tuning compact transformers. It offers the best predictive quality (F1 0.9013) while being among the fastest (62.27 s), with robustness to default settings that makes it a safe, effective choice.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48640" y="3291840"/>
            <a:ext cx="11094415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76200" dist="25400" dir="5400000" algn="bl" rotWithShape="0">
              <a:srgbClr val="1D2A44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22960" y="3634740"/>
            <a:ext cx="685800" cy="685800"/>
          </a:xfrm>
          <a:prstGeom prst="ellipse">
            <a:avLst/>
          </a:prstGeom>
          <a:solidFill>
            <a:srgbClr val="2F4B9E"/>
          </a:solidFill>
          <a:ln/>
        </p:spPr>
      </p:sp>
      <p:sp>
        <p:nvSpPr>
          <p:cNvPr id="21" name="Text 18"/>
          <p:cNvSpPr/>
          <p:nvPr/>
        </p:nvSpPr>
        <p:spPr>
          <a:xfrm>
            <a:off x="822960" y="36347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800" dirty="0"/>
          </a:p>
        </p:txBody>
      </p:sp>
      <p:sp>
        <p:nvSpPr>
          <p:cNvPr id="22" name="Shape 19"/>
          <p:cNvSpPr/>
          <p:nvPr/>
        </p:nvSpPr>
        <p:spPr>
          <a:xfrm>
            <a:off x="1828800" y="3703320"/>
            <a:ext cx="548640" cy="548640"/>
          </a:xfrm>
          <a:prstGeom prst="ellipse">
            <a:avLst/>
          </a:prstGeom>
          <a:solidFill>
            <a:srgbClr val="E4F4F1"/>
          </a:solidFill>
          <a:ln/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0474" y="3834994"/>
            <a:ext cx="285293" cy="285293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2606040" y="3474720"/>
            <a:ext cx="8899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3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INT8, a remarkably effective technique</a:t>
            </a:r>
            <a:endParaRPr lang="en-US" sz="1650" dirty="0"/>
          </a:p>
        </p:txBody>
      </p:sp>
      <p:sp>
        <p:nvSpPr>
          <p:cNvPr id="25" name="Text 21"/>
          <p:cNvSpPr/>
          <p:nvPr/>
        </p:nvSpPr>
        <p:spPr>
          <a:xfrm>
            <a:off x="2606040" y="3858768"/>
            <a:ext cx="8899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INT8 quantization proves remarkably effective at making a language model deployable on a constrained device. About 1 accuracy point lost for a 1.58× speed gain and a 2.79× memory reduction — the trade-off is clearly favorable.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548640" y="4800600"/>
            <a:ext cx="11094415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76200" dist="25400" dir="5400000" algn="bl" rotWithShape="0">
              <a:srgbClr val="1D2A44">
                <a:alpha val="8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822960" y="5143500"/>
            <a:ext cx="685800" cy="685800"/>
          </a:xfrm>
          <a:prstGeom prst="ellipse">
            <a:avLst/>
          </a:prstGeom>
          <a:solidFill>
            <a:srgbClr val="2F4B9E"/>
          </a:solidFill>
          <a:ln/>
        </p:spPr>
      </p:sp>
      <p:sp>
        <p:nvSpPr>
          <p:cNvPr id="28" name="Text 24"/>
          <p:cNvSpPr/>
          <p:nvPr/>
        </p:nvSpPr>
        <p:spPr>
          <a:xfrm>
            <a:off x="822960" y="51435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2800" dirty="0"/>
          </a:p>
        </p:txBody>
      </p:sp>
      <p:sp>
        <p:nvSpPr>
          <p:cNvPr id="29" name="Shape 25"/>
          <p:cNvSpPr/>
          <p:nvPr/>
        </p:nvSpPr>
        <p:spPr>
          <a:xfrm>
            <a:off x="1828800" y="5212080"/>
            <a:ext cx="548640" cy="548640"/>
          </a:xfrm>
          <a:prstGeom prst="ellipse">
            <a:avLst/>
          </a:prstGeom>
          <a:solidFill>
            <a:srgbClr val="EEF2FB"/>
          </a:solidFill>
          <a:ln/>
        </p:spPr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0474" y="5343754"/>
            <a:ext cx="285293" cy="285293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2606040" y="4983480"/>
            <a:ext cx="8899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3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is relative to tuning</a:t>
            </a:r>
            <a:endParaRPr lang="en-US" sz="1650" dirty="0"/>
          </a:p>
        </p:txBody>
      </p:sp>
      <p:sp>
        <p:nvSpPr>
          <p:cNvPr id="32" name="Text 27"/>
          <p:cNvSpPr/>
          <p:nvPr/>
        </p:nvSpPr>
        <p:spPr>
          <a:xfrm>
            <a:off x="2606040" y="5367528"/>
            <a:ext cx="8899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algorithm's performance is always relative to the quality of its tuning. An unsuitable learning rate or insufficient warmup renders well-known optimizers (LAMB, SGD) non-functional — an important reminder for any comparative study.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lob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8648" y="640080"/>
            <a:ext cx="914400" cy="8046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14400" y="173736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1E32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5" name="Shape 1"/>
          <p:cNvSpPr/>
          <p:nvPr/>
        </p:nvSpPr>
        <p:spPr>
          <a:xfrm>
            <a:off x="4541368" y="2788920"/>
            <a:ext cx="3108960" cy="502920"/>
          </a:xfrm>
          <a:prstGeom prst="roundRect">
            <a:avLst>
              <a:gd name="adj" fmla="val 50909"/>
            </a:avLst>
          </a:prstGeom>
          <a:solidFill>
            <a:srgbClr val="E4F4F1"/>
          </a:solidFill>
          <a:ln/>
        </p:spPr>
      </p:sp>
      <p:sp>
        <p:nvSpPr>
          <p:cNvPr id="6" name="Text 2"/>
          <p:cNvSpPr/>
          <p:nvPr/>
        </p:nvSpPr>
        <p:spPr>
          <a:xfrm>
            <a:off x="4541368" y="27889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914400" y="379476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150" dirty="0">
                <a:solidFill>
                  <a:srgbClr val="2F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EDGE AI  ·  MiniLM-L12 ON AG NEWS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914400" y="4480560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D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Ayman Chabbaki  ·  Mohammed Bendifi  ·  Imane Alouani  ·  Marouane Daouki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914400" y="484632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Professor Faouzia Benabbou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914400" y="5138928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Hassan II University of Casablanca Faculty of Sciences Ben M'Sick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914400" y="5431536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E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2025 /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1735</Words>
  <Application>Microsoft Office PowerPoint</Application>
  <PresentationFormat>Grand écran</PresentationFormat>
  <Paragraphs>370</Paragraphs>
  <Slides>19</Slides>
  <Notes>19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Century Schoolbook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Pipeline Edge AI — MiniLM-L12 on AG News</dc:title>
  <dc:subject>PptxGenJS Presentation</dc:subject>
  <dc:creator>Edge AI Team</dc:creator>
  <cp:lastModifiedBy>ayman chabbaki</cp:lastModifiedBy>
  <cp:revision>3</cp:revision>
  <dcterms:created xsi:type="dcterms:W3CDTF">2026-07-06T21:21:09Z</dcterms:created>
  <dcterms:modified xsi:type="dcterms:W3CDTF">2026-07-06T21:28:05Z</dcterms:modified>
</cp:coreProperties>
</file>